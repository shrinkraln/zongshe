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51" r:id="rId3"/>
    <p:sldId id="352" r:id="rId4"/>
    <p:sldId id="257" r:id="rId5"/>
    <p:sldId id="258" r:id="rId6"/>
    <p:sldId id="354" r:id="rId7"/>
    <p:sldId id="353" r:id="rId8"/>
    <p:sldId id="259" r:id="rId9"/>
    <p:sldId id="260" r:id="rId10"/>
    <p:sldId id="261" r:id="rId11"/>
    <p:sldId id="262" r:id="rId12"/>
    <p:sldId id="355" r:id="rId13"/>
    <p:sldId id="263" r:id="rId14"/>
    <p:sldId id="264" r:id="rId15"/>
    <p:sldId id="265" r:id="rId16"/>
    <p:sldId id="266" r:id="rId17"/>
    <p:sldId id="357" r:id="rId18"/>
    <p:sldId id="358" r:id="rId19"/>
    <p:sldId id="267" r:id="rId20"/>
    <p:sldId id="268" r:id="rId21"/>
    <p:sldId id="356" r:id="rId22"/>
    <p:sldId id="360" r:id="rId23"/>
    <p:sldId id="359" r:id="rId24"/>
    <p:sldId id="361" r:id="rId25"/>
    <p:sldId id="269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AB4"/>
    <a:srgbClr val="858585"/>
    <a:srgbClr val="3E81CC"/>
    <a:srgbClr val="FF6F00"/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86" autoAdjust="0"/>
  </p:normalViewPr>
  <p:slideViewPr>
    <p:cSldViewPr snapToGrid="0" snapToObjects="1">
      <p:cViewPr varScale="1">
        <p:scale>
          <a:sx n="58" d="100"/>
          <a:sy n="58" d="100"/>
        </p:scale>
        <p:origin x="7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43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各位老师好，我今天汇报的题目是"具身智能仿真平台 Embodied-SimLite"。这个项目的核心目标是用 Web 技术栈替代传统的 Gazebo 仿真器，为机器人教学提供一个零部署、高性能的仿真环境。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在综合设计 </a:t>
            </a:r>
            <a:r>
              <a:rPr lang="en-US" altLang="zh-CN" dirty="0"/>
              <a:t>Ⅱ </a:t>
            </a:r>
            <a:r>
              <a:rPr lang="zh-CN" dirty="0"/>
              <a:t>阶段，我们遇到了 Gazebo + ROS2 + Ubuntu 的三重困境。具体来看四个核心指标：RTF 只有 10%，仿真比真实慢 10 倍；GPU 利用率是 0%，RTX 4060 完全闲置；WSL2 内存占用 7.62 GB；CPU 负载高达 22，32 核几乎满载。这三个根因分别是 Gazebo 物理引擎过重、WSL2 的 GPU 桥接失效、以及 Ubuntu 的高部署门槛。核心矛盾就是：工具性能与教学环境严重不匹配。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解决思路是用 Web 技术栈替代重量级物理引擎。左边是 Gazebo 方案的全链路：Ubuntu→Gazebo→ROS2→RViz2，右边是</a:t>
            </a:r>
            <a:r>
              <a:rPr lang="zh-CN" altLang="en-US" dirty="0"/>
              <a:t>老师</a:t>
            </a:r>
            <a:r>
              <a:rPr lang="zh-CN" dirty="0"/>
              <a:t>设计的 Embodied-SimLite 方案：浏览器里的 Three.js→FastAPI→ROS2 桥接→Nav2。在五个核心维度上，用自研 60Hz 轻量物理替代 ODE 引擎，用 Three.js WebGL 替代 OGRE 渲染，用 Web Worker 模拟激光雷达。最关键的差异是部署——只需打开浏览器。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zh-CN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Gazebo </a:t>
            </a:r>
            <a:r>
              <a:rPr lang="zh-CN" altLang="en-US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和</a:t>
            </a:r>
            <a:r>
              <a:rPr lang="zh-CN" altLang="zh-CN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 Embodied-SimLite</a:t>
            </a:r>
            <a:r>
              <a:rPr lang="zh-CN" altLang="en-US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对比</a:t>
            </a:r>
            <a:r>
              <a:rPr lang="en-US" altLang="zh-CN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,</a:t>
            </a:r>
            <a:r>
              <a:rPr lang="zh-CN" altLang="en-US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物理引擎和</a:t>
            </a:r>
            <a:r>
              <a:rPr lang="en-US" altLang="zh-CN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web</a:t>
            </a:r>
            <a:r>
              <a:rPr lang="zh-CN" altLang="en-US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轻量级平台对比，</a:t>
            </a:r>
            <a:r>
              <a:rPr lang="en-US" altLang="zh-CN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CPU</a:t>
            </a:r>
            <a:r>
              <a:rPr lang="zh-CN" altLang="en-US" sz="12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占用和内存占用对比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75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zh-CN" dirty="0"/>
              <a:t>的四层架构。最上层是用户接口层，包括 Three.js 3D 场景渲染、状态监控面板和错误处理。第二层是任务管理层，StateManager 状态机作为大脑，负责任务调度和重试策略。第三层是功能模块层，SLAM 建图、Nav2 导航、自主探索、地图评估四大模块协同工作。底层是硬件抽象层，负责传感器驱动和执行器。底部这条数据流展示了从浏览器到 Nav2 的完整通信链路。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dirty="0"/>
              <a:t>这张表总结了 AI 辅助调试的五个典型案例。第一个是 websocket 模块名混淆——AI 快速区分了 websocket 和 websockets 两个完全不同的包。第二个是 WSL2 网关 IP 不稳定——AI 识别出 172.21.224.1 是 WSL2 NAT 的默认网关，建议改用 127.0.0.1。第三个是连接成功后的竞态崩溃——AI 定位到 send_text 向已关闭连接发送，建议加 try/except 保护。第四和第五个分别是 TF 帧缺失和 CDN 拦截误报。我们提炼的方法论是分层排查法——从网络层到算法层，每层独立验证。</a:t>
            </a:r>
            <a:r>
              <a:rPr lang="zh-CN" alt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AI 能极大缩短"看到现象 → 定位根因"的路径，但不能替代"判断哪个方案在工程上更合理"的经验</a:t>
            </a: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我们有三个关键技术突破。第一，三话题全链路桥接——/odom、/scan、/tf 全部打通。第二，QoS 配置——这是最容易踩的坑，LaserScan 必须设置 BEST_EFFORT 加 VOLATILE，否则 RELIABLE 模式会导致 RViz2 队列堆积、丢弃全部数据。第三，TF 树的完整链路：odom 到 base_footprint 到 base_link 到 laser_frame，每个变换都有明确的发布者和父子关系。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系统的启动流程必须严格按顺序执行。第一步启动 Web 引擎 ProductV1.0.py，初始化 60Hz 物理循环和 40×40 压测场。第二步浏览器打开 3D 界面。第三步启动 ROS 2 桥接器——这是最关键的节点，连接 Web 引擎并发布 /odom、/scan、/tf。第四步启动 slam_toolbox 建图，第五步 Nav2 导航，第六步 RViz2 可视化。一行命令 ros2 launch system_launch.py 可以一键启动后三步。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SLAM 与 Nav2 集成过程中遇到四个典型问题。A：Failed to compute odom pose——这是 TF buffer 的启动竞态，等两秒就好，不是 bug。B：map TF 帧缺失——因为 SLAM 还没启动，map 到 odom 的变换是由 SLAM 建立的。C：lifecycle_manager 失败——use_sim_time 参数不一致，全部改为 False 即可。D：代价地图参数理解——cost_scaling_factor 建议 3 到 8</a:t>
            </a:r>
            <a:r>
              <a:rPr lang="zh-CN" altLang="zh-CN" sz="12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（越大衰减越快，越激进靠近障碍物）</a:t>
            </a:r>
            <a:r>
              <a:rPr lang="zh-CN" dirty="0"/>
              <a:t>，inflation_radius 建议 0.25 到 0.6 米</a:t>
            </a:r>
            <a:r>
              <a:rPr lang="zh-CN" altLang="zh-CN" sz="12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（越小越激进易剐蹭，越大越保守难通过）</a:t>
            </a:r>
            <a:r>
              <a:rPr lang="zh-CN" dirty="0"/>
              <a:t>。核心启示：90% 的所谓"算法 bug"实际上是下层配置错误。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我们设计了三组 DWA 参数对比实验。Conservative 组最大速度 0.26、预测窗口 3.0 秒、膨胀半径 0.6 米——面向窄通道精确场景。Balanced 组取中间值。Aggressive 组速度最快 0.5 米每秒、预测窗口仅 1.5 秒、膨胀半径 0.25 米——面向开阔快速场景。需要注意两个关键参数的耦合关系：sim_time 越长，预测窗口更长，需要搭配更大的 inflation_radius 形成"防御纵深"。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成功率：</a:t>
            </a:r>
            <a:r>
              <a:rPr lang="zh-CN" altLang="zh-CN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机器人是否在超时前到达目标点</a:t>
            </a:r>
            <a:r>
              <a:rPr lang="zh-CN" altLang="en-US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；</a:t>
            </a:r>
            <a:endParaRPr lang="en-US" altLang="zh-CN" sz="1200" dirty="0">
              <a:solidFill>
                <a:srgbClr val="475569"/>
              </a:solidFill>
              <a:latin typeface="Segoe UI"/>
              <a:ea typeface="Microsoft YaHe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安全性：</a:t>
            </a:r>
            <a:r>
              <a:rPr lang="zh-CN" altLang="zh-CN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离障碍物越远分越高，低于 0.5m 线性扣分</a:t>
            </a:r>
            <a:r>
              <a:rPr lang="zh-CN" altLang="en-US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，</a:t>
            </a:r>
            <a:r>
              <a:rPr lang="zh-CN" altLang="zh-CN" dirty="0"/>
              <a:t>机器人的安全性比速度重要得多，撞墙是不可接受的。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平滑度：</a:t>
            </a:r>
            <a:r>
              <a:rPr lang="zh-CN" altLang="zh-CN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加速度变化越小 = 运动越平滑</a:t>
            </a:r>
            <a:r>
              <a:rPr lang="zh-CN" altLang="en-US" sz="1200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，</a:t>
            </a:r>
            <a:r>
              <a:rPr lang="zh-CN" altLang="zh-CN" dirty="0"/>
              <a:t>Smoothness 虽然只占 20%，但它关乎运动质量——抖动的机器人会引入里程计噪声，进而降低 SLAM 精度。评估器遵循 passive-only 原则，不发布任何控制指令，避免评估系统本身引入变量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我们的评估公式是 Score 等于 0.4 乘 Success 加 0.4 乘 Safety 加 0.2 乘 Smoothness。Safety 和 Success 各占 40% 同等权重——因为在教学中，机器人的安全性比速度重要得多，撞墙是不可接受的。Smoothness 虽然只占 20%，但它关乎运动质量——抖动的机器人会引入里程计噪声，进而降低 SLAM 精度。评估器遵循 passive-only 原则，不发布任何控制指令，避免评估系统本身引入变量。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实验结果是：只有 Conservative 组成功完成导航——但原因不在 DWA 参数本身。深入分析日志发现，Balanced 和 Aggressive 组的失败根因是"地图未建完就发送了目标点"，Nav2 无法在未知区域规划全局路径。这个"反转"揭示了一个重要启示：自动化实验框架的真正价值不仅是验证参数，更是暴露实验设计本身的缺陷。如果没有系统日志记录，我们可能错误地得出结论说"Conservative 参数最优"。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B41A-A0C3-618A-9332-979176C2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3C166-167B-91CC-83B1-48A511A2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14DF6-65E1-14D0-48C7-C839492CD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实验结果是：只有 Conservative 组成功完成导航——但原因不在 DWA 参数本身。深入分析日志发现，Balanced 和 Aggressive 组的失败根因是"地图未建完就发送了目标点"，Nav2 无法在未知区域规划全局路径。这个"反转"揭示了一个重要启示：自动化实验框架的真正价值不仅是验证参数，更是暴露实验设计本身的缺陷。如果没有系统日志记录，我们可能错误地得出结论说"Conservative 参数最优"。</a:t>
            </a:r>
          </a:p>
        </p:txBody>
      </p:sp>
    </p:spTree>
    <p:extLst>
      <p:ext uri="{BB962C8B-B14F-4D97-AF65-F5344CB8AC3E}">
        <p14:creationId xmlns:p14="http://schemas.microsoft.com/office/powerpoint/2010/main" val="401057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这是我们的六状态有限状态机。核心状态包括 IDLE 就绪、EXPLORATION 探索建图、NAVIGATION 导航、MAP_EVALUATION 地图评估和 FINISH 完成。特别设计了 ERROR 状态和自恢复闭环。三个关键设计点：transition 函数防止同状态重复切换；ERROR 状态下区分动静态障碍物——动态的等前方清空后恢复，静态的等一秒确认后清代价地图重规划；漂移大于 0.2 米时通过 pose_drift 话题触发重定位。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动态障碍物问题是本项目最核心的工程挑战，经历了四个阶段的演进。第一阶段：巡逻车在 3D 场景中移动，但雷达检测不到——原因是 dyn_obs 坐标与刚体系统分离。第二阶段：碰撞后里程计噪声继续积累——AI 定位到 x/y 与 ox/oy 是两条完全独立的积分路径。第三阶段：等待后速度不足被推回——DWA 在窄道中下发低速度导致进退两难。最终方案：减速让 Nav2 绕行，设两秒超时判静态障碍，清理代价地图重规划。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954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9784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257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440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这张图展示了 AI 诊断里程计漂移问题的完整链路。从数据层的遥测面板发现真实位置与里程计偏差 0.332 米，到代码层定位 ox/oy 独立积分，到交互层发现碰撞只修正真实位置、里程计继续漂移，最后到修复层——碰撞同步、冻结 30 帧噪声、漂移监控和 StateManager 重定位的四层方案。右边总结了 AI 的四个工程价值维度：快速定位、因果分析、方案建议和知识弥补。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这张表做了 Embodied-SimLite 和 Gazebo 的九维度量化对比。RTF 从 10% 提升到约 100%，十倍提升；GPU 从零到有；内存降低四倍；部署从需完整安装降到只需浏览器；启动从分钟级降到秒级。物理保真度方面我们承认是中等——教学够用但达不到工业级。右下角这个矩阵说明了我们的定位：教学验证场景是 Embodied-SimLite 的最佳适用区——我们需要的是"够用的仿真"而非"精确的仿真"。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回顾整个项目，我总结了四个最重要的工程教训。第一，WSL2 的隐性成本——不可预期的失效比明确的不支持更糟糕。第二，Web 技术栈的适用边界——选对工具比优化工具更重要。第三，AI 辅助调试的方法论——分层排查，每层独立验证，AI 擅长分类推断但不替代工程判断。第四，也是贯穿项目的第一性原理——可用性优先于保真度。传统的 Gazebo 路径让学生"在配环境中学配环境"，而 Embodied-SimLite 让学生真正学 SLAM。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以上就是我的全部汇报内容。Embodied-SimLite 用可接受的精度损失换来了十倍的可用性提升，让机器人仿真教学从"配环境"回归到"学算法"。欢迎各位老师提问和交流。谢谢！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6" name="图片 5" descr="山-2"/>
            <p:cNvPicPr>
              <a:picLocks noChangeAspect="1"/>
            </p:cNvPicPr>
            <p:nvPr/>
          </p:nvPicPr>
          <p:blipFill>
            <a:blip r:embed="rId2"/>
            <a:srcRect t="19"/>
            <a:stretch>
              <a:fillRect/>
            </a:stretch>
          </p:blipFill>
          <p:spPr>
            <a:xfrm>
              <a:off x="0" y="0"/>
              <a:ext cx="16202" cy="10798"/>
            </a:xfrm>
            <a:custGeom>
              <a:avLst/>
              <a:gdLst>
                <a:gd name="connsiteX0" fmla="*/ 0 w 10288270"/>
                <a:gd name="connsiteY0" fmla="*/ 0 h 6856730"/>
                <a:gd name="connsiteX1" fmla="*/ 10288270 w 10288270"/>
                <a:gd name="connsiteY1" fmla="*/ 0 h 6856730"/>
                <a:gd name="connsiteX2" fmla="*/ 10288270 w 10288270"/>
                <a:gd name="connsiteY2" fmla="*/ 6856730 h 6856730"/>
                <a:gd name="connsiteX3" fmla="*/ 0 w 10288270"/>
                <a:gd name="connsiteY3" fmla="*/ 6856730 h 685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8270" h="6856730">
                  <a:moveTo>
                    <a:pt x="0" y="0"/>
                  </a:moveTo>
                  <a:lnTo>
                    <a:pt x="10288270" y="0"/>
                  </a:lnTo>
                  <a:lnTo>
                    <a:pt x="10288270" y="6856730"/>
                  </a:lnTo>
                  <a:lnTo>
                    <a:pt x="0" y="6856730"/>
                  </a:lnTo>
                  <a:close/>
                </a:path>
              </a:pathLst>
            </a:custGeom>
          </p:spPr>
        </p:pic>
        <p:sp>
          <p:nvSpPr>
            <p:cNvPr id="19" name="矩形: 圆角 18"/>
            <p:cNvSpPr/>
            <p:nvPr/>
          </p:nvSpPr>
          <p:spPr>
            <a:xfrm>
              <a:off x="0" y="0"/>
              <a:ext cx="8240" cy="10798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96A8F">
                    <a:alpha val="100000"/>
                  </a:srgbClr>
                </a:gs>
                <a:gs pos="100000">
                  <a:srgbClr val="357599">
                    <a:alpha val="40000"/>
                  </a:srgbClr>
                </a:gs>
              </a:gsLst>
              <a:lin ang="0" scaled="0"/>
            </a:gradFill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5890" y="0"/>
              <a:ext cx="13310" cy="10800"/>
            </a:xfrm>
            <a:custGeom>
              <a:avLst/>
              <a:gdLst>
                <a:gd name="connsiteX0" fmla="*/ 1095087 w 8451802"/>
                <a:gd name="connsiteY0" fmla="*/ 0 h 6858000"/>
                <a:gd name="connsiteX1" fmla="*/ 8451802 w 8451802"/>
                <a:gd name="connsiteY1" fmla="*/ 0 h 6858000"/>
                <a:gd name="connsiteX2" fmla="*/ 8451802 w 8451802"/>
                <a:gd name="connsiteY2" fmla="*/ 6858000 h 6858000"/>
                <a:gd name="connsiteX3" fmla="*/ 0 w 845180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51802" h="6858000">
                  <a:moveTo>
                    <a:pt x="1095087" y="0"/>
                  </a:moveTo>
                  <a:lnTo>
                    <a:pt x="8451802" y="0"/>
                  </a:lnTo>
                  <a:lnTo>
                    <a:pt x="845180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3" name="图片 2" descr="D:/图片中心/2. 资源中心/1. 素材/波点.png波点"/>
            <p:cNvPicPr>
              <a:picLocks noChangeAspect="1"/>
            </p:cNvPicPr>
            <p:nvPr userDrawn="1"/>
          </p:nvPicPr>
          <p:blipFill>
            <a:blip r:embed="rId3"/>
            <a:srcRect t="52" b="52"/>
            <a:stretch>
              <a:fillRect/>
            </a:stretch>
          </p:blipFill>
          <p:spPr>
            <a:xfrm>
              <a:off x="17190" y="1024"/>
              <a:ext cx="999" cy="387"/>
            </a:xfrm>
            <a:prstGeom prst="rect">
              <a:avLst/>
            </a:prstGeom>
          </p:spPr>
        </p:pic>
        <p:sp>
          <p:nvSpPr>
            <p:cNvPr id="9" name="任意多边形: 形状 8"/>
            <p:cNvSpPr/>
            <p:nvPr userDrawn="1"/>
          </p:nvSpPr>
          <p:spPr>
            <a:xfrm>
              <a:off x="1368" y="0"/>
              <a:ext cx="6475" cy="10800"/>
            </a:xfrm>
            <a:custGeom>
              <a:avLst/>
              <a:gdLst>
                <a:gd name="connsiteX0" fmla="*/ 1057684 w 4111427"/>
                <a:gd name="connsiteY0" fmla="*/ 0 h 6858000"/>
                <a:gd name="connsiteX1" fmla="*/ 4111427 w 4111427"/>
                <a:gd name="connsiteY1" fmla="*/ 0 h 6858000"/>
                <a:gd name="connsiteX2" fmla="*/ 3053742 w 4111427"/>
                <a:gd name="connsiteY2" fmla="*/ 6858000 h 6858000"/>
                <a:gd name="connsiteX3" fmla="*/ 0 w 411142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1427" h="6858000">
                  <a:moveTo>
                    <a:pt x="1057684" y="0"/>
                  </a:moveTo>
                  <a:lnTo>
                    <a:pt x="4111427" y="0"/>
                  </a:lnTo>
                  <a:lnTo>
                    <a:pt x="305374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B5B71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34" name="图片 33" descr="C:/Users/hongw/Desktop/图层 1.png图层 1"/>
            <p:cNvPicPr>
              <a:picLocks noChangeAspect="1"/>
            </p:cNvPicPr>
            <p:nvPr/>
          </p:nvPicPr>
          <p:blipFill>
            <a:blip r:embed="rId4">
              <a:lum bright="-18000" contrast="-6000"/>
            </a:blip>
            <a:srcRect l="14" r="14"/>
            <a:stretch>
              <a:fillRect/>
            </a:stretch>
          </p:blipFill>
          <p:spPr>
            <a:xfrm>
              <a:off x="10809" y="4235"/>
              <a:ext cx="8386" cy="65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927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7ADB-B914-4041-9DCC-B9DEFC52E01D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BA51-3E0B-4F0F-BE28-A7E979F9D6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997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198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00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8477250" y="190500"/>
            <a:ext cx="3048000" cy="3048000"/>
            <a:chOff x="8477250" y="190500"/>
            <a:chExt cx="3048000" cy="3048000"/>
          </a:xfrm>
        </p:grpSpPr>
        <p:sp>
          <p:nvSpPr>
            <p:cNvPr id="16" name="Ellipse 16"/>
            <p:cNvSpPr/>
            <p:nvPr/>
          </p:nvSpPr>
          <p:spPr>
            <a:xfrm>
              <a:off x="9239250" y="9525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1565C0"/>
              </a:solidFill>
              <a:custDash>
                <a:ds d="300000" sp="600000"/>
              </a:custDash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381000"/>
              <a:ext cx="2667000" cy="2667000"/>
            </a:xfrm>
            <a:prstGeom prst="ellipse">
              <a:avLst/>
            </a:prstGeom>
            <a:noFill/>
            <a:ln w="4762">
              <a:solidFill>
                <a:srgbClr val="1565C0"/>
              </a:solidFill>
              <a:custDash>
                <a:ds d="400000" sp="1600000"/>
              </a:custDash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8477250" y="1714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1565C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10001250" y="190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1565C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Rectangle 28"/>
          <p:cNvSpPr/>
          <p:nvPr/>
        </p:nvSpPr>
        <p:spPr>
          <a:xfrm>
            <a:off x="952500" y="0"/>
            <a:ext cx="38100" cy="6858000"/>
          </a:xfrm>
          <a:prstGeom prst="rect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5940933" y="1761411"/>
            <a:ext cx="54985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gradFill>
                  <a:gsLst>
                    <a:gs pos="0">
                      <a:srgbClr val="1565C0"/>
                    </a:gs>
                    <a:gs pos="100000">
                      <a:srgbClr val="0D47A1"/>
                    </a:gs>
                  </a:gsLst>
                  <a:lin ang="2700000" scaled="1"/>
                </a:gradFill>
                <a:latin typeface="Georgia"/>
                <a:ea typeface="KaiTi"/>
                <a:cs typeface="Georgia"/>
              </a:rPr>
              <a:t>具身智能仿真平台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56173" y="2605326"/>
            <a:ext cx="435077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Embodied-SimLite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80938" y="3387329"/>
            <a:ext cx="287675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用 Web 技术栈定义机器人仿真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01893" y="3803571"/>
            <a:ext cx="3810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5956173" y="4026872"/>
            <a:ext cx="405559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chemeClr val="bg1">
                    <a:lumMod val="50000"/>
                  </a:schemeClr>
                </a:solidFill>
                <a:latin typeface="Arial"/>
                <a:ea typeface="Microsoft YaHei"/>
                <a:cs typeface="Arial"/>
              </a:rPr>
              <a:t>嵌入式综合设计 II · 期末答辩 · 2026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89511" y="4507945"/>
            <a:ext cx="322844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bg1">
                    <a:lumMod val="50000"/>
                  </a:schemeClr>
                </a:solidFill>
                <a:latin typeface="Consolas"/>
                <a:ea typeface="Microsoft YaHei"/>
                <a:cs typeface="Consolas"/>
              </a:rPr>
              <a:t>embodied-sim-lite + ros2_navigation_ws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598973-B532-0B3A-ACB1-4603FB9FD5C4}"/>
              </a:ext>
            </a:extLst>
          </p:cNvPr>
          <p:cNvSpPr txBox="1"/>
          <p:nvPr/>
        </p:nvSpPr>
        <p:spPr>
          <a:xfrm>
            <a:off x="5859244" y="4850204"/>
            <a:ext cx="5236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汇报小组：组长：沈星宇</a:t>
            </a:r>
            <a:endParaRPr lang="en-US" altLang="zh-CN" dirty="0">
              <a:solidFill>
                <a:srgbClr val="8585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lang="zh-CN" altLang="en-US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组员：邓皓舰、管嘉怡、李睿、</a:t>
            </a:r>
            <a:r>
              <a:rPr lang="en-US" altLang="zh-CN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				</a:t>
            </a:r>
            <a:r>
              <a:rPr lang="zh-CN" altLang="en-US" dirty="0">
                <a:solidFill>
                  <a:srgbClr val="8585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青煜恒、周思彤（按首字母）</a:t>
            </a:r>
          </a:p>
          <a:p>
            <a:pPr lvl="3"/>
            <a:endParaRPr lang="zh-CN" altLang="en-US" dirty="0">
              <a:solidFill>
                <a:srgbClr val="8585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BCAF657-D745-69AC-179A-5E0083E34987}"/>
              </a:ext>
            </a:extLst>
          </p:cNvPr>
          <p:cNvSpPr>
            <a:spLocks/>
          </p:cNvSpPr>
          <p:nvPr/>
        </p:nvSpPr>
        <p:spPr bwMode="auto">
          <a:xfrm>
            <a:off x="1" y="1339"/>
            <a:ext cx="4258983" cy="6856661"/>
          </a:xfrm>
          <a:custGeom>
            <a:avLst/>
            <a:gdLst>
              <a:gd name="connsiteX0" fmla="*/ 0 w 4258983"/>
              <a:gd name="connsiteY0" fmla="*/ 0 h 6856661"/>
              <a:gd name="connsiteX1" fmla="*/ 3310023 w 4258983"/>
              <a:gd name="connsiteY1" fmla="*/ 0 h 6856661"/>
              <a:gd name="connsiteX2" fmla="*/ 4258983 w 4258983"/>
              <a:gd name="connsiteY2" fmla="*/ 6856661 h 6856661"/>
              <a:gd name="connsiteX3" fmla="*/ 0 w 4258983"/>
              <a:gd name="connsiteY3" fmla="*/ 6856661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83" h="6856661">
                <a:moveTo>
                  <a:pt x="0" y="0"/>
                </a:moveTo>
                <a:lnTo>
                  <a:pt x="3310023" y="0"/>
                </a:lnTo>
                <a:lnTo>
                  <a:pt x="4258983" y="6856661"/>
                </a:lnTo>
                <a:lnTo>
                  <a:pt x="0" y="6856661"/>
                </a:lnTo>
                <a:close/>
              </a:path>
            </a:pathLst>
          </a:custGeom>
          <a:solidFill>
            <a:srgbClr val="125AB4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52" tIns="288038" rIns="91452" bIns="45726" numCol="1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125AB4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1A715C-7184-E04D-1CAB-11B116332C7F}"/>
              </a:ext>
            </a:extLst>
          </p:cNvPr>
          <p:cNvSpPr txBox="1"/>
          <p:nvPr/>
        </p:nvSpPr>
        <p:spPr>
          <a:xfrm>
            <a:off x="295587" y="2164418"/>
            <a:ext cx="2374946" cy="1354185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3284F9">
                      <a:lumMod val="50000"/>
                      <a:alpha val="12000"/>
                    </a:srgb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43FFE5-6E71-E57C-46AD-DEB8CEEED822}"/>
              </a:ext>
            </a:extLst>
          </p:cNvPr>
          <p:cNvSpPr txBox="1"/>
          <p:nvPr/>
        </p:nvSpPr>
        <p:spPr>
          <a:xfrm>
            <a:off x="295587" y="3693624"/>
            <a:ext cx="2891240" cy="677076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600" normalizeH="0" baseline="0" noProof="0" dirty="0">
                <a:ln>
                  <a:noFill/>
                </a:ln>
                <a:solidFill>
                  <a:schemeClr val="bg1">
                    <a:alpha val="34000"/>
                  </a:schemeClr>
                </a:solidFill>
                <a:effectLst>
                  <a:outerShdw blurRad="38100" dist="38100" dir="2700000" algn="tl">
                    <a:srgbClr val="3284F9">
                      <a:lumMod val="50000"/>
                      <a:alpha val="12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+mn-lt"/>
              </a:rPr>
              <a:t>CONTENTS</a:t>
            </a:r>
            <a:endParaRPr kumimoji="0" lang="zh-CN" altLang="en-US" sz="3600" b="0" i="0" u="none" strike="noStrike" kern="1200" cap="none" spc="600" normalizeH="0" baseline="0" noProof="0" dirty="0">
              <a:ln>
                <a:noFill/>
              </a:ln>
              <a:solidFill>
                <a:schemeClr val="bg1">
                  <a:alpha val="34000"/>
                </a:schemeClr>
              </a:solidFill>
              <a:effectLst>
                <a:outerShdw blurRad="38100" dist="38100" dir="2700000" algn="tl">
                  <a:srgbClr val="3284F9">
                    <a:lumMod val="50000"/>
                    <a:alpha val="12000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44F4A6C-4FB0-2E98-CCAF-586C714A8AD2}"/>
              </a:ext>
            </a:extLst>
          </p:cNvPr>
          <p:cNvGrpSpPr/>
          <p:nvPr/>
        </p:nvGrpSpPr>
        <p:grpSpPr>
          <a:xfrm>
            <a:off x="4554570" y="1203267"/>
            <a:ext cx="5740555" cy="790267"/>
            <a:chOff x="5298233" y="1111286"/>
            <a:chExt cx="5740555" cy="790267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295D26C7-5E9F-4E9F-6E09-2A354B12B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6F08B128-9299-B47F-1855-2DFD3C988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0F5972B-B6A9-3CAB-140E-897AB6384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125AB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21BEB32-8C89-477C-24AA-50268DC0D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448" y="1277372"/>
              <a:ext cx="1729961" cy="55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999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项目背景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AE1992C-F5E0-F41C-6D77-E3A420D67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1436" y="1154132"/>
              <a:ext cx="447558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1</a:t>
              </a:r>
              <a:endParaRPr kumimoji="0" lang="zh-CN" altLang="en-US" sz="39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8C5834-D413-0A7B-CD69-BDC8DC3AFE2B}"/>
              </a:ext>
            </a:extLst>
          </p:cNvPr>
          <p:cNvGrpSpPr/>
          <p:nvPr/>
        </p:nvGrpSpPr>
        <p:grpSpPr>
          <a:xfrm>
            <a:off x="4554570" y="2406783"/>
            <a:ext cx="5740555" cy="790267"/>
            <a:chOff x="5298233" y="1111286"/>
            <a:chExt cx="5740555" cy="790267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302E8D1-A596-0543-795C-DF09E3C00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57C946B-D32A-E80F-1165-25AA680C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F3C8303-5977-C315-E3AF-54A5FC790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125AB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9669999-FADB-5E04-9955-4F4CA5536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5826" y="1230980"/>
              <a:ext cx="1539204" cy="55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999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We</a:t>
              </a:r>
              <a:r>
                <a:rPr lang="en-US" altLang="zh-CN" sz="2999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b</a:t>
              </a:r>
              <a:r>
                <a:rPr lang="zh-CN" altLang="en-US" sz="2999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平台</a:t>
              </a:r>
              <a:endParaRPr kumimoji="0" lang="zh-CN" altLang="en-US" sz="2999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B48FCDE-2BB3-1A56-29CC-537641952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3039" y="1154132"/>
              <a:ext cx="444352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2</a:t>
              </a:r>
              <a:endParaRPr kumimoji="0" lang="zh-CN" altLang="en-US" sz="39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A481A71-68C5-F366-43AD-7D5450C9311D}"/>
              </a:ext>
            </a:extLst>
          </p:cNvPr>
          <p:cNvGrpSpPr/>
          <p:nvPr/>
        </p:nvGrpSpPr>
        <p:grpSpPr>
          <a:xfrm>
            <a:off x="4554570" y="3610299"/>
            <a:ext cx="5740555" cy="790267"/>
            <a:chOff x="5298233" y="1111286"/>
            <a:chExt cx="5740555" cy="790267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C0E31A1-B71E-62FF-F991-1F350365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D6B0380-51D5-6FF2-A48E-789AEB7EE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346585E-8E1F-5736-A347-E68F41622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125AB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726A083-D3F7-410D-7245-F558A3FE7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3414" y="1269937"/>
              <a:ext cx="4249881" cy="55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None/>
              </a:pPr>
              <a:r>
                <a:rPr lang="zh-CN" altLang="zh-CN" sz="2999" b="1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SLAM 建图与 Nav2 导航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21B15E5-CFC0-2AB4-0909-135B8A7C7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3039" y="1154132"/>
              <a:ext cx="444352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3</a:t>
              </a:r>
              <a:endParaRPr kumimoji="0" lang="zh-CN" altLang="en-US" sz="39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33C2BFD-8FED-ED7D-E3A9-015FDEDCACF2}"/>
              </a:ext>
            </a:extLst>
          </p:cNvPr>
          <p:cNvGrpSpPr/>
          <p:nvPr/>
        </p:nvGrpSpPr>
        <p:grpSpPr>
          <a:xfrm>
            <a:off x="4554570" y="4813814"/>
            <a:ext cx="5740555" cy="790267"/>
            <a:chOff x="5298233" y="1111286"/>
            <a:chExt cx="5740555" cy="790267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3F4DA56B-B00C-3896-6CEE-C60FE8AF9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1682" y="1111286"/>
              <a:ext cx="891827" cy="112668"/>
            </a:xfrm>
            <a:custGeom>
              <a:avLst/>
              <a:gdLst>
                <a:gd name="T0" fmla="*/ 85667 w 1156"/>
                <a:gd name="T1" fmla="*/ 0 h 142"/>
                <a:gd name="T2" fmla="*/ 806508 w 1156"/>
                <a:gd name="T3" fmla="*/ 0 h 142"/>
                <a:gd name="T4" fmla="*/ 892175 w 1156"/>
                <a:gd name="T5" fmla="*/ 112712 h 142"/>
                <a:gd name="T6" fmla="*/ 0 w 1156"/>
                <a:gd name="T7" fmla="*/ 112712 h 142"/>
                <a:gd name="T8" fmla="*/ 85667 w 1156"/>
                <a:gd name="T9" fmla="*/ 0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6" h="142">
                  <a:moveTo>
                    <a:pt x="111" y="0"/>
                  </a:moveTo>
                  <a:lnTo>
                    <a:pt x="1045" y="0"/>
                  </a:lnTo>
                  <a:lnTo>
                    <a:pt x="1156" y="142"/>
                  </a:lnTo>
                  <a:lnTo>
                    <a:pt x="0" y="142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AE51D025-883B-D871-F8FC-FEC6B91F3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8233" y="1200152"/>
              <a:ext cx="5740555" cy="701401"/>
            </a:xfrm>
            <a:custGeom>
              <a:avLst/>
              <a:gdLst>
                <a:gd name="T0" fmla="*/ 74828 w 8676"/>
                <a:gd name="T1" fmla="*/ 0 h 884"/>
                <a:gd name="T2" fmla="*/ 6537843 w 8676"/>
                <a:gd name="T3" fmla="*/ 0 h 884"/>
                <a:gd name="T4" fmla="*/ 6692900 w 8676"/>
                <a:gd name="T5" fmla="*/ 160338 h 884"/>
                <a:gd name="T6" fmla="*/ 6692900 w 8676"/>
                <a:gd name="T7" fmla="*/ 625475 h 884"/>
                <a:gd name="T8" fmla="*/ 6618072 w 8676"/>
                <a:gd name="T9" fmla="*/ 701675 h 884"/>
                <a:gd name="T10" fmla="*/ 74828 w 8676"/>
                <a:gd name="T11" fmla="*/ 701675 h 884"/>
                <a:gd name="T12" fmla="*/ 0 w 8676"/>
                <a:gd name="T13" fmla="*/ 625475 h 884"/>
                <a:gd name="T14" fmla="*/ 0 w 8676"/>
                <a:gd name="T15" fmla="*/ 76200 h 884"/>
                <a:gd name="T16" fmla="*/ 74828 w 8676"/>
                <a:gd name="T17" fmla="*/ 0 h 8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635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C9EC619-DFD5-4499-1CEF-54522313A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7373" y="1111286"/>
              <a:ext cx="720444" cy="737899"/>
            </a:xfrm>
            <a:prstGeom prst="rect">
              <a:avLst/>
            </a:prstGeom>
            <a:solidFill>
              <a:srgbClr val="125AB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A53A2EB-EAC6-77CA-63E7-A1F9CE2B3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5826" y="1232249"/>
              <a:ext cx="957313" cy="55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999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总结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81D71EE-7DE8-B6B0-C0F7-79228E693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3039" y="1154132"/>
              <a:ext cx="444352" cy="707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2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998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  <a:sym typeface="+mn-lt"/>
                </a:rPr>
                <a:t>4</a:t>
              </a:r>
              <a:endParaRPr kumimoji="0" lang="zh-CN" altLang="en-US" sz="399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3752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9EB7618B-D181-08C9-CCA0-FE662D2CF32B}"/>
              </a:ext>
            </a:extLst>
          </p:cNvPr>
          <p:cNvGrpSpPr/>
          <p:nvPr/>
        </p:nvGrpSpPr>
        <p:grpSpPr>
          <a:xfrm>
            <a:off x="1525589" y="2110740"/>
            <a:ext cx="9090541" cy="2636520"/>
            <a:chOff x="1390015" y="2110740"/>
            <a:chExt cx="9090541" cy="26365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BE098E4-B747-9941-D0AB-8A470B9848A2}"/>
                </a:ext>
              </a:extLst>
            </p:cNvPr>
            <p:cNvSpPr txBox="1"/>
            <p:nvPr/>
          </p:nvSpPr>
          <p:spPr>
            <a:xfrm>
              <a:off x="5307214" y="2860962"/>
              <a:ext cx="5173342" cy="1098378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项目背景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E4AD56B-CC52-C03E-C18D-75C357C840A6}"/>
                </a:ext>
              </a:extLst>
            </p:cNvPr>
            <p:cNvSpPr txBox="1"/>
            <p:nvPr/>
          </p:nvSpPr>
          <p:spPr>
            <a:xfrm>
              <a:off x="1390015" y="2110740"/>
              <a:ext cx="4069715" cy="2636520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600" b="0" i="0" u="none" strike="noStrike" kern="1200" cap="none" spc="0" normalizeH="0" baseline="0" noProof="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0</a:t>
              </a:r>
              <a:r>
                <a:rPr kumimoji="0" lang="zh-CN" altLang="en-US" sz="16600" b="0" i="0" u="none" strike="noStrike" kern="1200" cap="none" spc="0" normalizeH="0" baseline="0" noProof="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1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8A76082-2337-AE29-5608-042F8F8DED48}"/>
                </a:ext>
              </a:extLst>
            </p:cNvPr>
            <p:cNvSpPr txBox="1"/>
            <p:nvPr/>
          </p:nvSpPr>
          <p:spPr>
            <a:xfrm>
              <a:off x="2095499" y="3244850"/>
              <a:ext cx="2422527" cy="3306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45720" rIns="0" bIns="45720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25AB4">
                      <a:alpha val="7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Project background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F9B5835-60BE-7BE9-39FD-4A76155F5EC2}"/>
                </a:ext>
              </a:extLst>
            </p:cNvPr>
            <p:cNvCxnSpPr>
              <a:cxnSpLocks/>
            </p:cNvCxnSpPr>
            <p:nvPr/>
          </p:nvCxnSpPr>
          <p:spPr>
            <a:xfrm>
              <a:off x="4937760" y="2600960"/>
              <a:ext cx="0" cy="1517650"/>
            </a:xfrm>
            <a:prstGeom prst="line">
              <a:avLst/>
            </a:prstGeom>
            <a:ln>
              <a:solidFill>
                <a:srgbClr val="125AB4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FE51CA9B-B29E-3366-1189-B2200760D38F}"/>
                </a:ext>
              </a:extLst>
            </p:cNvPr>
            <p:cNvSpPr txBox="1"/>
            <p:nvPr/>
          </p:nvSpPr>
          <p:spPr>
            <a:xfrm>
              <a:off x="5307214" y="3632200"/>
              <a:ext cx="5055986" cy="566576"/>
            </a:xfrm>
            <a:prstGeom prst="rect">
              <a:avLst/>
            </a:prstGeom>
          </p:spPr>
          <p:txBody>
            <a:bodyPr wrap="square" tIns="0" bIns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>
                  <a:solidFill>
                    <a:schemeClr val="bg1">
                      <a:lumMod val="75000"/>
                    </a:schemeClr>
                  </a:solidFill>
                  <a:latin typeface="等线 Light" panose="02010600030101010101" pitchFamily="2" charset="-122"/>
                  <a:ea typeface="黑体" panose="02010609060101010101" pitchFamily="49" charset="-122"/>
                </a:defRPr>
              </a:lvl1pPr>
            </a:lstStyle>
            <a:p>
              <a:pPr>
                <a:defRPr/>
              </a:pP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sym typeface="等线 Light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622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71500" y="3429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12470" y="331470"/>
            <a:ext cx="375742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传统仿真方案的三重困境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615" y="696278"/>
            <a:ext cx="32316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GAZEBO + ROS2 + UBUNTU 为何难以满足教学需求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2619375" cy="1619250"/>
            <a:chOff x="571500" y="1143000"/>
            <a:chExt cx="2619375" cy="16192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261937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6768" y="1371124"/>
              <a:ext cx="83704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RTF 实时因子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9620" y="1626870"/>
              <a:ext cx="863556" cy="7924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10%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6768" y="2228374"/>
              <a:ext cx="77885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理想值 ≥100%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455545"/>
              <a:ext cx="108769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仿真比真实慢 10 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81375" y="1143000"/>
            <a:ext cx="2619375" cy="1619250"/>
            <a:chOff x="3381375" y="1143000"/>
            <a:chExt cx="2619375" cy="16192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3381375" y="1143000"/>
              <a:ext cx="261937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81375" y="11430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6642" y="1371124"/>
              <a:ext cx="70052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GPU 利用率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9495" y="1626870"/>
              <a:ext cx="699735" cy="7924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6F00"/>
                  </a:solidFill>
                  <a:latin typeface="Georgia"/>
                  <a:ea typeface="KaiTi"/>
                  <a:cs typeface="Georgia"/>
                </a:rPr>
                <a:t>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6642" y="2228374"/>
              <a:ext cx="73985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理想值 ≥50%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7595" y="2455545"/>
              <a:ext cx="108769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RTX 4060 完全闲置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91250" y="1143000"/>
            <a:ext cx="2619375" cy="1619250"/>
            <a:chOff x="6191250" y="1143000"/>
            <a:chExt cx="2619375" cy="16192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6191250" y="1143000"/>
              <a:ext cx="261937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91250" y="11430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6518" y="1371124"/>
              <a:ext cx="57083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内存占用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89370" y="1626870"/>
              <a:ext cx="1600748" cy="7924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7.62G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518" y="2228374"/>
              <a:ext cx="63584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WSL2 总计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7470" y="2455545"/>
              <a:ext cx="9049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资源被无效占用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01125" y="1143000"/>
            <a:ext cx="2619375" cy="1619250"/>
            <a:chOff x="9001125" y="1143000"/>
            <a:chExt cx="2619375" cy="16192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9001125" y="1143000"/>
              <a:ext cx="2619375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01125" y="11430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36392" y="1371124"/>
              <a:ext cx="56400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CPU 负载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99245" y="1626870"/>
              <a:ext cx="699735" cy="7924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6392" y="2228374"/>
              <a:ext cx="59683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理想值 &lt;8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7345" y="2455545"/>
              <a:ext cx="829361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32 核几乎满载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52450" y="3028950"/>
            <a:ext cx="92974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根因分析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448049"/>
            <a:ext cx="11061089" cy="1347788"/>
          </a:xfrm>
          <a:prstGeom prst="roundRect">
            <a:avLst>
              <a:gd name="adj" fmla="val 8333"/>
            </a:avLst>
          </a:prstGeom>
          <a:solidFill>
            <a:srgbClr val="ECEFF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842962" y="3640931"/>
            <a:ext cx="1077057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Gazebo 物理引擎过重</a:t>
            </a:r>
            <a:r>
              <a:rPr lang="zh-CN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：ODE/Bullet 引擎精确求解刚体动力学，教学场景"够用即可"的保真度反成性能包袱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1848" y="4036695"/>
            <a:ext cx="1066291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WSL2 的隐性成本</a:t>
            </a:r>
            <a:r>
              <a:rPr lang="zh-CN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：GPU 直通 (GPU-PV) 桥接在特定版本中不稳定甚至失效，RTX 4060 无法参与渲染加速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2962" y="4398559"/>
            <a:ext cx="987546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Ubuntu 部署门槛</a:t>
            </a:r>
            <a:r>
              <a:rPr lang="zh-CN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：ROS 2 环境配置、工作空间编译、依赖安装消耗大量课时，学生入门成本过高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1509" y="5133499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1565C0">
              <a:alpha val="8000"/>
            </a:srgbClr>
          </a:solidFill>
          <a:ln w="14288">
            <a:solidFill>
              <a:srgbClr val="1565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4507052" y="5280573"/>
            <a:ext cx="325409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工具性能与教学环境严重不匹配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97218" y="5953515"/>
            <a:ext cx="10692765" cy="169277"/>
            <a:chOff x="559118" y="5752624"/>
            <a:chExt cx="10692765" cy="169277"/>
          </a:xfrm>
        </p:grpSpPr>
        <p:sp>
          <p:nvSpPr>
            <p:cNvPr id="42" name="TextBox 42"/>
            <p:cNvSpPr txBox="1"/>
            <p:nvPr/>
          </p:nvSpPr>
          <p:spPr>
            <a:xfrm>
              <a:off x="559118" y="5752624"/>
              <a:ext cx="143308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80% 时间花在环境配置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89690" y="5752624"/>
              <a:ext cx="1612621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仅 20% 时间学习核心算法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43833" y="5752624"/>
              <a:ext cx="130805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综合设计 </a:t>
              </a:r>
              <a:r>
                <a:rPr lang="en-US" alt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Ⅱ</a:t>
              </a:r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阶段实测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609600" y="6182591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7"/>
          <p:cNvSpPr/>
          <p:nvPr/>
        </p:nvSpPr>
        <p:spPr>
          <a:xfrm>
            <a:off x="609600" y="6182591"/>
            <a:ext cx="8839200" cy="95250"/>
          </a:xfrm>
          <a:prstGeom prst="roundRect">
            <a:avLst>
              <a:gd name="adj" fmla="val 50000"/>
            </a:avLst>
          </a:prstGeom>
          <a:solidFill>
            <a:srgbClr val="1565C0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609600" y="6182591"/>
            <a:ext cx="2209800" cy="952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258750" y="655597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71500" y="3429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12470" y="331470"/>
            <a:ext cx="498397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从 Gazebo 到 Embodied-SimLite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615" y="696278"/>
            <a:ext cx="2922275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00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用 Web 技术栈替代重量级物理引擎的架构转变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5429250" cy="1476375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C62828">
                  <a:alpha val="8000"/>
                </a:srgbClr>
              </a:gs>
              <a:gs pos="100000">
                <a:srgbClr val="ECEFF1">
                  <a:alpha val="50000"/>
                </a:srgbClr>
              </a:gs>
            </a:gsLst>
            <a:lin ang="2700000" scaled="1"/>
          </a:gradFill>
          <a:ln w="9525">
            <a:solidFill>
              <a:srgbClr val="EF9A9A"/>
            </a:solidFill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" name="TextBox 8"/>
          <p:cNvSpPr txBox="1"/>
          <p:nvPr/>
        </p:nvSpPr>
        <p:spPr>
          <a:xfrm>
            <a:off x="2511073" y="1235392"/>
            <a:ext cx="155010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C62828"/>
                </a:solidFill>
                <a:latin typeface="Georgia"/>
                <a:ea typeface="KaiTi"/>
                <a:cs typeface="Georgia"/>
              </a:rPr>
              <a:t>Gazebo 方案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4633" y="1553528"/>
            <a:ext cx="456176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Ubuntu(WSL2) → Gazebo → ROS2 → RViz2 → 用户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6634" y="1929668"/>
            <a:ext cx="93615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✗ 物理引擎重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634" y="2120168"/>
            <a:ext cx="81432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✗ GPU 失效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8384" y="1929668"/>
            <a:ext cx="78226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✗ 部署复杂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28384" y="2120168"/>
            <a:ext cx="78226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✗ 启动缓慢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79075" y="1504615"/>
            <a:ext cx="416610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4000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1095375"/>
            <a:ext cx="5429250" cy="1476375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1565C0">
                  <a:alpha val="8000"/>
                </a:srgbClr>
              </a:gs>
              <a:gs pos="100000">
                <a:srgbClr val="ECEFF1">
                  <a:alpha val="50000"/>
                </a:srgbClr>
              </a:gs>
            </a:gsLst>
            <a:lin ang="2700000" scaled="1"/>
          </a:gradFill>
          <a:ln w="9525">
            <a:solidFill>
              <a:srgbClr val="90CAF9"/>
            </a:solidFill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6" name="TextBox 16"/>
          <p:cNvSpPr txBox="1"/>
          <p:nvPr/>
        </p:nvSpPr>
        <p:spPr>
          <a:xfrm>
            <a:off x="7372605" y="1235392"/>
            <a:ext cx="306654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Embodied-SimLite 方案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68415" y="1553528"/>
            <a:ext cx="507882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浏览器(Three.js) → FastAPI → ROS2 桥接 → Nav2 → 用户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4469" y="1915284"/>
            <a:ext cx="61875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✓ 零部署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64469" y="2105784"/>
            <a:ext cx="80470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✓ GPU 加速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36219" y="1915284"/>
            <a:ext cx="77264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✓ 秒级启动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36219" y="2105784"/>
            <a:ext cx="61875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✓ 跨平台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4355" y="2769481"/>
            <a:ext cx="206466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核心技术选型对比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143250"/>
            <a:ext cx="2381250" cy="453302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4" name="TextBox 24"/>
          <p:cNvSpPr txBox="1"/>
          <p:nvPr/>
        </p:nvSpPr>
        <p:spPr>
          <a:xfrm>
            <a:off x="1556939" y="3285649"/>
            <a:ext cx="41036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维度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952750" y="3143250"/>
            <a:ext cx="4619625" cy="453302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6" name="TextBox 26"/>
          <p:cNvSpPr txBox="1"/>
          <p:nvPr/>
        </p:nvSpPr>
        <p:spPr>
          <a:xfrm>
            <a:off x="4666294" y="3285649"/>
            <a:ext cx="118301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Gazebo 方案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572375" y="3143250"/>
            <a:ext cx="4048125" cy="453302"/>
          </a:xfrm>
          <a:prstGeom prst="roundRect">
            <a:avLst>
              <a:gd name="adj" fmla="val 10000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8" name="TextBox 28"/>
          <p:cNvSpPr txBox="1"/>
          <p:nvPr/>
        </p:nvSpPr>
        <p:spPr>
          <a:xfrm>
            <a:off x="8708838" y="3285649"/>
            <a:ext cx="17656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Embodied-SimLite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3562349"/>
            <a:ext cx="11049000" cy="2013533"/>
            <a:chOff x="571500" y="3562350"/>
            <a:chExt cx="11049000" cy="1692373"/>
          </a:xfrm>
        </p:grpSpPr>
        <p:sp>
          <p:nvSpPr>
            <p:cNvPr id="29" name="Rectangle 29"/>
            <p:cNvSpPr/>
            <p:nvPr/>
          </p:nvSpPr>
          <p:spPr>
            <a:xfrm>
              <a:off x="571500" y="3562350"/>
              <a:ext cx="11049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51757" y="3676174"/>
              <a:ext cx="820738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物理仿真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8434" y="3676174"/>
              <a:ext cx="1458733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ODE/Bullet 引擎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73955" y="3676174"/>
              <a:ext cx="1835439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自研 60Hz 轻量物理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905250"/>
              <a:ext cx="11049000" cy="3429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1450" y="4019074"/>
              <a:ext cx="721351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3D 渲染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95711" y="4019074"/>
              <a:ext cx="524181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OGRE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2561" y="4019074"/>
              <a:ext cx="2438232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Three.js WebGL GPU 加速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4248150"/>
              <a:ext cx="110490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54349" y="4361974"/>
              <a:ext cx="615553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传感器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79731" y="4361974"/>
              <a:ext cx="1356140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插件式(需编译)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3" y="4361974"/>
              <a:ext cx="2494786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Web Worker 模拟激光雷达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1500" y="4591050"/>
              <a:ext cx="11049000" cy="3429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56940" y="4704874"/>
              <a:ext cx="410369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通信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8238" y="4704874"/>
              <a:ext cx="1019125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ROS 2 原生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0228" y="4704874"/>
              <a:ext cx="2382896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WebSocket + ROS 2 桥接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6940" y="5047774"/>
              <a:ext cx="410369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部署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07225" y="5047774"/>
              <a:ext cx="2101152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需安装完整 ROS 2 环境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73530" y="5047774"/>
              <a:ext cx="1436291" cy="2069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浏览器即可访问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554355" y="5904547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F6F00">
              <a:alpha val="6000"/>
            </a:srgbClr>
          </a:solidFill>
          <a:ln w="9525">
            <a:solidFill>
              <a:srgbClr val="FF6F00">
                <a:alpha val="30000"/>
              </a:srgbClr>
            </a:solidFill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51" name="TextBox 51"/>
          <p:cNvSpPr txBox="1"/>
          <p:nvPr/>
        </p:nvSpPr>
        <p:spPr>
          <a:xfrm>
            <a:off x="1623315" y="6066855"/>
            <a:ext cx="891109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FF6F00"/>
                </a:solidFill>
                <a:latin typeface="Segoe UI"/>
                <a:ea typeface="Microsoft YaHei"/>
                <a:cs typeface="Segoe UI"/>
              </a:rPr>
              <a:t>AI 赋能：</a:t>
            </a:r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本项目</a:t>
            </a:r>
            <a:r>
              <a:rPr lang="zh-CN" altLang="en-US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大部分脚本</a:t>
            </a:r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代码由 </a:t>
            </a:r>
            <a:r>
              <a:rPr lang="en-US" alt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Claude</a:t>
            </a:r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结对编程生成 — 状态机、评估器</a:t>
            </a:r>
            <a:r>
              <a:rPr lang="zh-CN" altLang="en-US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以及桥接层修改由 </a:t>
            </a:r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AI 辅助设计与实现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A8CAC-9476-2434-25AC-9BBD3DAD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311" y="1600200"/>
            <a:ext cx="8229600" cy="452596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324FF5-4660-CD4D-3CF2-BBEC709BC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43" y="762962"/>
            <a:ext cx="9001825" cy="600928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37BE0ED8-0BC3-8D7F-E593-A23A188093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0"/>
          <a:stretch>
            <a:fillRect/>
          </a:stretch>
        </p:blipFill>
        <p:spPr>
          <a:xfrm>
            <a:off x="4239613" y="829355"/>
            <a:ext cx="8294163" cy="58764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D5C31F-6547-B5AB-5AD1-27A8BDE3163A}"/>
              </a:ext>
            </a:extLst>
          </p:cNvPr>
          <p:cNvSpPr/>
          <p:nvPr/>
        </p:nvSpPr>
        <p:spPr>
          <a:xfrm>
            <a:off x="571500" y="3429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70474-A1EC-0A67-6746-67BFCEE9CDD9}"/>
              </a:ext>
            </a:extLst>
          </p:cNvPr>
          <p:cNvSpPr txBox="1"/>
          <p:nvPr/>
        </p:nvSpPr>
        <p:spPr>
          <a:xfrm>
            <a:off x="712470" y="331470"/>
            <a:ext cx="530594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 Gazebo </a:t>
            </a:r>
            <a:r>
              <a:rPr lang="zh-CN" altLang="en-US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和</a:t>
            </a:r>
            <a:r>
              <a:rPr lang="zh-CN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 Embodied-SimLite</a:t>
            </a:r>
            <a:r>
              <a:rPr lang="zh-CN" altLang="en-US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对比</a:t>
            </a:r>
            <a:endParaRPr lang="zh-CN" sz="2400" b="1" dirty="0">
              <a:solidFill>
                <a:srgbClr val="263238"/>
              </a:solidFill>
              <a:latin typeface="Georgia"/>
              <a:ea typeface="KaiTi"/>
              <a:cs typeface="Georgi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B835C3-2025-B177-9A80-A3FD4D78B4C9}"/>
              </a:ext>
            </a:extLst>
          </p:cNvPr>
          <p:cNvSpPr/>
          <p:nvPr/>
        </p:nvSpPr>
        <p:spPr>
          <a:xfrm>
            <a:off x="1963270" y="1459006"/>
            <a:ext cx="6347012" cy="383241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1D5E2B-F52B-2FA2-CCB5-EB7FBDF499F5}"/>
              </a:ext>
            </a:extLst>
          </p:cNvPr>
          <p:cNvSpPr/>
          <p:nvPr/>
        </p:nvSpPr>
        <p:spPr>
          <a:xfrm>
            <a:off x="4136" y="3144371"/>
            <a:ext cx="997445" cy="19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CAFF68-5F7C-C822-5B0D-67EB033D24E3}"/>
              </a:ext>
            </a:extLst>
          </p:cNvPr>
          <p:cNvSpPr/>
          <p:nvPr/>
        </p:nvSpPr>
        <p:spPr>
          <a:xfrm>
            <a:off x="4205995" y="3144370"/>
            <a:ext cx="997445" cy="19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38BE015-2D1D-3B90-38A1-BDB740BAB365}"/>
              </a:ext>
            </a:extLst>
          </p:cNvPr>
          <p:cNvCxnSpPr/>
          <p:nvPr/>
        </p:nvCxnSpPr>
        <p:spPr>
          <a:xfrm>
            <a:off x="1082487" y="4074459"/>
            <a:ext cx="305248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4B4E76D-C58F-5BDF-919D-4978843C2EBC}"/>
              </a:ext>
            </a:extLst>
          </p:cNvPr>
          <p:cNvSpPr txBox="1"/>
          <p:nvPr/>
        </p:nvSpPr>
        <p:spPr>
          <a:xfrm>
            <a:off x="4134970" y="1036727"/>
            <a:ext cx="1848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CPU</a:t>
            </a:r>
            <a:r>
              <a:rPr lang="zh-CN" altLang="en-US" b="1" dirty="0">
                <a:solidFill>
                  <a:srgbClr val="FF0000"/>
                </a:solidFill>
              </a:rPr>
              <a:t>占用率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FDF419-113C-26DF-619F-728032FC6C86}"/>
              </a:ext>
            </a:extLst>
          </p:cNvPr>
          <p:cNvSpPr txBox="1"/>
          <p:nvPr/>
        </p:nvSpPr>
        <p:spPr>
          <a:xfrm>
            <a:off x="2129778" y="4074921"/>
            <a:ext cx="174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虚拟内存占用</a:t>
            </a:r>
          </a:p>
        </p:txBody>
      </p:sp>
    </p:spTree>
    <p:extLst>
      <p:ext uri="{BB962C8B-B14F-4D97-AF65-F5344CB8AC3E}">
        <p14:creationId xmlns:p14="http://schemas.microsoft.com/office/powerpoint/2010/main" val="2712032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B3A6A-C4C3-AADD-C3FE-935DF390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432B7EC6-5B27-D66B-B94A-24BC43D7E060}"/>
              </a:ext>
            </a:extLst>
          </p:cNvPr>
          <p:cNvGrpSpPr/>
          <p:nvPr/>
        </p:nvGrpSpPr>
        <p:grpSpPr>
          <a:xfrm>
            <a:off x="1525589" y="2110740"/>
            <a:ext cx="9090541" cy="2636520"/>
            <a:chOff x="1390015" y="2110740"/>
            <a:chExt cx="9090541" cy="26365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7240F60-95B0-15F6-7157-E5D36153F741}"/>
                </a:ext>
              </a:extLst>
            </p:cNvPr>
            <p:cNvSpPr txBox="1"/>
            <p:nvPr/>
          </p:nvSpPr>
          <p:spPr>
            <a:xfrm>
              <a:off x="5307214" y="2860962"/>
              <a:ext cx="5173342" cy="1098378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Web</a:t>
              </a:r>
              <a:r>
                <a:rPr lang="zh-CN" altLang="en-US" sz="6600" b="1" dirty="0">
                  <a:ln w="6350">
                    <a:noFill/>
                  </a:ln>
                  <a:solidFill>
                    <a:srgbClr val="125AB4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平台</a:t>
              </a:r>
              <a:endParaRPr kumimoji="0" lang="zh-CN" altLang="en-US" sz="6600" b="1" i="0" u="none" strike="noStrike" kern="1200" cap="none" spc="0" normalizeH="0" baseline="0" noProof="0" dirty="0">
                <a:ln w="6350">
                  <a:noFill/>
                </a:ln>
                <a:solidFill>
                  <a:srgbClr val="125AB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宋体 CN Heavy" panose="02020900000000000000" charset="-122"/>
                <a:sym typeface="+mn-ea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7C96912-DEBC-AF5E-EF6B-7DDF48B50EE8}"/>
                </a:ext>
              </a:extLst>
            </p:cNvPr>
            <p:cNvSpPr txBox="1"/>
            <p:nvPr/>
          </p:nvSpPr>
          <p:spPr>
            <a:xfrm>
              <a:off x="1390015" y="2110740"/>
              <a:ext cx="4069715" cy="2636520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600" b="0" i="0" u="none" strike="noStrike" kern="1200" cap="none" spc="0" normalizeH="0" baseline="0" noProof="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0</a:t>
              </a:r>
              <a:r>
                <a:rPr lang="en-US" altLang="zh-CN" sz="1660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2</a:t>
              </a:r>
              <a:endParaRPr kumimoji="0" lang="zh-CN" altLang="en-US" sz="16600" b="0" i="0" u="none" strike="noStrike" kern="1200" cap="none" spc="0" normalizeH="0" baseline="0" noProof="0" dirty="0">
                <a:ln w="6350">
                  <a:noFill/>
                </a:ln>
                <a:gradFill>
                  <a:gsLst>
                    <a:gs pos="0">
                      <a:srgbClr val="125AB4"/>
                    </a:gs>
                    <a:gs pos="100000">
                      <a:srgbClr val="125AB4">
                        <a:alpha val="17000"/>
                        <a:lumMod val="84000"/>
                        <a:lumOff val="16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宋体 CN Heavy" panose="02020900000000000000" charset="-122"/>
                <a:sym typeface="+mn-ea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EAA9718-35C7-383A-725A-FAAE1BDEA7A0}"/>
                </a:ext>
              </a:extLst>
            </p:cNvPr>
            <p:cNvSpPr txBox="1"/>
            <p:nvPr/>
          </p:nvSpPr>
          <p:spPr>
            <a:xfrm>
              <a:off x="2323635" y="3250109"/>
              <a:ext cx="2092156" cy="3306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45720" rIns="0" bIns="45720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25AB4">
                      <a:alpha val="7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Web Platform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FF24E92-48A0-A972-9B3D-214ECA7B05F7}"/>
                </a:ext>
              </a:extLst>
            </p:cNvPr>
            <p:cNvCxnSpPr>
              <a:cxnSpLocks/>
            </p:cNvCxnSpPr>
            <p:nvPr/>
          </p:nvCxnSpPr>
          <p:spPr>
            <a:xfrm>
              <a:off x="4937760" y="2600960"/>
              <a:ext cx="0" cy="1517650"/>
            </a:xfrm>
            <a:prstGeom prst="line">
              <a:avLst/>
            </a:prstGeom>
            <a:ln>
              <a:solidFill>
                <a:srgbClr val="125AB4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D82AB666-F5F3-1D08-4EEE-716E167383C6}"/>
                </a:ext>
              </a:extLst>
            </p:cNvPr>
            <p:cNvSpPr txBox="1"/>
            <p:nvPr/>
          </p:nvSpPr>
          <p:spPr>
            <a:xfrm>
              <a:off x="5307214" y="3632200"/>
              <a:ext cx="5055986" cy="566576"/>
            </a:xfrm>
            <a:prstGeom prst="rect">
              <a:avLst/>
            </a:prstGeom>
          </p:spPr>
          <p:txBody>
            <a:bodyPr wrap="square" tIns="0" bIns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>
                  <a:solidFill>
                    <a:schemeClr val="bg1">
                      <a:lumMod val="75000"/>
                    </a:schemeClr>
                  </a:solidFill>
                  <a:latin typeface="等线 Light" panose="02010600030101010101" pitchFamily="2" charset="-122"/>
                  <a:ea typeface="黑体" panose="02010609060101010101" pitchFamily="49" charset="-122"/>
                </a:defRPr>
              </a:lvl1pPr>
            </a:lstStyle>
            <a:p>
              <a:pPr>
                <a:defRPr/>
              </a:pP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sym typeface="等线 Light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621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857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4375" y="290512"/>
            <a:ext cx="194738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四层架构设计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61864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从用户交互到底层硬件的完整闭环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81000" cy="1190625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TextBox 7"/>
          <p:cNvSpPr txBox="1"/>
          <p:nvPr/>
        </p:nvSpPr>
        <p:spPr>
          <a:xfrm>
            <a:off x="609715" y="1416981"/>
            <a:ext cx="30457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8" name="Rectangle 8"/>
          <p:cNvSpPr/>
          <p:nvPr/>
        </p:nvSpPr>
        <p:spPr>
          <a:xfrm>
            <a:off x="1047750" y="952500"/>
            <a:ext cx="10572750" cy="1190625"/>
          </a:xfrm>
          <a:prstGeom prst="roundRect">
            <a:avLst>
              <a:gd name="adj" fmla="val 8000"/>
            </a:avLst>
          </a:prstGeom>
          <a:solidFill>
            <a:srgbClr val="E3F2FD">
              <a:alpha val="50000"/>
            </a:srgbClr>
          </a:solidFill>
          <a:ln w="14288">
            <a:solidFill>
              <a:srgbClr val="90CAF9"/>
            </a:solidFill>
            <a:prstDash val="dash"/>
          </a:ln>
        </p:spPr>
        <p:txBody>
          <a:bodyPr/>
          <a:lstStyle/>
          <a:p>
            <a:endParaRPr lang="zh-CN" altLang="en-US" sz="3600"/>
          </a:p>
        </p:txBody>
      </p:sp>
      <p:sp>
        <p:nvSpPr>
          <p:cNvPr id="9" name="TextBox 9"/>
          <p:cNvSpPr txBox="1"/>
          <p:nvPr/>
        </p:nvSpPr>
        <p:spPr>
          <a:xfrm>
            <a:off x="4860695" y="1073109"/>
            <a:ext cx="247061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用户接口层 · USER INTERFACE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8250" y="1314450"/>
            <a:ext cx="3048000" cy="685800"/>
            <a:chOff x="1238250" y="1314450"/>
            <a:chExt cx="3048000" cy="6858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1238250" y="1314450"/>
              <a:ext cx="3048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52550" y="14478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9523" y="1471315"/>
              <a:ext cx="302967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3D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1650" y="1439330"/>
              <a:ext cx="1290418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3D 场景渲染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1172" y="1682591"/>
              <a:ext cx="1855380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Three.js WebGL · 实时 30Hz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2125" y="1824038"/>
              <a:ext cx="1128514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动态障碍物可视化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54377" y="1314450"/>
            <a:ext cx="3048000" cy="685800"/>
            <a:chOff x="4476750" y="1314450"/>
            <a:chExt cx="3048000" cy="6858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4476750" y="1314450"/>
              <a:ext cx="3048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91050" y="14478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14512" y="1488792"/>
              <a:ext cx="221214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75611" y="1438341"/>
              <a:ext cx="1384995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状态监控面板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9672" y="1682591"/>
              <a:ext cx="1349728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实时速度/位置/帧率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0625" y="1824038"/>
              <a:ext cx="1187826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LiteGraph.js 数据流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34040" y="1314450"/>
            <a:ext cx="3048000" cy="685800"/>
            <a:chOff x="7715250" y="1314450"/>
            <a:chExt cx="3048000" cy="6858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4" name="Rectangle 24"/>
            <p:cNvSpPr/>
            <p:nvPr/>
          </p:nvSpPr>
          <p:spPr>
            <a:xfrm>
              <a:off x="7715250" y="1314450"/>
              <a:ext cx="3048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29550" y="1447800"/>
              <a:ext cx="304800" cy="3048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10608" y="1483918"/>
              <a:ext cx="123432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5408" y="1451620"/>
              <a:ext cx="92333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错误处理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8172" y="1682591"/>
              <a:ext cx="1420261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连接保护 + 自动恢复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39125" y="1824038"/>
              <a:ext cx="950581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try/except 防护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571500" y="2238374"/>
            <a:ext cx="381000" cy="1147799"/>
          </a:xfrm>
          <a:prstGeom prst="roundRect">
            <a:avLst>
              <a:gd name="adj" fmla="val 20000"/>
            </a:avLst>
          </a:prstGeom>
          <a:solidFill>
            <a:srgbClr val="0D47A1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TextBox 32"/>
          <p:cNvSpPr txBox="1"/>
          <p:nvPr/>
        </p:nvSpPr>
        <p:spPr>
          <a:xfrm>
            <a:off x="599215" y="2660716"/>
            <a:ext cx="33983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047750" y="2238375"/>
            <a:ext cx="10572750" cy="1180112"/>
          </a:xfrm>
          <a:prstGeom prst="roundRect">
            <a:avLst>
              <a:gd name="adj" fmla="val 10000"/>
            </a:avLst>
          </a:prstGeom>
          <a:solidFill>
            <a:srgbClr val="E8EAF6">
              <a:alpha val="50000"/>
            </a:srgbClr>
          </a:solidFill>
          <a:ln w="14288">
            <a:solidFill>
              <a:srgbClr val="9FA8DA"/>
            </a:solidFill>
            <a:prstDash val="dash"/>
          </a:ln>
        </p:spPr>
        <p:txBody>
          <a:bodyPr/>
          <a:lstStyle/>
          <a:p>
            <a:endParaRPr lang="zh-CN" altLang="en-US" sz="3600"/>
          </a:p>
        </p:txBody>
      </p:sp>
      <p:sp>
        <p:nvSpPr>
          <p:cNvPr id="34" name="TextBox 34"/>
          <p:cNvSpPr txBox="1"/>
          <p:nvPr/>
        </p:nvSpPr>
        <p:spPr>
          <a:xfrm>
            <a:off x="4654377" y="2300317"/>
            <a:ext cx="283584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0D47A1"/>
                </a:solidFill>
                <a:latin typeface="Segoe UI"/>
                <a:ea typeface="Microsoft YaHei"/>
                <a:cs typeface="Segoe UI"/>
              </a:rPr>
              <a:t>任务管理层 · TASK MANAGEMENT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38250" y="2552699"/>
            <a:ext cx="4762500" cy="764416"/>
            <a:chOff x="1238250" y="2552700"/>
            <a:chExt cx="4762500" cy="747359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5" name="Rectangle 35"/>
            <p:cNvSpPr/>
            <p:nvPr/>
          </p:nvSpPr>
          <p:spPr>
            <a:xfrm>
              <a:off x="1238250" y="2552700"/>
              <a:ext cx="4762500" cy="747359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0665" y="2687002"/>
              <a:ext cx="2905988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StateManager 状态机 Brain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89195" y="2915589"/>
              <a:ext cx="4198235" cy="369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IDLE → EXPLORATION → NAVIGATION → MAP_EVALUATION → FINISH · 动静态障碍物区分 · 碰撞恢复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2552699"/>
            <a:ext cx="5043768" cy="763885"/>
            <a:chOff x="6191250" y="2552699"/>
            <a:chExt cx="5043768" cy="51435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6191250" y="2552699"/>
              <a:ext cx="5043768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3665" y="2651671"/>
              <a:ext cx="2170466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任务调度 &amp; 重试策略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07555" y="2860157"/>
              <a:ext cx="4674485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自主探索建图 → 覆盖率低于 5% 未知格自动完成 · ERROR 自恢复闭环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88878" y="3574293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4" name="TextBox 44"/>
          <p:cNvSpPr txBox="1"/>
          <p:nvPr/>
        </p:nvSpPr>
        <p:spPr>
          <a:xfrm>
            <a:off x="609461" y="3877406"/>
            <a:ext cx="33983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065128" y="3574293"/>
            <a:ext cx="10572750" cy="952500"/>
          </a:xfrm>
          <a:prstGeom prst="roundRect">
            <a:avLst>
              <a:gd name="adj" fmla="val 10000"/>
            </a:avLst>
          </a:prstGeom>
          <a:solidFill>
            <a:srgbClr val="E3F2FD">
              <a:alpha val="50000"/>
            </a:srgbClr>
          </a:solidFill>
          <a:ln w="14288">
            <a:solidFill>
              <a:srgbClr val="90CAF9"/>
            </a:solidFill>
            <a:prstDash val="dash"/>
          </a:ln>
        </p:spPr>
        <p:txBody>
          <a:bodyPr/>
          <a:lstStyle/>
          <a:p>
            <a:endParaRPr lang="zh-CN" altLang="en-US" sz="3600"/>
          </a:p>
        </p:txBody>
      </p:sp>
      <p:sp>
        <p:nvSpPr>
          <p:cNvPr id="46" name="TextBox 46"/>
          <p:cNvSpPr txBox="1"/>
          <p:nvPr/>
        </p:nvSpPr>
        <p:spPr>
          <a:xfrm>
            <a:off x="4539195" y="3636518"/>
            <a:ext cx="308738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功能模块层 · FUNCTIONAL MODULES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255628" y="3888618"/>
            <a:ext cx="2381250" cy="514707"/>
            <a:chOff x="1238250" y="360045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7" name="Rectangle 47"/>
            <p:cNvSpPr/>
            <p:nvPr/>
          </p:nvSpPr>
          <p:spPr>
            <a:xfrm>
              <a:off x="1238250" y="360045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16825" y="3707428"/>
              <a:ext cx="16240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SLAM 建图定位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32733" y="3930491"/>
              <a:ext cx="1792286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slam_toolbox online_async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27378" y="3888618"/>
            <a:ext cx="2381250" cy="514707"/>
            <a:chOff x="3810000" y="360045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1" name="Rectangle 51"/>
            <p:cNvSpPr/>
            <p:nvPr/>
          </p:nvSpPr>
          <p:spPr>
            <a:xfrm>
              <a:off x="3810000" y="360045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05826" y="3699480"/>
              <a:ext cx="1551707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Nav2 路径规划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19811" y="3930491"/>
              <a:ext cx="1961627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AMCL + Planner + Controller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399128" y="3888618"/>
            <a:ext cx="2381250" cy="514707"/>
            <a:chOff x="6381750" y="360045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5" name="Rectangle 55"/>
            <p:cNvSpPr/>
            <p:nvPr/>
          </p:nvSpPr>
          <p:spPr>
            <a:xfrm>
              <a:off x="6381750" y="360045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9855" y="3676650"/>
              <a:ext cx="92333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自主探索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62245" y="3930491"/>
              <a:ext cx="1420261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Exploration 边界探测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970878" y="3888618"/>
            <a:ext cx="2381250" cy="514707"/>
            <a:chOff x="8953500" y="360045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9" name="Rectangle 59"/>
            <p:cNvSpPr/>
            <p:nvPr/>
          </p:nvSpPr>
          <p:spPr>
            <a:xfrm>
              <a:off x="8953500" y="360045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43807" y="3695800"/>
              <a:ext cx="92333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地图评估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48966" y="3930491"/>
              <a:ext cx="1136529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覆盖率/质量分析</a:t>
              </a:r>
            </a:p>
          </p:txBody>
        </p:sp>
      </p:grpSp>
      <p:sp>
        <p:nvSpPr>
          <p:cNvPr id="63" name="Rectangle 63"/>
          <p:cNvSpPr/>
          <p:nvPr/>
        </p:nvSpPr>
        <p:spPr>
          <a:xfrm>
            <a:off x="588878" y="4729133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64" name="TextBox 64"/>
          <p:cNvSpPr txBox="1"/>
          <p:nvPr/>
        </p:nvSpPr>
        <p:spPr>
          <a:xfrm>
            <a:off x="606256" y="5005354"/>
            <a:ext cx="346249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65" name="Rectangle 65"/>
          <p:cNvSpPr/>
          <p:nvPr/>
        </p:nvSpPr>
        <p:spPr>
          <a:xfrm>
            <a:off x="1065128" y="4729133"/>
            <a:ext cx="10572750" cy="952500"/>
          </a:xfrm>
          <a:prstGeom prst="roundRect">
            <a:avLst>
              <a:gd name="adj" fmla="val 10000"/>
            </a:avLst>
          </a:prstGeom>
          <a:solidFill>
            <a:srgbClr val="ECEFF1">
              <a:alpha val="60000"/>
            </a:srgbClr>
          </a:solidFill>
          <a:ln w="14288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zh-CN" altLang="en-US" sz="3600"/>
          </a:p>
        </p:txBody>
      </p:sp>
      <p:sp>
        <p:nvSpPr>
          <p:cNvPr id="66" name="TextBox 66"/>
          <p:cNvSpPr txBox="1"/>
          <p:nvPr/>
        </p:nvSpPr>
        <p:spPr>
          <a:xfrm>
            <a:off x="4434031" y="4789202"/>
            <a:ext cx="336534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硬件抽象层 · HARDWARE ABSTRACTION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255628" y="5043458"/>
            <a:ext cx="2381250" cy="514707"/>
            <a:chOff x="1238250" y="464820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7" name="Rectangle 67"/>
            <p:cNvSpPr/>
            <p:nvPr/>
          </p:nvSpPr>
          <p:spPr>
            <a:xfrm>
              <a:off x="1238250" y="464820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837380" y="4739788"/>
              <a:ext cx="1154162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传感器驱动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78108" y="4978241"/>
              <a:ext cx="2101537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激光雷达 /scan · 里程计 /odom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27378" y="5043458"/>
            <a:ext cx="2381250" cy="514707"/>
            <a:chOff x="3810000" y="4648200"/>
            <a:chExt cx="238125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1" name="Rectangle 71"/>
            <p:cNvSpPr/>
            <p:nvPr/>
          </p:nvSpPr>
          <p:spPr>
            <a:xfrm>
              <a:off x="3810000" y="4648200"/>
              <a:ext cx="238125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58590" y="4728326"/>
              <a:ext cx="692497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执行器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367888" y="4978241"/>
              <a:ext cx="1265475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/cmd_vel 差速驱动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07555" y="5050635"/>
            <a:ext cx="4762500" cy="514707"/>
            <a:chOff x="6381750" y="4648200"/>
            <a:chExt cx="4762500" cy="51470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5" name="Rectangle 75"/>
            <p:cNvSpPr/>
            <p:nvPr/>
          </p:nvSpPr>
          <p:spPr>
            <a:xfrm>
              <a:off x="6381750" y="4648200"/>
              <a:ext cx="47625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07730" y="4726983"/>
              <a:ext cx="328295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AABB 刚体碰撞 + 电机制动抱死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98054" y="4978241"/>
              <a:ext cx="4529894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resolve_collision() · abs(force)&lt;0.001 时速度×0.5 模拟差动底盘制动</a:t>
              </a:r>
            </a:p>
          </p:txBody>
        </p:sp>
      </p:grpSp>
      <p:sp>
        <p:nvSpPr>
          <p:cNvPr id="79" name="Rectangle 79"/>
          <p:cNvSpPr/>
          <p:nvPr/>
        </p:nvSpPr>
        <p:spPr>
          <a:xfrm>
            <a:off x="242047" y="5987891"/>
            <a:ext cx="11701182" cy="428625"/>
          </a:xfrm>
          <a:prstGeom prst="roundRect">
            <a:avLst>
              <a:gd name="adj" fmla="val 17778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>
                <a:alpha val="20000"/>
              </a:srgbClr>
            </a:solidFill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0" name="TextBox 80"/>
          <p:cNvSpPr txBox="1"/>
          <p:nvPr/>
        </p:nvSpPr>
        <p:spPr>
          <a:xfrm>
            <a:off x="300684" y="6114246"/>
            <a:ext cx="1154322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D47A1"/>
                </a:solidFill>
                <a:latin typeface="Consolas"/>
                <a:ea typeface="Microsoft YaHei"/>
                <a:cs typeface="Consolas"/>
              </a:rPr>
              <a:t>Browser ↔ WebSocket(30Hz) ↔ ProductV1.0.py(FastAPI+60Hz Physics) ↔ WebSocket ↔ sim_ros2_bridgeV1.0.py ↔ /odom,/scan,/tf ↔ Nav2+SLAM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62281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从错误到修复 —— AI 全链路诊断的 5 个典型案例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71500" y="723900"/>
            <a:ext cx="11049000" cy="2857500"/>
            <a:chOff x="571500" y="723900"/>
            <a:chExt cx="11049000" cy="2857500"/>
          </a:xfrm>
        </p:grpSpPr>
        <p:sp>
          <p:nvSpPr>
            <p:cNvPr id="5" name="Rectangle 5"/>
            <p:cNvSpPr/>
            <p:nvPr/>
          </p:nvSpPr>
          <p:spPr>
            <a:xfrm>
              <a:off x="571500" y="723900"/>
              <a:ext cx="11049000" cy="381000"/>
            </a:xfrm>
            <a:prstGeom prst="roundRect">
              <a:avLst>
                <a:gd name="adj" fmla="val 1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41871" y="866299"/>
              <a:ext cx="56425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问题现象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98501" y="866299"/>
              <a:ext cx="74699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AI 诊断过程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371" y="866299"/>
              <a:ext cx="56425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解决方案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22184" y="866299"/>
              <a:ext cx="28213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教训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48989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600200"/>
              <a:ext cx="11049000" cy="9525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248" y="1286596"/>
              <a:ext cx="122950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import websocket </a:t>
              </a:r>
              <a:endParaRPr lang="en-US" altLang="zh-CN" sz="1050" dirty="0">
                <a:solidFill>
                  <a:srgbClr val="C62828"/>
                </a:solidFill>
                <a:latin typeface="Segoe UI"/>
                <a:ea typeface="Microsoft YaHei"/>
                <a:cs typeface="Segoe UI"/>
              </a:endParaRPr>
            </a:p>
            <a:p>
              <a:pPr algn="ctr"/>
              <a:r>
                <a:rPr 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报 ModuleNotFound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04076" y="1320641"/>
              <a:ext cx="333585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区分 websocket vs websockets — 不同的包，API 不兼容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06878" y="1320641"/>
              <a:ext cx="173124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pip install websocket-client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90364" y="1328738"/>
              <a:ext cx="94577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Python 包名陷阱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600200"/>
              <a:ext cx="11049000" cy="4953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095500"/>
              <a:ext cx="11049000" cy="9525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4822" y="1815941"/>
              <a:ext cx="125835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WebSocket 连不上 </a:t>
              </a:r>
              <a:r>
                <a:rPr lang="en-US" alt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IP</a:t>
              </a:r>
              <a:endParaRPr lang="zh-CN" sz="1050" dirty="0">
                <a:solidFill>
                  <a:srgbClr val="C6282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0901" y="1815941"/>
              <a:ext cx="288220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识别 </a:t>
              </a:r>
              <a:r>
                <a:rPr lang="en-US" alt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IP</a:t>
              </a:r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是 WSL2 NAT 网关 IP，每次重启可能变化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99852" y="1815941"/>
              <a:ext cx="154529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改为 ws://127.0.0.1:8000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01398" y="1824038"/>
              <a:ext cx="112370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WSL2 网络模型风险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2095500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2590800"/>
              <a:ext cx="11049000" cy="9525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3413" y="2311241"/>
              <a:ext cx="148117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连接成功后进程立即崩溃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28360" y="2311241"/>
              <a:ext cx="388728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定位 send_text() 向已关闭连接发送 — 时序竞态：客户端提前断开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18338" y="2311241"/>
              <a:ext cx="230832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加 try/except ConnectionClosed 保护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50289" y="2319338"/>
              <a:ext cx="102592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网络连接生命周期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2590800"/>
              <a:ext cx="11049000" cy="4953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086100"/>
              <a:ext cx="11049000" cy="9525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4171" y="2806541"/>
              <a:ext cx="109966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odom TF 帧不存在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91628" y="2806541"/>
              <a:ext cx="296074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桥接器未连通 Web 引擎 → /tf 未发布 → TF 树断裂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31913" y="2806541"/>
              <a:ext cx="148117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修正连接地址后自动广播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42649" y="2814638"/>
              <a:ext cx="64120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错误传导性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3086100"/>
              <a:ext cx="110490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0044" y="3301841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前端页面空白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68058" y="3301841"/>
              <a:ext cx="420788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Tracking Prevention 拦截 CDN 脚本 — JS 实际已通过本地 fallback 加载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6535" y="3301841"/>
              <a:ext cx="167193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无需处理，CDN 警告是误报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22050" y="3309938"/>
              <a:ext cx="128240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浏览器安全策略副作用</a:t>
              </a:r>
            </a:p>
          </p:txBody>
        </p:sp>
      </p:grpSp>
      <p:sp>
        <p:nvSpPr>
          <p:cNvPr id="40" name="Rectangle 40"/>
          <p:cNvSpPr/>
          <p:nvPr/>
        </p:nvSpPr>
        <p:spPr>
          <a:xfrm>
            <a:off x="571500" y="3905250"/>
            <a:ext cx="11049000" cy="742950"/>
          </a:xfrm>
          <a:prstGeom prst="roundRect">
            <a:avLst>
              <a:gd name="adj" fmla="val 13333"/>
            </a:avLst>
          </a:prstGeom>
          <a:solidFill>
            <a:srgbClr val="1565C0">
              <a:alpha val="6000"/>
            </a:srgbClr>
          </a:solidFill>
          <a:ln w="14288">
            <a:solidFill>
              <a:srgbClr val="1565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5432012" y="3943097"/>
            <a:ext cx="116217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分层排查法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2729" y="4283073"/>
            <a:ext cx="1054654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网络层(IP可达) → 传输层(连接建立) → 协议层(消息格式/QoS) → 中间件层(ROS2 Topic/TF) → 算法层(SLAM/Nav2参数)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5308" y="5017077"/>
            <a:ext cx="242855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AI 辅助调试方法论总结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60070" y="5416987"/>
            <a:ext cx="11049000" cy="428625"/>
            <a:chOff x="571500" y="5143500"/>
            <a:chExt cx="11049000" cy="428625"/>
          </a:xfrm>
        </p:grpSpPr>
        <p:sp>
          <p:nvSpPr>
            <p:cNvPr id="44" name="Rectangle 44"/>
            <p:cNvSpPr/>
            <p:nvPr/>
          </p:nvSpPr>
          <p:spPr>
            <a:xfrm>
              <a:off x="571500" y="5143500"/>
              <a:ext cx="3524250" cy="428625"/>
            </a:xfrm>
            <a:prstGeom prst="roundRect">
              <a:avLst>
                <a:gd name="adj" fmla="val 17778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0622" y="5304949"/>
              <a:ext cx="32060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1. 先给现象再给假设，不要只说"修好这个 bug"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238625" y="5143500"/>
              <a:ext cx="3524250" cy="428625"/>
            </a:xfrm>
            <a:prstGeom prst="roundRect">
              <a:avLst>
                <a:gd name="adj" fmla="val 17778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38010" y="5304949"/>
              <a:ext cx="292548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2. AI 最擅长"这个错误属于哪一层、为什么"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905750" y="5143500"/>
              <a:ext cx="3714750" cy="428625"/>
            </a:xfrm>
            <a:prstGeom prst="roundRect">
              <a:avLst>
                <a:gd name="adj" fmla="val 17778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4968" y="5304949"/>
              <a:ext cx="315631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3. 让 AI 给出 3-5 种方案对比，人力做最终选择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52577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ROS 2 全链路打通 —— 三项关键技术突破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42950"/>
            <a:ext cx="36195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Rectangle 6"/>
          <p:cNvSpPr/>
          <p:nvPr/>
        </p:nvSpPr>
        <p:spPr>
          <a:xfrm>
            <a:off x="571500" y="742950"/>
            <a:ext cx="3619500" cy="381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" name="TextBox 7"/>
          <p:cNvSpPr txBox="1"/>
          <p:nvPr/>
        </p:nvSpPr>
        <p:spPr>
          <a:xfrm>
            <a:off x="832749" y="904875"/>
            <a:ext cx="309700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突破一：三话题全链路桥接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45820" y="1283970"/>
            <a:ext cx="3059430" cy="1832134"/>
            <a:chOff x="845820" y="1283970"/>
            <a:chExt cx="3059430" cy="1622941"/>
          </a:xfrm>
        </p:grpSpPr>
        <p:sp>
          <p:nvSpPr>
            <p:cNvPr id="8" name="TextBox 8"/>
            <p:cNvSpPr txBox="1"/>
            <p:nvPr/>
          </p:nvSpPr>
          <p:spPr>
            <a:xfrm>
              <a:off x="845820" y="1283970"/>
              <a:ext cx="2483437" cy="190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Web 引擎 → 桥接器 → ROS 2：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5049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022" y="1550423"/>
              <a:ext cx="179536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位置/速度 → /odom (30Hz)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17716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2022" y="1811167"/>
              <a:ext cx="171841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激光扫描 → /scan (10Hz)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20383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2022" y="2083822"/>
              <a:ext cx="102592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坐标变换 → /tf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820" y="2379345"/>
              <a:ext cx="22823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WebSocket ws://IP:8000 双向通信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5820" y="2550795"/>
              <a:ext cx="207659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桥接器订阅 /cmd_vel 控制小车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5820" y="2722245"/>
              <a:ext cx="235481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发布 /odom /scan /tf 供 Nav2 消费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4286250" y="742950"/>
            <a:ext cx="36195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0" name="Rectangle 20"/>
          <p:cNvSpPr/>
          <p:nvPr/>
        </p:nvSpPr>
        <p:spPr>
          <a:xfrm>
            <a:off x="4286250" y="742950"/>
            <a:ext cx="3619500" cy="38100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1" name="TextBox 21"/>
          <p:cNvSpPr txBox="1"/>
          <p:nvPr/>
        </p:nvSpPr>
        <p:spPr>
          <a:xfrm>
            <a:off x="4760699" y="904875"/>
            <a:ext cx="267060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突破二：QoS 配置关键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522546" y="1283970"/>
            <a:ext cx="3192704" cy="1835768"/>
            <a:chOff x="4522546" y="1283970"/>
            <a:chExt cx="3192704" cy="1515728"/>
          </a:xfrm>
        </p:grpSpPr>
        <p:sp>
          <p:nvSpPr>
            <p:cNvPr id="22" name="TextBox 22"/>
            <p:cNvSpPr txBox="1"/>
            <p:nvPr/>
          </p:nvSpPr>
          <p:spPr>
            <a:xfrm>
              <a:off x="4560570" y="1283970"/>
              <a:ext cx="17857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LaserScan 必须特殊配置：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22546" y="1504950"/>
              <a:ext cx="3192704" cy="993193"/>
            </a:xfrm>
            <a:prstGeom prst="roundRect">
              <a:avLst>
                <a:gd name="adj" fmla="val 7500"/>
              </a:avLst>
            </a:prstGeom>
            <a:solidFill>
              <a:srgbClr val="FFF3E0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23320" y="1598295"/>
              <a:ext cx="18798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Reliability = BEST_EFFORT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23320" y="1769745"/>
              <a:ext cx="273632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高频 10Hz 雷达数据，丢失个别帧不影响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3320" y="1941195"/>
              <a:ext cx="3053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RELIABLE 模式 → 队列堆积 → RViz2 丢弃全部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3320" y="2112645"/>
              <a:ext cx="16097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Durability = VOLATILE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23320" y="2284095"/>
              <a:ext cx="23083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实时数据流，新订阅者不需要历史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4774" y="2615032"/>
              <a:ext cx="271709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教训：RELIABLE 导致"有话题但无显示"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8001000" y="742950"/>
            <a:ext cx="36195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32" name="Rectangle 32"/>
          <p:cNvSpPr/>
          <p:nvPr/>
        </p:nvSpPr>
        <p:spPr>
          <a:xfrm>
            <a:off x="8001000" y="742950"/>
            <a:ext cx="3619500" cy="381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33" name="TextBox 33"/>
          <p:cNvSpPr txBox="1"/>
          <p:nvPr/>
        </p:nvSpPr>
        <p:spPr>
          <a:xfrm>
            <a:off x="8443389" y="904875"/>
            <a:ext cx="273472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2E7D32"/>
                </a:solidFill>
                <a:latin typeface="Georgia"/>
                <a:ea typeface="KaiTi"/>
                <a:cs typeface="Georgia"/>
              </a:rPr>
              <a:t>突破三：TF 树完整链路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275320" y="1283970"/>
            <a:ext cx="3059430" cy="1598294"/>
            <a:chOff x="8275320" y="1283970"/>
            <a:chExt cx="3059430" cy="1598294"/>
          </a:xfrm>
        </p:grpSpPr>
        <p:sp>
          <p:nvSpPr>
            <p:cNvPr id="34" name="TextBox 34"/>
            <p:cNvSpPr txBox="1"/>
            <p:nvPr/>
          </p:nvSpPr>
          <p:spPr>
            <a:xfrm>
              <a:off x="8275320" y="1283970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坐标系父子关系链：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1523999"/>
              <a:ext cx="3048000" cy="447557"/>
            </a:xfrm>
            <a:prstGeom prst="roundRect">
              <a:avLst>
                <a:gd name="adj" fmla="val 20000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98326" y="1547870"/>
              <a:ext cx="21239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odom → base_footprint </a:t>
              </a:r>
              <a:endParaRPr lang="en-US" altLang="zh-CN" sz="1200" b="1" dirty="0">
                <a:solidFill>
                  <a:srgbClr val="2E7D32"/>
                </a:solidFill>
                <a:latin typeface="Consolas"/>
                <a:ea typeface="Microsoft YaHei"/>
                <a:cs typeface="Consolas"/>
              </a:endParaRPr>
            </a:p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→ base_link → laser_frame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5320" y="2078473"/>
              <a:ext cx="26653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odom→base_footprint: 桥接器动态发布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75320" y="2268973"/>
              <a:ext cx="274479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base_footprint→base_link: 静态 Z 轴偏移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75320" y="2459473"/>
              <a:ext cx="25162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base_link→laser_frame: 雷达安装位姿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75320" y="2697598"/>
              <a:ext cx="26666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验证：ros2 run tf2_tools view_frames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571500" y="3714749"/>
            <a:ext cx="11049000" cy="1109435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>
            <a:off x="845820" y="3903345"/>
            <a:ext cx="6115633" cy="775216"/>
            <a:chOff x="845820" y="3903345"/>
            <a:chExt cx="6115633" cy="775216"/>
          </a:xfrm>
        </p:grpSpPr>
        <p:sp>
          <p:nvSpPr>
            <p:cNvPr id="43" name="TextBox 43"/>
            <p:cNvSpPr txBox="1"/>
            <p:nvPr/>
          </p:nvSpPr>
          <p:spPr>
            <a:xfrm>
              <a:off x="845820" y="3903345"/>
              <a:ext cx="235641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1C784"/>
                  </a:solidFill>
                  <a:latin typeface="Consolas"/>
                  <a:ea typeface="Microsoft YaHei"/>
                  <a:cs typeface="Consolas"/>
                </a:rPr>
                <a:t># 桥接器核心 —— 三话题同步发布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5820" y="4112895"/>
              <a:ext cx="263373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CAF9"/>
                  </a:solidFill>
                  <a:latin typeface="Consolas"/>
                  <a:ea typeface="Microsoft YaHei"/>
                  <a:cs typeface="Consolas"/>
                </a:rPr>
                <a:t>self.odom_pub.publish(odom_msg)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4820" y="4112895"/>
              <a:ext cx="17360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8909C"/>
                  </a:solidFill>
                  <a:latin typeface="Consolas"/>
                  <a:ea typeface="Microsoft YaHei"/>
                  <a:cs typeface="Consolas"/>
                </a:rPr>
                <a:t># /odom 里程计 (30Hz)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5820" y="4303395"/>
              <a:ext cx="263373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CAF9"/>
                  </a:solidFill>
                  <a:latin typeface="Consolas"/>
                  <a:ea typeface="Microsoft YaHei"/>
                  <a:cs typeface="Consolas"/>
                </a:rPr>
                <a:t>self.scan_pub.publish(scan_msg)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74820" y="4303395"/>
              <a:ext cx="268663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8909C"/>
                  </a:solidFill>
                  <a:latin typeface="Consolas"/>
                  <a:ea typeface="Microsoft YaHei"/>
                  <a:cs typeface="Consolas"/>
                </a:rPr>
                <a:t># /scan 激光 (10Hz, BEST_EFFORT)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5820" y="4493895"/>
              <a:ext cx="314348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CAF9"/>
                  </a:solidFill>
                  <a:latin typeface="Consolas"/>
                  <a:ea typeface="Microsoft YaHei"/>
                  <a:cs typeface="Consolas"/>
                </a:rPr>
                <a:t>self.tf_broadcaster.sendTransform(tf)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4820" y="4493895"/>
              <a:ext cx="9714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8909C"/>
                  </a:solidFill>
                  <a:latin typeface="Consolas"/>
                  <a:ea typeface="Microsoft YaHei"/>
                  <a:cs typeface="Consolas"/>
                </a:rPr>
                <a:t># /tf 坐标树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71133" y="4963060"/>
            <a:ext cx="103233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验证清单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486373" y="5317842"/>
            <a:ext cx="11049000" cy="342900"/>
            <a:chOff x="571500" y="5219700"/>
            <a:chExt cx="11049000" cy="342900"/>
          </a:xfrm>
        </p:grpSpPr>
        <p:sp>
          <p:nvSpPr>
            <p:cNvPr id="52" name="Rectangle 52"/>
            <p:cNvSpPr/>
            <p:nvPr/>
          </p:nvSpPr>
          <p:spPr>
            <a:xfrm>
              <a:off x="571500" y="5219700"/>
              <a:ext cx="2667000" cy="3429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5141" y="5282537"/>
              <a:ext cx="237186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✓ ros2 topic list 检查关键话题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381375" y="5219700"/>
              <a:ext cx="2667000" cy="3429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25015" y="5282537"/>
              <a:ext cx="26459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✓ ros2 topic echo /scan 验证数据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191250" y="5219700"/>
              <a:ext cx="2667000" cy="3429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34891" y="5282537"/>
              <a:ext cx="238366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✓ view_frames 生成 TF 树 PDF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01125" y="5219700"/>
              <a:ext cx="2619375" cy="3429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44765" y="5282537"/>
              <a:ext cx="22011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✓ RViz2 Fixed Frame = map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4451540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从零到全功能运行 — 系统有序启动链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580549"/>
            <a:ext cx="43796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六步启动，严格顺序：必须先启 Web 引擎，再桥接器，最后 SLAM/Nav2</a:t>
            </a:r>
          </a:p>
        </p:txBody>
      </p:sp>
      <p:sp>
        <p:nvSpPr>
          <p:cNvPr id="6" name="Ellipse 6"/>
          <p:cNvSpPr/>
          <p:nvPr/>
        </p:nvSpPr>
        <p:spPr>
          <a:xfrm>
            <a:off x="522751" y="1238250"/>
            <a:ext cx="571500" cy="5715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11021" y="1340168"/>
            <a:ext cx="194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5966" y="15940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STEP</a:t>
            </a:r>
          </a:p>
        </p:txBody>
      </p:sp>
      <p:sp>
        <p:nvSpPr>
          <p:cNvPr id="9" name="Line 9"/>
          <p:cNvSpPr/>
          <p:nvPr/>
        </p:nvSpPr>
        <p:spPr>
          <a:xfrm>
            <a:off x="808501" y="1809750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1565C0">
                <a:alpha val="50000"/>
              </a:srgbClr>
            </a:solidFill>
            <a:custDash>
              <a:ds d="150000" sp="150000"/>
            </a:custDash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Group 20"/>
          <p:cNvGrpSpPr/>
          <p:nvPr/>
        </p:nvGrpSpPr>
        <p:grpSpPr>
          <a:xfrm>
            <a:off x="238125" y="2238375"/>
            <a:ext cx="2095500" cy="1905000"/>
            <a:chOff x="238125" y="2238375"/>
            <a:chExt cx="2095500" cy="1905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238125" y="2238375"/>
              <a:ext cx="2095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38125" y="2428875"/>
              <a:ext cx="38100" cy="2667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5762" y="2450306"/>
              <a:ext cx="682282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Web 引擎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572" y="2654141"/>
              <a:ext cx="881538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ProductV1.0.py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" y="287655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9572" y="3016091"/>
              <a:ext cx="1210268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FastAPI 服务端启动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572" y="3225641"/>
              <a:ext cx="1211870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60Hz 物理引擎循环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9572" y="3435191"/>
              <a:ext cx="1298432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40×40 压测场初始化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572" y="3644741"/>
              <a:ext cx="1223092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动态障碍物(巡逻车)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0525" y="3919538"/>
              <a:ext cx="987450" cy="15388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ProductV1.0.py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2333625" y="3190875"/>
            <a:ext cx="381000" cy="1"/>
          </a:xfrm>
          <a:prstGeom prst="line">
            <a:avLst/>
          </a:prstGeom>
          <a:noFill/>
          <a:ln w="19050">
            <a:solidFill>
              <a:srgbClr val="90A4AE"/>
            </a:solidFill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llipse 22"/>
          <p:cNvSpPr/>
          <p:nvPr/>
        </p:nvSpPr>
        <p:spPr>
          <a:xfrm>
            <a:off x="2905125" y="1238250"/>
            <a:ext cx="571500" cy="57150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3069767" y="134016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78340" y="15940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STEP</a:t>
            </a:r>
          </a:p>
        </p:txBody>
      </p:sp>
      <p:sp>
        <p:nvSpPr>
          <p:cNvPr id="25" name="Line 25"/>
          <p:cNvSpPr/>
          <p:nvPr/>
        </p:nvSpPr>
        <p:spPr>
          <a:xfrm>
            <a:off x="3190875" y="1809750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0D47A1">
                <a:alpha val="50000"/>
              </a:srgbClr>
            </a:solidFill>
            <a:custDash>
              <a:ds d="150000" sp="150000"/>
            </a:custDash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Group 35"/>
          <p:cNvGrpSpPr/>
          <p:nvPr/>
        </p:nvGrpSpPr>
        <p:grpSpPr>
          <a:xfrm>
            <a:off x="2762250" y="2238375"/>
            <a:ext cx="2095500" cy="1905000"/>
            <a:chOff x="2762250" y="2238375"/>
            <a:chExt cx="2095500" cy="1905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2762250" y="2238375"/>
              <a:ext cx="2095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762250" y="2428875"/>
              <a:ext cx="38100" cy="266700"/>
            </a:xfrm>
            <a:prstGeom prst="rect">
              <a:avLst/>
            </a:prstGeom>
            <a:solidFill>
              <a:srgbClr val="0D47A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9888" y="2450306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浏览器打开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3698" y="2654141"/>
              <a:ext cx="760247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D47A1"/>
                  </a:solidFill>
                  <a:latin typeface="Segoe UI"/>
                  <a:ea typeface="Microsoft YaHei"/>
                  <a:cs typeface="Segoe UI"/>
                </a:rPr>
                <a:t>3D 可视化界面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924175" y="287655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3698" y="3016091"/>
              <a:ext cx="1029128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Three.js 3D 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13698" y="3225641"/>
              <a:ext cx="1200650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LiteGraph.js 可视化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3698" y="3435191"/>
              <a:ext cx="1386598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Web Worker 雷达扫描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14650" y="3919538"/>
              <a:ext cx="1481175" cy="15388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http://localhost:8000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4857750" y="3190875"/>
            <a:ext cx="381000" cy="1"/>
          </a:xfrm>
          <a:prstGeom prst="line">
            <a:avLst/>
          </a:prstGeom>
          <a:noFill/>
          <a:ln w="19050">
            <a:solidFill>
              <a:srgbClr val="90A4AE"/>
            </a:solidFill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Ellipse 37"/>
          <p:cNvSpPr/>
          <p:nvPr/>
        </p:nvSpPr>
        <p:spPr>
          <a:xfrm>
            <a:off x="5429250" y="1238250"/>
            <a:ext cx="571500" cy="5715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5593892" y="134016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02465" y="15940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STEP</a:t>
            </a:r>
          </a:p>
        </p:txBody>
      </p:sp>
      <p:sp>
        <p:nvSpPr>
          <p:cNvPr id="40" name="Line 40"/>
          <p:cNvSpPr/>
          <p:nvPr/>
        </p:nvSpPr>
        <p:spPr>
          <a:xfrm>
            <a:off x="5715000" y="1809750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1565C0">
                <a:alpha val="50000"/>
              </a:srgbClr>
            </a:solidFill>
            <a:custDash>
              <a:ds d="150000" sp="150000"/>
            </a:custDash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>
            <a:off x="5286375" y="2238375"/>
            <a:ext cx="2095500" cy="1905000"/>
            <a:chOff x="5286375" y="2238375"/>
            <a:chExt cx="2095500" cy="1905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5286375" y="2238375"/>
              <a:ext cx="2095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286375" y="2428875"/>
              <a:ext cx="38100" cy="2667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34012" y="2450306"/>
              <a:ext cx="973693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ROS 2 桥接器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37822" y="2654141"/>
              <a:ext cx="1355147" cy="167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sim_ros2_bridgeV1.0.py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5448300" y="287655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37822" y="3016091"/>
              <a:ext cx="1659109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WebSocket 连接 Web 引擎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37822" y="3225641"/>
              <a:ext cx="904094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订阅 /cmd_vel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37822" y="3435191"/>
              <a:ext cx="1308050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发布 /odom /scan /tf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38775" y="3919538"/>
              <a:ext cx="1551707" cy="15388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sim_ros2_bridgeV1.0.py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8246019" y="2625566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0A4AE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7786405" y="2238375"/>
            <a:ext cx="1738595" cy="1905000"/>
            <a:chOff x="7786405" y="2238375"/>
            <a:chExt cx="1738595" cy="1905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2" name="Rectangle 52"/>
            <p:cNvSpPr/>
            <p:nvPr/>
          </p:nvSpPr>
          <p:spPr>
            <a:xfrm>
              <a:off x="7786405" y="2238375"/>
              <a:ext cx="1666875" cy="1905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86405" y="2428875"/>
              <a:ext cx="38100" cy="2667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34995" y="2458402"/>
              <a:ext cx="705321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SLAM 建图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38805" y="2662238"/>
              <a:ext cx="642805" cy="12311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slam_toolbox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210550" y="28765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38805" y="3024188"/>
              <a:ext cx="820738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online_async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38805" y="3233738"/>
              <a:ext cx="687689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发布 /map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906000" y="2238375"/>
            <a:ext cx="1666875" cy="1905000"/>
            <a:chOff x="9906000" y="2238375"/>
            <a:chExt cx="1666875" cy="1905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1" name="Rectangle 61"/>
            <p:cNvSpPr/>
            <p:nvPr/>
          </p:nvSpPr>
          <p:spPr>
            <a:xfrm>
              <a:off x="9906000" y="2238375"/>
              <a:ext cx="1666875" cy="1905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06000" y="2428875"/>
              <a:ext cx="38100" cy="266700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54590" y="2458402"/>
              <a:ext cx="666849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Nav2 导航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58400" y="2662238"/>
              <a:ext cx="982641" cy="12311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Planner + Controller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10067925" y="28765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58400" y="3024188"/>
              <a:ext cx="726161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AMCL 定位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58400" y="3233738"/>
              <a:ext cx="904094" cy="1615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/cmd_vel 下发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5266144" y="4541576"/>
            <a:ext cx="16943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Step 06 · RViz2 可视化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235043" y="4799648"/>
            <a:ext cx="5524500" cy="266700"/>
          </a:xfrm>
          <a:prstGeom prst="roundRect">
            <a:avLst>
              <a:gd name="adj" fmla="val 21429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 sz="2000" dirty="0"/>
          </a:p>
        </p:txBody>
      </p:sp>
      <p:sp>
        <p:nvSpPr>
          <p:cNvPr id="73" name="TextBox 73"/>
          <p:cNvSpPr txBox="1"/>
          <p:nvPr/>
        </p:nvSpPr>
        <p:spPr>
          <a:xfrm>
            <a:off x="3851448" y="4865370"/>
            <a:ext cx="437299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Fixed Frame=map · 显示 /map /scan RobotModel /local_plan /global_plan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5476875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26323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Box 75"/>
          <p:cNvSpPr txBox="1"/>
          <p:nvPr/>
        </p:nvSpPr>
        <p:spPr>
          <a:xfrm>
            <a:off x="2416760" y="5611676"/>
            <a:ext cx="724236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1C784"/>
                </a:solidFill>
                <a:latin typeface="Consolas"/>
                <a:ea typeface="Microsoft YaHei"/>
                <a:cs typeface="Consolas"/>
              </a:rPr>
              <a:t>$ ros2 launch integrated_system system_launch.py ← 一键启动 SLAM + Nav2 + StateManager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2" name="Line 36">
            <a:extLst>
              <a:ext uri="{FF2B5EF4-FFF2-40B4-BE49-F238E27FC236}">
                <a16:creationId xmlns:a16="http://schemas.microsoft.com/office/drawing/2014/main" id="{19C271F5-C094-AFC2-683F-B7C50B7C377C}"/>
              </a:ext>
            </a:extLst>
          </p:cNvPr>
          <p:cNvSpPr/>
          <p:nvPr/>
        </p:nvSpPr>
        <p:spPr>
          <a:xfrm>
            <a:off x="7385233" y="3192135"/>
            <a:ext cx="381000" cy="1"/>
          </a:xfrm>
          <a:prstGeom prst="line">
            <a:avLst/>
          </a:prstGeom>
          <a:noFill/>
          <a:ln w="19050">
            <a:solidFill>
              <a:srgbClr val="90A4AE"/>
            </a:solidFill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Line 36">
            <a:extLst>
              <a:ext uri="{FF2B5EF4-FFF2-40B4-BE49-F238E27FC236}">
                <a16:creationId xmlns:a16="http://schemas.microsoft.com/office/drawing/2014/main" id="{122778F4-E219-21DE-E50F-F38CEA11CEB8}"/>
              </a:ext>
            </a:extLst>
          </p:cNvPr>
          <p:cNvSpPr/>
          <p:nvPr/>
        </p:nvSpPr>
        <p:spPr>
          <a:xfrm>
            <a:off x="9462244" y="3213019"/>
            <a:ext cx="381000" cy="1"/>
          </a:xfrm>
          <a:prstGeom prst="line">
            <a:avLst/>
          </a:prstGeom>
          <a:noFill/>
          <a:ln w="19050">
            <a:solidFill>
              <a:srgbClr val="90A4AE"/>
            </a:solidFill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Ellipse 37">
            <a:extLst>
              <a:ext uri="{FF2B5EF4-FFF2-40B4-BE49-F238E27FC236}">
                <a16:creationId xmlns:a16="http://schemas.microsoft.com/office/drawing/2014/main" id="{180DC843-DB88-CEB7-2D8E-796B483F2EFD}"/>
              </a:ext>
            </a:extLst>
          </p:cNvPr>
          <p:cNvSpPr/>
          <p:nvPr/>
        </p:nvSpPr>
        <p:spPr>
          <a:xfrm>
            <a:off x="7949418" y="1219201"/>
            <a:ext cx="571500" cy="571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Box 38">
            <a:extLst>
              <a:ext uri="{FF2B5EF4-FFF2-40B4-BE49-F238E27FC236}">
                <a16:creationId xmlns:a16="http://schemas.microsoft.com/office/drawing/2014/main" id="{2BEC1E58-5973-F9E7-8685-0441FF57AB9E}"/>
              </a:ext>
            </a:extLst>
          </p:cNvPr>
          <p:cNvSpPr txBox="1"/>
          <p:nvPr/>
        </p:nvSpPr>
        <p:spPr>
          <a:xfrm>
            <a:off x="8118149" y="1321119"/>
            <a:ext cx="234039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</a:t>
            </a:r>
            <a:r>
              <a:rPr lang="en-US" alt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4</a:t>
            </a:r>
            <a:endParaRPr lang="zh-CN" sz="1350" b="1" dirty="0">
              <a:solidFill>
                <a:srgbClr val="FFFFFF"/>
              </a:solidFill>
              <a:latin typeface="Georgia"/>
              <a:ea typeface="SimSun"/>
              <a:cs typeface="Georgia"/>
            </a:endParaRPr>
          </a:p>
        </p:txBody>
      </p:sp>
      <p:sp>
        <p:nvSpPr>
          <p:cNvPr id="81" name="TextBox 39">
            <a:extLst>
              <a:ext uri="{FF2B5EF4-FFF2-40B4-BE49-F238E27FC236}">
                <a16:creationId xmlns:a16="http://schemas.microsoft.com/office/drawing/2014/main" id="{C1613B43-2E88-3F3E-EAED-15ACE33CB016}"/>
              </a:ext>
            </a:extLst>
          </p:cNvPr>
          <p:cNvSpPr txBox="1"/>
          <p:nvPr/>
        </p:nvSpPr>
        <p:spPr>
          <a:xfrm>
            <a:off x="8122633" y="1574960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STEP</a:t>
            </a:r>
          </a:p>
        </p:txBody>
      </p:sp>
      <p:sp>
        <p:nvSpPr>
          <p:cNvPr id="82" name="Line 40">
            <a:extLst>
              <a:ext uri="{FF2B5EF4-FFF2-40B4-BE49-F238E27FC236}">
                <a16:creationId xmlns:a16="http://schemas.microsoft.com/office/drawing/2014/main" id="{446F2DA1-780F-0562-2322-CF15FF332025}"/>
              </a:ext>
            </a:extLst>
          </p:cNvPr>
          <p:cNvSpPr/>
          <p:nvPr/>
        </p:nvSpPr>
        <p:spPr>
          <a:xfrm>
            <a:off x="8235168" y="1790701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2E7D32">
                <a:alpha val="50000"/>
              </a:srgbClr>
            </a:solidFill>
            <a:custDash>
              <a:ds d="150000" sp="150000"/>
            </a:custDash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Ellipse 37">
            <a:extLst>
              <a:ext uri="{FF2B5EF4-FFF2-40B4-BE49-F238E27FC236}">
                <a16:creationId xmlns:a16="http://schemas.microsoft.com/office/drawing/2014/main" id="{9BE9C19B-EEB7-1E0F-240B-092DB425F65A}"/>
              </a:ext>
            </a:extLst>
          </p:cNvPr>
          <p:cNvSpPr/>
          <p:nvPr/>
        </p:nvSpPr>
        <p:spPr>
          <a:xfrm>
            <a:off x="10065796" y="1238250"/>
            <a:ext cx="571500" cy="5715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Box 38">
            <a:extLst>
              <a:ext uri="{FF2B5EF4-FFF2-40B4-BE49-F238E27FC236}">
                <a16:creationId xmlns:a16="http://schemas.microsoft.com/office/drawing/2014/main" id="{CE591EE4-ADAA-E05D-E591-CF37A0E09947}"/>
              </a:ext>
            </a:extLst>
          </p:cNvPr>
          <p:cNvSpPr txBox="1"/>
          <p:nvPr/>
        </p:nvSpPr>
        <p:spPr>
          <a:xfrm>
            <a:off x="10238534" y="1340168"/>
            <a:ext cx="226024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</a:t>
            </a:r>
            <a:r>
              <a:rPr lang="en-US" altLang="zh-CN" sz="13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5</a:t>
            </a:r>
            <a:endParaRPr lang="zh-CN" sz="1350" b="1" dirty="0">
              <a:solidFill>
                <a:srgbClr val="FFFFFF"/>
              </a:solidFill>
              <a:latin typeface="Georgia"/>
              <a:ea typeface="SimSun"/>
              <a:cs typeface="Georgia"/>
            </a:endParaRPr>
          </a:p>
        </p:txBody>
      </p:sp>
      <p:sp>
        <p:nvSpPr>
          <p:cNvPr id="85" name="TextBox 39">
            <a:extLst>
              <a:ext uri="{FF2B5EF4-FFF2-40B4-BE49-F238E27FC236}">
                <a16:creationId xmlns:a16="http://schemas.microsoft.com/office/drawing/2014/main" id="{E26F6905-5E46-C387-F7FB-829754E3F810}"/>
              </a:ext>
            </a:extLst>
          </p:cNvPr>
          <p:cNvSpPr txBox="1"/>
          <p:nvPr/>
        </p:nvSpPr>
        <p:spPr>
          <a:xfrm>
            <a:off x="10239011" y="1594009"/>
            <a:ext cx="2250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STEP</a:t>
            </a: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E7C23D3D-61A7-5FEF-33F7-17F9CABAAC4A}"/>
              </a:ext>
            </a:extLst>
          </p:cNvPr>
          <p:cNvSpPr/>
          <p:nvPr/>
        </p:nvSpPr>
        <p:spPr>
          <a:xfrm>
            <a:off x="10351546" y="1809750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FF6F00"/>
            </a:solidFill>
            <a:custDash>
              <a:ds d="150000" sp="150000"/>
            </a:custDash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Box 49"/>
          <p:cNvSpPr txBox="1"/>
          <p:nvPr/>
        </p:nvSpPr>
        <p:spPr>
          <a:xfrm>
            <a:off x="7855928" y="3915944"/>
            <a:ext cx="846386" cy="16761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1000" dirty="0">
                <a:solidFill>
                  <a:srgbClr val="90A4AE"/>
                </a:solidFill>
                <a:latin typeface="Consolas"/>
                <a:ea typeface="Microsoft YaHei"/>
              </a:rPr>
              <a:t>slam_toolbox</a:t>
            </a:r>
          </a:p>
        </p:txBody>
      </p:sp>
      <p:sp>
        <p:nvSpPr>
          <p:cNvPr id="90" name="TextBox 49">
            <a:extLst>
              <a:ext uri="{FF2B5EF4-FFF2-40B4-BE49-F238E27FC236}">
                <a16:creationId xmlns:a16="http://schemas.microsoft.com/office/drawing/2014/main" id="{1081A31A-D3D7-D8C4-2D4D-9B9E4695B026}"/>
              </a:ext>
            </a:extLst>
          </p:cNvPr>
          <p:cNvSpPr txBox="1"/>
          <p:nvPr/>
        </p:nvSpPr>
        <p:spPr>
          <a:xfrm>
            <a:off x="9995820" y="3748603"/>
            <a:ext cx="1269578" cy="34714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90A4AE"/>
                </a:solidFill>
                <a:latin typeface="Consolas"/>
                <a:ea typeface="Microsoft YaHei"/>
              </a:rPr>
              <a:t>nav2_bringup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dirty="0" err="1">
                <a:solidFill>
                  <a:srgbClr val="90A4AE"/>
                </a:solidFill>
                <a:latin typeface="Consolas"/>
                <a:ea typeface="Microsoft YaHei"/>
              </a:rPr>
              <a:t>system_params.yaml</a:t>
            </a:r>
            <a:endParaRPr lang="zh-CN" altLang="zh-CN" sz="1000" dirty="0">
              <a:solidFill>
                <a:srgbClr val="90A4AE"/>
              </a:solidFill>
              <a:latin typeface="Consolas"/>
              <a:ea typeface="Microsoft YaHei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AC3BF7C4-5D0C-EF70-084C-06500092D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024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B5987-64B9-F4DA-FBBE-727F5C27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9BFBFF3-B467-199E-571C-12BC2DC26308}"/>
              </a:ext>
            </a:extLst>
          </p:cNvPr>
          <p:cNvGrpSpPr/>
          <p:nvPr/>
        </p:nvGrpSpPr>
        <p:grpSpPr>
          <a:xfrm>
            <a:off x="14196" y="1902306"/>
            <a:ext cx="11785595" cy="2636520"/>
            <a:chOff x="1390015" y="1962818"/>
            <a:chExt cx="11785595" cy="26365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A02F688-0E6C-A94B-6E91-93A417A6E7E9}"/>
                </a:ext>
              </a:extLst>
            </p:cNvPr>
            <p:cNvSpPr txBox="1"/>
            <p:nvPr/>
          </p:nvSpPr>
          <p:spPr>
            <a:xfrm>
              <a:off x="5307214" y="2860962"/>
              <a:ext cx="7868396" cy="1098378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Slam</a:t>
              </a:r>
              <a:r>
                <a:rPr kumimoji="0" lang="zh-CN" altLang="en-US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建图 </a:t>
              </a:r>
              <a:r>
                <a:rPr kumimoji="0" lang="en-US" altLang="zh-CN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&amp; Nav2</a:t>
              </a:r>
              <a:r>
                <a:rPr lang="zh-CN" altLang="en-US" sz="6600" b="1" dirty="0">
                  <a:ln w="6350">
                    <a:noFill/>
                  </a:ln>
                  <a:solidFill>
                    <a:srgbClr val="125AB4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导航</a:t>
              </a:r>
              <a:endParaRPr kumimoji="0" lang="en-US" altLang="zh-CN" sz="6600" b="1" i="0" u="none" strike="noStrike" kern="1200" cap="none" spc="0" normalizeH="0" baseline="0" noProof="0" dirty="0">
                <a:ln w="6350">
                  <a:noFill/>
                </a:ln>
                <a:solidFill>
                  <a:srgbClr val="125AB4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宋体 CN Heavy" panose="02020900000000000000" charset="-122"/>
                <a:sym typeface="+mn-ea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D105402-F881-61F3-5742-6590A8D1B4FF}"/>
                </a:ext>
              </a:extLst>
            </p:cNvPr>
            <p:cNvSpPr txBox="1"/>
            <p:nvPr/>
          </p:nvSpPr>
          <p:spPr>
            <a:xfrm>
              <a:off x="1390015" y="1962818"/>
              <a:ext cx="4069715" cy="2636520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600" b="0" i="0" u="none" strike="noStrike" kern="1200" cap="none" spc="0" normalizeH="0" baseline="0" noProof="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0</a:t>
              </a:r>
              <a:r>
                <a:rPr lang="en-US" altLang="zh-CN" sz="1660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3</a:t>
              </a:r>
              <a:endParaRPr kumimoji="0" lang="zh-CN" altLang="en-US" sz="16600" b="0" i="0" u="none" strike="noStrike" kern="1200" cap="none" spc="0" normalizeH="0" baseline="0" noProof="0" dirty="0">
                <a:ln w="6350">
                  <a:noFill/>
                </a:ln>
                <a:gradFill>
                  <a:gsLst>
                    <a:gs pos="0">
                      <a:srgbClr val="125AB4"/>
                    </a:gs>
                    <a:gs pos="100000">
                      <a:srgbClr val="125AB4">
                        <a:alpha val="17000"/>
                        <a:lumMod val="84000"/>
                        <a:lumOff val="16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宋体 CN Heavy" panose="02020900000000000000" charset="-122"/>
                <a:sym typeface="+mn-ea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B2A88FF-800C-6DC8-2138-8B09C551AFBD}"/>
                </a:ext>
              </a:extLst>
            </p:cNvPr>
            <p:cNvSpPr txBox="1"/>
            <p:nvPr/>
          </p:nvSpPr>
          <p:spPr>
            <a:xfrm>
              <a:off x="2082051" y="3244850"/>
              <a:ext cx="2472805" cy="3306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45720" rIns="0" bIns="45720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Slam</a:t>
              </a:r>
              <a:r>
                <a:rPr lang="zh-CN" altLang="en-US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en-US" altLang="zh-CN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mapping</a:t>
              </a:r>
              <a:r>
                <a:rPr lang="zh-CN" altLang="en-US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en-US" altLang="zh-CN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&amp;</a:t>
              </a:r>
              <a:r>
                <a:rPr lang="zh-CN" altLang="en-US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en-US" altLang="zh-CN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Nav2</a:t>
              </a:r>
              <a:r>
                <a:rPr lang="zh-CN" altLang="en-US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 </a:t>
              </a:r>
              <a:r>
                <a:rPr lang="en-US" altLang="zh-CN" sz="1400" dirty="0">
                  <a:solidFill>
                    <a:srgbClr val="125AB4">
                      <a:alpha val="70000"/>
                    </a:srgbClr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navigation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25AB4">
                    <a:alpha val="7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黑体 CN Light" panose="020B0300000000000000" charset="-122"/>
                <a:sym typeface="+mn-ea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E68B141-424D-27D4-2D2E-D80F860E49A8}"/>
                </a:ext>
              </a:extLst>
            </p:cNvPr>
            <p:cNvCxnSpPr>
              <a:cxnSpLocks/>
            </p:cNvCxnSpPr>
            <p:nvPr/>
          </p:nvCxnSpPr>
          <p:spPr>
            <a:xfrm>
              <a:off x="4937760" y="2600960"/>
              <a:ext cx="0" cy="1517650"/>
            </a:xfrm>
            <a:prstGeom prst="line">
              <a:avLst/>
            </a:prstGeom>
            <a:ln>
              <a:solidFill>
                <a:srgbClr val="125AB4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18E94F53-0930-DB17-8FB6-A4D997C4C679}"/>
                </a:ext>
              </a:extLst>
            </p:cNvPr>
            <p:cNvSpPr txBox="1"/>
            <p:nvPr/>
          </p:nvSpPr>
          <p:spPr>
            <a:xfrm>
              <a:off x="5307214" y="3632200"/>
              <a:ext cx="5055986" cy="566576"/>
            </a:xfrm>
            <a:prstGeom prst="rect">
              <a:avLst/>
            </a:prstGeom>
          </p:spPr>
          <p:txBody>
            <a:bodyPr wrap="square" tIns="0" bIns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>
                  <a:solidFill>
                    <a:schemeClr val="bg1">
                      <a:lumMod val="75000"/>
                    </a:schemeClr>
                  </a:solidFill>
                  <a:latin typeface="等线 Light" panose="02010600030101010101" pitchFamily="2" charset="-122"/>
                  <a:ea typeface="黑体" panose="02010609060101010101" pitchFamily="49" charset="-122"/>
                </a:defRPr>
              </a:lvl1pPr>
            </a:lstStyle>
            <a:p>
              <a:pPr>
                <a:defRPr/>
              </a:pP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sym typeface="等线 Light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9120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46109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SLAM 与 Nav2 集成的四大典型问题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762000"/>
            <a:ext cx="5429250" cy="2110502"/>
            <a:chOff x="571500" y="762000"/>
            <a:chExt cx="5429250" cy="2110502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2110502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762000"/>
              <a:ext cx="5429250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9906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6086" y="1072289"/>
              <a:ext cx="174728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1108" y="982391"/>
              <a:ext cx="3481722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Georgia"/>
                  <a:ea typeface="KaiTi"/>
                  <a:cs typeface="Georgia"/>
                </a:rPr>
                <a:t>Failed to compute odom pose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5870" y="1230743"/>
              <a:ext cx="1215076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TF Buffer 启动竞态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257300" y="144780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0220" y="1590199"/>
              <a:ext cx="4372159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根因：SLAM 启动时刻 odom→base_link 变换尚未被 TF 缓存收录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0220" y="1799749"/>
              <a:ext cx="4565352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解决：非 bug，分布式系统冷启动现象 → launch 文件中加 2 秒延迟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1172" y="2093595"/>
              <a:ext cx="3914533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AI 建议："等待数秒让 TF buffer 积累历史变换，自动解决"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8848" y="2644059"/>
              <a:ext cx="1800173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类型：时序问题 · 非代码缺陷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91250" y="762000"/>
            <a:ext cx="5429250" cy="2110502"/>
            <a:chOff x="6191250" y="762000"/>
            <a:chExt cx="5429250" cy="2110502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6191250" y="762000"/>
              <a:ext cx="5429250" cy="2110502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91250" y="762000"/>
              <a:ext cx="5429250" cy="381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81750" y="9906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FFF3E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5836" y="1079013"/>
              <a:ext cx="174728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FF6F00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0858" y="989115"/>
              <a:ext cx="1654299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Georgia"/>
                  <a:ea typeface="KaiTi"/>
                  <a:cs typeface="Georgia"/>
                </a:rPr>
                <a:t>map TF 帧缺失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65620" y="1244191"/>
              <a:ext cx="1409040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SLAM 未启动 / 未连通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77050" y="144780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6693" y="1563303"/>
              <a:ext cx="5290679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根因：map→odom 变换由 SLAM Toolbox 建立，SLAM 未运行则此变换不存在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6693" y="1799749"/>
              <a:ext cx="5167248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关键认识：map→odom 是 SLAM 发布的，odom→base_link 是里程计发布的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7645" y="2066699"/>
              <a:ext cx="3946145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解决：必须先启动 SLAM Toolbox 建图，再启动 Nav2 导航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8597" y="2638139"/>
              <a:ext cx="126957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类型：启动顺序依赖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119161"/>
            <a:ext cx="5429250" cy="2144790"/>
            <a:chOff x="571500" y="2809875"/>
            <a:chExt cx="5429250" cy="214479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9" name="Rectangle 29"/>
            <p:cNvSpPr/>
            <p:nvPr/>
          </p:nvSpPr>
          <p:spPr>
            <a:xfrm>
              <a:off x="571500" y="2850197"/>
              <a:ext cx="5429250" cy="2104468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809875"/>
              <a:ext cx="542925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30384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896" y="3093268"/>
              <a:ext cx="16511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1565C0"/>
                  </a:solidFill>
                  <a:latin typeface="Georgia"/>
                  <a:ea typeface="SimSun"/>
                  <a:cs typeface="Georgia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1108" y="3023542"/>
              <a:ext cx="3177152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Georgia"/>
                  <a:ea typeface="KaiTi"/>
                  <a:cs typeface="Georgia"/>
                </a:rPr>
                <a:t>lifecycle_manager 启动失败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45870" y="3265170"/>
              <a:ext cx="133850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use_sim_time 不一致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257300" y="3495675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436" y="3638074"/>
              <a:ext cx="4573111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根因：SLAM 配置和 Nav2 配置中 use_sim_time 分别设为 True/False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436" y="3894691"/>
              <a:ext cx="5280270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后果：use_sim_time=True 时节点等待 /clock 话题，桥接器不发布该话题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388" y="4168366"/>
              <a:ext cx="3809441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解决：统一设为 use_sim_time: False，使用系统真实时间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064" y="4705388"/>
              <a:ext cx="1963679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类型：配置不一致 · 参数耦合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191250" y="3119161"/>
            <a:ext cx="5429250" cy="2122387"/>
            <a:chOff x="6191250" y="2809875"/>
            <a:chExt cx="5429250" cy="2122387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6191250" y="2809875"/>
              <a:ext cx="5429250" cy="2122387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FD8DC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91250" y="2809875"/>
              <a:ext cx="5429250" cy="381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81750" y="30384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7020" y="3099992"/>
              <a:ext cx="19236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0858" y="3043714"/>
              <a:ext cx="1859483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63238"/>
                  </a:solidFill>
                  <a:latin typeface="Georgia"/>
                  <a:ea typeface="KaiTi"/>
                  <a:cs typeface="Georgia"/>
                </a:rPr>
                <a:t>代价地图参数理解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65620" y="3265170"/>
              <a:ext cx="195245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cost_scaling / inflation_radius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877050" y="3495675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9974" y="3602775"/>
              <a:ext cx="2651560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cost_scaling_factor：建议 3.0~8.0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09974" y="3839221"/>
              <a:ext cx="2624116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inflation_radius：建议 0.25~0.6m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10926" y="4087118"/>
              <a:ext cx="1713611" cy="43088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obstacle_range: 2.5m </a:t>
              </a:r>
              <a:endParaRPr lang="en-US" altLang="zh-CN" sz="14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endParaRPr>
            </a:p>
            <a:p>
              <a:pPr algn="l"/>
              <a:r>
                <a:rPr lang="zh-CN" sz="14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raytrace_range: 3.0m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11878" y="4703144"/>
              <a:ext cx="1963679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类型：经验参数 · 需实验调优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558372" y="5546013"/>
            <a:ext cx="11049000" cy="619125"/>
          </a:xfrm>
          <a:prstGeom prst="roundRect">
            <a:avLst>
              <a:gd name="adj" fmla="val 15385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/>
            </a:solidFill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54" name="TextBox 54"/>
          <p:cNvSpPr txBox="1"/>
          <p:nvPr/>
        </p:nvSpPr>
        <p:spPr>
          <a:xfrm>
            <a:off x="3338531" y="5669725"/>
            <a:ext cx="54886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关键启示：90% 的"算法 bug"实际上是下层配置错误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20472" y="5956234"/>
            <a:ext cx="512480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节点存在性 → 话题发布 → 数据正常性 → TF 连通性 → 参数生效性 → 分层逐级排查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31260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三组 DWA 参数对比实验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580549"/>
            <a:ext cx="4495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Conservative · Balanced · Aggressive —— 相同仿真环境、相同导航任务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3619500" cy="4000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7" name="Rectangle 7"/>
          <p:cNvSpPr/>
          <p:nvPr/>
        </p:nvSpPr>
        <p:spPr>
          <a:xfrm>
            <a:off x="571500" y="904875"/>
            <a:ext cx="3619500" cy="47625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3619500" cy="1905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TextBox 9"/>
          <p:cNvSpPr txBox="1"/>
          <p:nvPr/>
        </p:nvSpPr>
        <p:spPr>
          <a:xfrm>
            <a:off x="1351322" y="969865"/>
            <a:ext cx="2059859" cy="3693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Conservative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8910" y="1407795"/>
            <a:ext cx="1644681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保守 · 窄通道 / 精确避障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666875"/>
            <a:ext cx="3238500" cy="2251918"/>
            <a:chOff x="762000" y="1666875"/>
            <a:chExt cx="3238500" cy="2251918"/>
          </a:xfrm>
        </p:grpSpPr>
        <p:sp>
          <p:nvSpPr>
            <p:cNvPr id="11" name="Rectangle 11"/>
            <p:cNvSpPr/>
            <p:nvPr/>
          </p:nvSpPr>
          <p:spPr>
            <a:xfrm>
              <a:off x="762000" y="1666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2022" y="17492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max_vel_x 0.26 m/s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2022" y="203501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max_vel_theta 1.0 rad/s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238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2022" y="23207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acc_lim_x 0.5 m/s²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524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2022" y="2606516"/>
              <a:ext cx="126957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sim_time 3.0 s 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809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2022" y="2892266"/>
              <a:ext cx="1000274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vx_samples 20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95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2022" y="3178016"/>
              <a:ext cx="107721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vth_samples 40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381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022" y="346376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inflation_radius 0.60 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667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022" y="374951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occdist_scale 0.02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2053" y="4141470"/>
            <a:ext cx="2558394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场景：窄道通过 · 精确静止 · 安全第一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" y="4381499"/>
            <a:ext cx="2857500" cy="378759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30" name="TextBox 30"/>
          <p:cNvSpPr txBox="1"/>
          <p:nvPr/>
        </p:nvSpPr>
        <p:spPr>
          <a:xfrm>
            <a:off x="1564520" y="4484370"/>
            <a:ext cx="1633460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导航结果：✅ 唯一成功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0" y="904875"/>
            <a:ext cx="3619500" cy="4000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33" name="Rectangle 33"/>
          <p:cNvSpPr/>
          <p:nvPr/>
        </p:nvSpPr>
        <p:spPr>
          <a:xfrm>
            <a:off x="4286250" y="904875"/>
            <a:ext cx="3619500" cy="476250"/>
          </a:xfrm>
          <a:prstGeom prst="roundRect">
            <a:avLst>
              <a:gd name="adj" fmla="val 24000"/>
            </a:avLst>
          </a:prstGeom>
          <a:solidFill>
            <a:srgbClr val="1565C0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34" name="Rectangle 34"/>
          <p:cNvSpPr/>
          <p:nvPr/>
        </p:nvSpPr>
        <p:spPr>
          <a:xfrm>
            <a:off x="4286250" y="1190625"/>
            <a:ext cx="3619500" cy="19050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35" name="TextBox 35"/>
          <p:cNvSpPr txBox="1"/>
          <p:nvPr/>
        </p:nvSpPr>
        <p:spPr>
          <a:xfrm>
            <a:off x="5366635" y="969865"/>
            <a:ext cx="1458733" cy="3693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Balanced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75825" y="1407795"/>
            <a:ext cx="1040349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平衡 · 通用场景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4476750" y="1666875"/>
            <a:ext cx="3238500" cy="2251918"/>
            <a:chOff x="4476750" y="1666875"/>
            <a:chExt cx="3238500" cy="2251918"/>
          </a:xfrm>
        </p:grpSpPr>
        <p:sp>
          <p:nvSpPr>
            <p:cNvPr id="37" name="Rectangle 37"/>
            <p:cNvSpPr/>
            <p:nvPr/>
          </p:nvSpPr>
          <p:spPr>
            <a:xfrm>
              <a:off x="4476750" y="1666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56772" y="17492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max_vel_x 0.35 m/s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476750" y="1952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56772" y="203501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max_vel_theta 1.5 rad/s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476750" y="2238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56772" y="23207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acc_lim_x 1.5 m/s²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476750" y="2524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6772" y="2606516"/>
              <a:ext cx="107721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sim_time 1.7 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476750" y="2809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6772" y="2892266"/>
              <a:ext cx="1000274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vx_samples 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476750" y="3095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6772" y="3178016"/>
              <a:ext cx="107721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vth_samples 30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76750" y="3381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56772" y="346376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inflation_radius 0.40 m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76750" y="3667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56772" y="374951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occdist_scale 0.01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4960273" y="4141470"/>
            <a:ext cx="2271456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场景：日常导航 · 速度与安全平衡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667250" y="4381500"/>
            <a:ext cx="2857500" cy="378758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6" name="TextBox 56"/>
          <p:cNvSpPr txBox="1"/>
          <p:nvPr/>
        </p:nvSpPr>
        <p:spPr>
          <a:xfrm>
            <a:off x="4894550" y="4484370"/>
            <a:ext cx="2402902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6F00"/>
                </a:solidFill>
                <a:latin typeface="Segoe UI"/>
                <a:ea typeface="Microsoft YaHei"/>
                <a:cs typeface="Segoe UI"/>
              </a:rPr>
              <a:t>导航结果：❌ 目标点超出建图区域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001000" y="904875"/>
            <a:ext cx="3619500" cy="4000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59" name="Rectangle 59"/>
          <p:cNvSpPr/>
          <p:nvPr/>
        </p:nvSpPr>
        <p:spPr>
          <a:xfrm>
            <a:off x="8001000" y="904875"/>
            <a:ext cx="3619500" cy="476250"/>
          </a:xfrm>
          <a:prstGeom prst="roundRect">
            <a:avLst>
              <a:gd name="adj" fmla="val 24000"/>
            </a:avLst>
          </a:prstGeom>
          <a:solidFill>
            <a:srgbClr val="C62828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60" name="Rectangle 60"/>
          <p:cNvSpPr/>
          <p:nvPr/>
        </p:nvSpPr>
        <p:spPr>
          <a:xfrm>
            <a:off x="8001000" y="1190625"/>
            <a:ext cx="3619500" cy="19050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61" name="TextBox 61"/>
          <p:cNvSpPr txBox="1"/>
          <p:nvPr/>
        </p:nvSpPr>
        <p:spPr>
          <a:xfrm>
            <a:off x="8960356" y="958334"/>
            <a:ext cx="1700787" cy="3693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Aggressive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065354" y="1407795"/>
            <a:ext cx="1490793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激进 · 开阔 / 快速移动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191500" y="1666875"/>
            <a:ext cx="3238500" cy="2251918"/>
            <a:chOff x="8191500" y="1666875"/>
            <a:chExt cx="3238500" cy="2251918"/>
          </a:xfrm>
        </p:grpSpPr>
        <p:sp>
          <p:nvSpPr>
            <p:cNvPr id="63" name="Rectangle 63"/>
            <p:cNvSpPr/>
            <p:nvPr/>
          </p:nvSpPr>
          <p:spPr>
            <a:xfrm>
              <a:off x="8191500" y="1666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71522" y="17492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max_vel_x 0.50 m/s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91500" y="1952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71522" y="203501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max_vel_theta 3.0 rad/s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191500" y="2238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71522" y="2320766"/>
              <a:ext cx="138499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acc_lim_x 2.5 m/s²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191500" y="2524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71522" y="2606516"/>
              <a:ext cx="107721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sim_time 1.5 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191500" y="28098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71522" y="2892266"/>
              <a:ext cx="1000274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vx_samples 10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91500" y="30956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71522" y="3178016"/>
              <a:ext cx="107721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vth_samples 20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191500" y="338137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71522" y="3463766"/>
              <a:ext cx="176971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C62828"/>
                  </a:solidFill>
                  <a:latin typeface="Consolas"/>
                  <a:ea typeface="Microsoft YaHei"/>
                  <a:cs typeface="Consolas"/>
                </a:rPr>
                <a:t>inflation_radius 0.25 m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191500" y="3667125"/>
              <a:ext cx="3238500" cy="228600"/>
            </a:xfrm>
            <a:prstGeom prst="roundRect">
              <a:avLst>
                <a:gd name="adj" fmla="val 16667"/>
              </a:avLst>
            </a:prstGeom>
            <a:solidFill>
              <a:srgbClr val="FAFAFA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71522" y="3749516"/>
              <a:ext cx="1461939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263238"/>
                  </a:solidFill>
                  <a:latin typeface="Consolas"/>
                  <a:ea typeface="Microsoft YaHei"/>
                  <a:cs typeface="Consolas"/>
                </a:rPr>
                <a:t>occdist_scale 0.008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8905855" y="4141470"/>
            <a:ext cx="1809791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场景：开阔场地 · 追求速度</a:t>
            </a:r>
          </a:p>
        </p:txBody>
      </p:sp>
      <p:sp>
        <p:nvSpPr>
          <p:cNvPr id="81" name="Rectangle 81"/>
          <p:cNvSpPr/>
          <p:nvPr/>
        </p:nvSpPr>
        <p:spPr>
          <a:xfrm>
            <a:off x="8382000" y="4381500"/>
            <a:ext cx="2857500" cy="378758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82" name="TextBox 82"/>
          <p:cNvSpPr txBox="1"/>
          <p:nvPr/>
        </p:nvSpPr>
        <p:spPr>
          <a:xfrm>
            <a:off x="8513120" y="4484370"/>
            <a:ext cx="2595262" cy="1846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导航结果：❌ 速度过快 + 地图未建完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5095875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5" name="TextBox 85"/>
          <p:cNvSpPr txBox="1"/>
          <p:nvPr/>
        </p:nvSpPr>
        <p:spPr>
          <a:xfrm>
            <a:off x="781244" y="5193506"/>
            <a:ext cx="10629512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0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参数耦合关系：sim_time↑ (预测窗口更长) → 代价地图膨胀区被充分评估 → 路径更安全但计算更慢 → 与 inflation_radius 形成"防御纵深"</a:t>
            </a:r>
            <a:r>
              <a:rPr lang="en-US" altLang="zh-CN" sz="130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=</a:t>
            </a:r>
            <a:endParaRPr lang="zh-CN" sz="1300" b="1" dirty="0">
              <a:solidFill>
                <a:srgbClr val="0D47A1"/>
              </a:solidFill>
              <a:latin typeface="Georgia"/>
              <a:ea typeface="KaiTi"/>
              <a:cs typeface="Georgia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2181116" y="5408295"/>
            <a:ext cx="782977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max_vel_x ↑ (更快速度) → 相同 sim_time 下覆盖更远 → 需更大 inflation_radius 保证安全余量 → 速度与安全是矛盾体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89" name="Rectangle 6">
            <a:extLst>
              <a:ext uri="{FF2B5EF4-FFF2-40B4-BE49-F238E27FC236}">
                <a16:creationId xmlns:a16="http://schemas.microsoft.com/office/drawing/2014/main" id="{556D5A34-A585-3F87-8774-D32453DE2CFB}"/>
              </a:ext>
            </a:extLst>
          </p:cNvPr>
          <p:cNvSpPr/>
          <p:nvPr/>
        </p:nvSpPr>
        <p:spPr>
          <a:xfrm>
            <a:off x="1571646" y="5757155"/>
            <a:ext cx="9144000" cy="714375"/>
          </a:xfrm>
          <a:prstGeom prst="roundRect">
            <a:avLst>
              <a:gd name="adj" fmla="val 18667"/>
            </a:avLst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0D47A1">
                  <a:alpha val="12000"/>
                </a:srgbClr>
              </a:gs>
            </a:gsLst>
            <a:lin ang="0" scaled="1"/>
          </a:gradFill>
          <a:ln w="19050">
            <a:solidFill>
              <a:srgbClr val="1565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Box 7">
            <a:extLst>
              <a:ext uri="{FF2B5EF4-FFF2-40B4-BE49-F238E27FC236}">
                <a16:creationId xmlns:a16="http://schemas.microsoft.com/office/drawing/2014/main" id="{FDA80FC1-62EA-2031-662E-361C1EEBC63F}"/>
              </a:ext>
            </a:extLst>
          </p:cNvPr>
          <p:cNvSpPr txBox="1"/>
          <p:nvPr/>
        </p:nvSpPr>
        <p:spPr>
          <a:xfrm>
            <a:off x="2951820" y="5912412"/>
            <a:ext cx="63836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Score = 0.4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Success + 0.4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Safety + 0.2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Smoothness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F13F3B73-9918-1296-B182-377E84B51618}"/>
              </a:ext>
            </a:extLst>
          </p:cNvPr>
          <p:cNvSpPr txBox="1"/>
          <p:nvPr/>
        </p:nvSpPr>
        <p:spPr>
          <a:xfrm>
            <a:off x="4280985" y="6231500"/>
            <a:ext cx="3725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权重分配：成功率 40% · 安全性 40%（与成功率持平！）· 平滑度 20%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55" grpId="0" animBg="1"/>
      <p:bldP spid="56" grpId="0"/>
      <p:bldP spid="81" grpId="0" animBg="1"/>
      <p:bldP spid="82" grpId="0"/>
      <p:bldP spid="84" grpId="0" animBg="1"/>
      <p:bldP spid="85" grpId="0"/>
      <p:bldP spid="86" grpId="0"/>
      <p:bldP spid="89" grpId="0" animBg="1"/>
      <p:bldP spid="90" grpId="0"/>
      <p:bldP spid="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857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306705"/>
            <a:ext cx="52577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从主观感受到量化评分 —— 三维评估体系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618649"/>
            <a:ext cx="4536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obstacle_avoidance_tester.py · 被动监听式评测节点（不干预控制流）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1524000" y="1000125"/>
            <a:ext cx="9144000" cy="714375"/>
          </a:xfrm>
          <a:prstGeom prst="roundRect">
            <a:avLst>
              <a:gd name="adj" fmla="val 18667"/>
            </a:avLst>
          </a:prstGeom>
          <a:gradFill>
            <a:gsLst>
              <a:gs pos="0">
                <a:srgbClr val="1565C0">
                  <a:alpha val="6000"/>
                </a:srgbClr>
              </a:gs>
              <a:gs pos="100000">
                <a:srgbClr val="0D47A1">
                  <a:alpha val="12000"/>
                </a:srgbClr>
              </a:gs>
            </a:gsLst>
            <a:lin ang="0" scaled="1"/>
          </a:gradFill>
          <a:ln w="19050">
            <a:solidFill>
              <a:srgbClr val="1565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904174" y="1155382"/>
            <a:ext cx="63836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Score = 0.4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Success + 0.4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Safety + 0.2</a:t>
            </a:r>
            <a:r>
              <a:rPr lang="zh-CN" sz="19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 × </a:t>
            </a:r>
            <a:r>
              <a:rPr lang="zh-CN" sz="165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Smoothness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33339" y="1474470"/>
            <a:ext cx="3725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权重分配：成功率 40% · 安全性 40%（与成功率持平！）· 平滑度 20%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2000250"/>
            <a:ext cx="3619500" cy="2286000"/>
            <a:chOff x="571500" y="2000250"/>
            <a:chExt cx="3619500" cy="2286000"/>
          </a:xfrm>
          <a:effectLst>
            <a:outerShdw blurRad="7620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571500" y="2000250"/>
              <a:ext cx="3619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23900" y="21907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2251710"/>
              <a:ext cx="123183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Success 成功率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2485549"/>
              <a:ext cx="93487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导航任务完成度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1065" y="2753678"/>
              <a:ext cx="1038537" cy="8229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172A"/>
                  </a:solidFill>
                  <a:latin typeface="Georgia"/>
                  <a:ea typeface="KaiTi"/>
                  <a:cs typeface="Georgia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63140" y="2996565"/>
              <a:ext cx="549783" cy="3657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权重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52500" y="3409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0118" y="3561874"/>
              <a:ext cx="223504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定义：机器人是否在超时前到达目标点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0118" y="3780949"/>
              <a:ext cx="195550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阈值：目标距离 &lt; 0.3m 判定成功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4046220"/>
              <a:ext cx="116900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二元判定：成功/失败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86250" y="2000250"/>
            <a:ext cx="3619500" cy="2286000"/>
            <a:chOff x="4286250" y="2000250"/>
            <a:chExt cx="3619500" cy="2286000"/>
          </a:xfrm>
          <a:effectLst>
            <a:outerShdw blurRad="7620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4286250" y="2000250"/>
              <a:ext cx="3619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21907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6F00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2010" y="2251710"/>
              <a:ext cx="130744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Safety 安全系数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4868" y="2485549"/>
              <a:ext cx="93487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障碍物安全距离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5815" y="2753678"/>
              <a:ext cx="1038537" cy="8229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172A"/>
                  </a:solidFill>
                  <a:latin typeface="Georgia"/>
                  <a:ea typeface="KaiTi"/>
                  <a:cs typeface="Georgia"/>
                </a:rPr>
                <a:t>40%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7890" y="2996565"/>
              <a:ext cx="549783" cy="3657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权重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67250" y="3409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4868" y="3561874"/>
              <a:ext cx="243006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定义：min(最近障碍物距离 / 0.5m, 1.0)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4868" y="3780949"/>
              <a:ext cx="249507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离障碍物越远分越高，低于 0.5m 线性扣分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5820" y="4046220"/>
              <a:ext cx="2114721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与 Success 同等权重 — 撞墙不可接受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2000250"/>
            <a:ext cx="3619500" cy="2286000"/>
            <a:chOff x="8001000" y="2000250"/>
            <a:chExt cx="3619500" cy="2286000"/>
          </a:xfrm>
          <a:effectLst>
            <a:outerShdw blurRad="76200" dist="28575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1" name="Rectangle 31"/>
            <p:cNvSpPr/>
            <p:nvPr/>
          </p:nvSpPr>
          <p:spPr>
            <a:xfrm>
              <a:off x="8001000" y="2000250"/>
              <a:ext cx="3619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53400" y="21907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6760" y="2251710"/>
              <a:ext cx="1542669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Smoothness 平滑度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9618" y="2485549"/>
              <a:ext cx="80486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运动质量指标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0565" y="2753678"/>
              <a:ext cx="1038537" cy="8229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172A"/>
                  </a:solidFill>
                  <a:latin typeface="Georgia"/>
                  <a:ea typeface="KaiTi"/>
                  <a:cs typeface="Georgia"/>
                </a:rPr>
                <a:t>20%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92640" y="2996565"/>
              <a:ext cx="549783" cy="3657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权重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382000" y="34099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9618" y="3561874"/>
              <a:ext cx="223504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定义：速度序列的加速度标准差的反比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69618" y="3780949"/>
              <a:ext cx="173447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加速度变化越小 = 运动越平滑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0570" y="4046220"/>
              <a:ext cx="140903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抖动影响 SLAM 建图精度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560070" y="4524375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2716139" y="4613910"/>
            <a:ext cx="67597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passive-only 原则：评估器不发布 /cmd_vel，不干预控制流，避免评估系统本身引入变量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96272" y="4855845"/>
            <a:ext cx="47994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同时监听 /cmd_vel (Nav2 指令) 和 /odom (实际执行) → 对比指令与实际 → 量化导航质量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0070" y="5284470"/>
            <a:ext cx="72357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设计考量：Safety 与 Success 各 40% — 教学中安全性比速度更重要 · Smoothness 20% — 平滑运动降低里程计噪声从而提高 SLAM 精度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96483" y="655939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8185" y="303848"/>
            <a:ext cx="623375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只有 Conservative 组成功 —— 但原因不在参数本身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599599"/>
            <a:ext cx="33148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实验结论的"反转"：深入日志分析发现了被忽略的根因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952500"/>
            <a:ext cx="3143250" cy="1958788"/>
            <a:chOff x="571500" y="952500"/>
            <a:chExt cx="3143250" cy="1524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3143250" cy="1524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3143250" cy="381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5436" y="1140142"/>
              <a:ext cx="1375378" cy="24622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2E7D32"/>
                  </a:solidFill>
                  <a:latin typeface="Georgia"/>
                  <a:ea typeface="KaiTi"/>
                  <a:cs typeface="Georgia"/>
                </a:rPr>
                <a:t>Conservative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1428750"/>
              <a:ext cx="2381250" cy="266700"/>
            </a:xfrm>
            <a:prstGeom prst="roundRect">
              <a:avLst>
                <a:gd name="adj" fmla="val 21429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3340" y="1505902"/>
              <a:ext cx="1479572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✅ 唯一成功完成导航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0078" y="1807546"/>
              <a:ext cx="2181687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sim_time=3.0 预测窗口最长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3182" y="1998047"/>
              <a:ext cx="2409314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充分评估前方代价 → 安全路径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353" y="2196643"/>
              <a:ext cx="2872581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隐藏优势：更长视野降低死胡同概率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00500" y="952500"/>
            <a:ext cx="3143250" cy="1958788"/>
            <a:chOff x="4000500" y="952500"/>
            <a:chExt cx="3143250" cy="1524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4000500" y="952500"/>
              <a:ext cx="3143250" cy="1524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00500" y="952500"/>
              <a:ext cx="3143250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160" y="1140142"/>
              <a:ext cx="2309928" cy="24622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Balanced / Aggressive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1428750"/>
              <a:ext cx="2381250" cy="266700"/>
            </a:xfrm>
            <a:prstGeom prst="roundRect">
              <a:avLst>
                <a:gd name="adj" fmla="val 21429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5396" y="1505902"/>
              <a:ext cx="1633460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❌ 目标点超出建图区域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7160" y="1824512"/>
              <a:ext cx="2393284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Nav2 无法在未知区域规划全局路径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7160" y="2015013"/>
              <a:ext cx="2314993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Aggressive 速度过快来不及重规划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2075" y="2213608"/>
              <a:ext cx="2121606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失败根因与 DWA 参数本身无关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7429500" y="952500"/>
            <a:ext cx="4191000" cy="1905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FF6F00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4288">
            <a:solidFill>
              <a:srgbClr val="FF6F0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Box 25"/>
          <p:cNvSpPr txBox="1"/>
          <p:nvPr/>
        </p:nvSpPr>
        <p:spPr>
          <a:xfrm>
            <a:off x="8737926" y="1148239"/>
            <a:ext cx="1574149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⚠ 实验结论的“</a:t>
            </a:r>
            <a:r>
              <a:rPr lang="zh-CN" altLang="en-US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误区</a:t>
            </a:r>
            <a:r>
              <a:rPr lang="zh-CN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6665" y="1524952"/>
            <a:ext cx="250357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表面上：Conservative 参数更好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06665" y="1772602"/>
            <a:ext cx="269304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深入分析后：失败组的根本原因是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BE6F26A-F9BC-4014-314A-15B980BFA883}"/>
              </a:ext>
            </a:extLst>
          </p:cNvPr>
          <p:cNvSpPr txBox="1"/>
          <p:nvPr/>
        </p:nvSpPr>
        <p:spPr>
          <a:xfrm>
            <a:off x="7560410" y="2076661"/>
            <a:ext cx="3163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地图未建完就发送了目标点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EE2C647-535E-EFBC-FCAE-8ECACFF35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2828646"/>
            <a:ext cx="4067743" cy="3829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7C6590C-A99C-25D8-89B6-39E4A0DDEAEA}"/>
              </a:ext>
            </a:extLst>
          </p:cNvPr>
          <p:cNvGrpSpPr/>
          <p:nvPr/>
        </p:nvGrpSpPr>
        <p:grpSpPr>
          <a:xfrm>
            <a:off x="306965" y="1013708"/>
            <a:ext cx="10950796" cy="4821360"/>
            <a:chOff x="436910" y="334169"/>
            <a:chExt cx="10950796" cy="482136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762E3ED-60DF-3C52-61CE-01B7D3F73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2354" b="44609"/>
            <a:stretch>
              <a:fillRect/>
            </a:stretch>
          </p:blipFill>
          <p:spPr>
            <a:xfrm>
              <a:off x="436910" y="334169"/>
              <a:ext cx="4585572" cy="18288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0D5F996-81B1-A488-4898-1CC0A471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4381" b="49468"/>
            <a:stretch>
              <a:fillRect/>
            </a:stretch>
          </p:blipFill>
          <p:spPr>
            <a:xfrm>
              <a:off x="6753521" y="343393"/>
              <a:ext cx="4634185" cy="18288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E78DBE1-F206-DC51-FA50-D7BEB0DB7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9473" b="45709"/>
            <a:stretch>
              <a:fillRect/>
            </a:stretch>
          </p:blipFill>
          <p:spPr>
            <a:xfrm>
              <a:off x="3057224" y="3326729"/>
              <a:ext cx="5861055" cy="182880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A632015-6C47-08DD-0491-82C7CA16F086}"/>
              </a:ext>
            </a:extLst>
          </p:cNvPr>
          <p:cNvGrpSpPr/>
          <p:nvPr/>
        </p:nvGrpSpPr>
        <p:grpSpPr>
          <a:xfrm>
            <a:off x="666750" y="406048"/>
            <a:ext cx="3619500" cy="476250"/>
            <a:chOff x="666750" y="406048"/>
            <a:chExt cx="3619500" cy="4762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F9CB46-1B5E-F104-E7BB-FA3F91280C92}"/>
                </a:ext>
              </a:extLst>
            </p:cNvPr>
            <p:cNvSpPr/>
            <p:nvPr/>
          </p:nvSpPr>
          <p:spPr>
            <a:xfrm>
              <a:off x="666750" y="406048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2E7D32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E761ADA-75DB-9980-6C7E-2BBBE212D142}"/>
                </a:ext>
              </a:extLst>
            </p:cNvPr>
            <p:cNvSpPr txBox="1"/>
            <p:nvPr/>
          </p:nvSpPr>
          <p:spPr>
            <a:xfrm>
              <a:off x="1446572" y="471038"/>
              <a:ext cx="2059859" cy="369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Conservative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EBB1E8F-11CB-5A6B-2345-A5DBD15B8D98}"/>
              </a:ext>
            </a:extLst>
          </p:cNvPr>
          <p:cNvGrpSpPr/>
          <p:nvPr/>
        </p:nvGrpSpPr>
        <p:grpSpPr>
          <a:xfrm>
            <a:off x="7086600" y="406048"/>
            <a:ext cx="3619500" cy="476250"/>
            <a:chOff x="7086600" y="406048"/>
            <a:chExt cx="3619500" cy="476250"/>
          </a:xfrm>
        </p:grpSpPr>
        <p:sp>
          <p:nvSpPr>
            <p:cNvPr id="10" name="Rectangle 33">
              <a:extLst>
                <a:ext uri="{FF2B5EF4-FFF2-40B4-BE49-F238E27FC236}">
                  <a16:creationId xmlns:a16="http://schemas.microsoft.com/office/drawing/2014/main" id="{03843AB1-241E-3F25-9A62-144ED24E29EB}"/>
                </a:ext>
              </a:extLst>
            </p:cNvPr>
            <p:cNvSpPr/>
            <p:nvPr/>
          </p:nvSpPr>
          <p:spPr>
            <a:xfrm>
              <a:off x="7086600" y="406048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1" name="TextBox 35">
              <a:extLst>
                <a:ext uri="{FF2B5EF4-FFF2-40B4-BE49-F238E27FC236}">
                  <a16:creationId xmlns:a16="http://schemas.microsoft.com/office/drawing/2014/main" id="{FDFBE513-7586-A460-0BAB-5E223C9EB3E3}"/>
                </a:ext>
              </a:extLst>
            </p:cNvPr>
            <p:cNvSpPr txBox="1"/>
            <p:nvPr/>
          </p:nvSpPr>
          <p:spPr>
            <a:xfrm>
              <a:off x="8166985" y="471038"/>
              <a:ext cx="1458733" cy="369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Balanced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8B1B83-2088-9A11-8FE7-3D9783BFDBAF}"/>
              </a:ext>
            </a:extLst>
          </p:cNvPr>
          <p:cNvGrpSpPr/>
          <p:nvPr/>
        </p:nvGrpSpPr>
        <p:grpSpPr>
          <a:xfrm>
            <a:off x="4120243" y="3319221"/>
            <a:ext cx="3619500" cy="476250"/>
            <a:chOff x="4120243" y="3319221"/>
            <a:chExt cx="3619500" cy="476250"/>
          </a:xfrm>
        </p:grpSpPr>
        <p:sp>
          <p:nvSpPr>
            <p:cNvPr id="12" name="Rectangle 59">
              <a:extLst>
                <a:ext uri="{FF2B5EF4-FFF2-40B4-BE49-F238E27FC236}">
                  <a16:creationId xmlns:a16="http://schemas.microsoft.com/office/drawing/2014/main" id="{441DFC53-BE5A-7FC6-EE17-911439BA7B3F}"/>
                </a:ext>
              </a:extLst>
            </p:cNvPr>
            <p:cNvSpPr/>
            <p:nvPr/>
          </p:nvSpPr>
          <p:spPr>
            <a:xfrm>
              <a:off x="4120243" y="3319221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F33451E1-4EE1-441C-D0FF-D3698FE83F13}"/>
                </a:ext>
              </a:extLst>
            </p:cNvPr>
            <p:cNvSpPr txBox="1"/>
            <p:nvPr/>
          </p:nvSpPr>
          <p:spPr>
            <a:xfrm>
              <a:off x="5079599" y="3372680"/>
              <a:ext cx="1700787" cy="369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KaiTi"/>
                  <a:cs typeface="Georgia"/>
                </a:rPr>
                <a:t>Aggressive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43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D2D6-934F-2662-81E9-EFAC09EB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F6F3C803-503C-9DA1-54C3-F58312C20FCF}"/>
              </a:ext>
            </a:extLst>
          </p:cNvPr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32B36F-EC66-8F45-BBD2-4413146903D1}"/>
              </a:ext>
            </a:extLst>
          </p:cNvPr>
          <p:cNvSpPr txBox="1"/>
          <p:nvPr/>
        </p:nvSpPr>
        <p:spPr>
          <a:xfrm>
            <a:off x="718185" y="303848"/>
            <a:ext cx="623375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只有 Conservative 组成功 —— 但原因不在参数本身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D2F58B-3D84-D43E-5DEF-0A54E78A7C5C}"/>
              </a:ext>
            </a:extLst>
          </p:cNvPr>
          <p:cNvSpPr txBox="1"/>
          <p:nvPr/>
        </p:nvSpPr>
        <p:spPr>
          <a:xfrm>
            <a:off x="730568" y="599599"/>
            <a:ext cx="33148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实验结论的"反转"：深入日志分析发现了被忽略的根因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10F994B-607F-FC52-A460-AC4F34150704}"/>
              </a:ext>
            </a:extLst>
          </p:cNvPr>
          <p:cNvGrpSpPr/>
          <p:nvPr/>
        </p:nvGrpSpPr>
        <p:grpSpPr>
          <a:xfrm>
            <a:off x="571500" y="952500"/>
            <a:ext cx="3143250" cy="1958788"/>
            <a:chOff x="571500" y="952500"/>
            <a:chExt cx="3143250" cy="1524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42777D4-7738-FBD6-7120-9045E7BEC169}"/>
                </a:ext>
              </a:extLst>
            </p:cNvPr>
            <p:cNvSpPr/>
            <p:nvPr/>
          </p:nvSpPr>
          <p:spPr>
            <a:xfrm>
              <a:off x="571500" y="952500"/>
              <a:ext cx="3143250" cy="1524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C975B63F-89BE-3956-303C-3D913841977D}"/>
                </a:ext>
              </a:extLst>
            </p:cNvPr>
            <p:cNvSpPr/>
            <p:nvPr/>
          </p:nvSpPr>
          <p:spPr>
            <a:xfrm>
              <a:off x="571500" y="952500"/>
              <a:ext cx="3143250" cy="381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50D2B5B-B824-8C6B-4B46-F49649E06221}"/>
                </a:ext>
              </a:extLst>
            </p:cNvPr>
            <p:cNvSpPr txBox="1"/>
            <p:nvPr/>
          </p:nvSpPr>
          <p:spPr>
            <a:xfrm>
              <a:off x="1455436" y="1140142"/>
              <a:ext cx="1375378" cy="24622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2E7D32"/>
                  </a:solidFill>
                  <a:latin typeface="Georgia"/>
                  <a:ea typeface="KaiTi"/>
                  <a:cs typeface="Georgia"/>
                </a:rPr>
                <a:t>Conservative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DB5900E4-CE98-601D-0BC6-855B375A720F}"/>
                </a:ext>
              </a:extLst>
            </p:cNvPr>
            <p:cNvSpPr/>
            <p:nvPr/>
          </p:nvSpPr>
          <p:spPr>
            <a:xfrm>
              <a:off x="952500" y="1428750"/>
              <a:ext cx="2381250" cy="266700"/>
            </a:xfrm>
            <a:prstGeom prst="roundRect">
              <a:avLst>
                <a:gd name="adj" fmla="val 21429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90A1002-1936-EAE7-41A6-60C98BB8400A}"/>
                </a:ext>
              </a:extLst>
            </p:cNvPr>
            <p:cNvSpPr txBox="1"/>
            <p:nvPr/>
          </p:nvSpPr>
          <p:spPr>
            <a:xfrm>
              <a:off x="1403340" y="1505902"/>
              <a:ext cx="1479572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✅ 唯一成功完成导航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27B5B14-5FBE-24B8-7205-71D73AC5C2D7}"/>
                </a:ext>
              </a:extLst>
            </p:cNvPr>
            <p:cNvSpPr txBox="1"/>
            <p:nvPr/>
          </p:nvSpPr>
          <p:spPr>
            <a:xfrm>
              <a:off x="1020078" y="1807546"/>
              <a:ext cx="2181687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sim_time=3.0 预测窗口最长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1A20EFB-4F67-856E-E837-1FC844051E98}"/>
                </a:ext>
              </a:extLst>
            </p:cNvPr>
            <p:cNvSpPr txBox="1"/>
            <p:nvPr/>
          </p:nvSpPr>
          <p:spPr>
            <a:xfrm>
              <a:off x="993182" y="1998047"/>
              <a:ext cx="2409314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充分评估前方代价 → 安全路径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3916993-0700-542D-BF1E-D1025A4783D2}"/>
                </a:ext>
              </a:extLst>
            </p:cNvPr>
            <p:cNvSpPr txBox="1"/>
            <p:nvPr/>
          </p:nvSpPr>
          <p:spPr>
            <a:xfrm>
              <a:off x="745353" y="2196643"/>
              <a:ext cx="2872581" cy="16762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隐藏优势：更长视野降低死胡同概率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65FA44C-121A-6475-8E26-DF1B1C828DD4}"/>
              </a:ext>
            </a:extLst>
          </p:cNvPr>
          <p:cNvGrpSpPr/>
          <p:nvPr/>
        </p:nvGrpSpPr>
        <p:grpSpPr>
          <a:xfrm>
            <a:off x="4000500" y="952500"/>
            <a:ext cx="3143250" cy="1958788"/>
            <a:chOff x="4000500" y="952500"/>
            <a:chExt cx="3143250" cy="152400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3A2365D-CA7D-140D-9420-F806286A72F7}"/>
                </a:ext>
              </a:extLst>
            </p:cNvPr>
            <p:cNvSpPr/>
            <p:nvPr/>
          </p:nvSpPr>
          <p:spPr>
            <a:xfrm>
              <a:off x="4000500" y="952500"/>
              <a:ext cx="3143250" cy="1524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CEFB13BC-402D-5FB4-9848-F06CC83E7AAA}"/>
                </a:ext>
              </a:extLst>
            </p:cNvPr>
            <p:cNvSpPr/>
            <p:nvPr/>
          </p:nvSpPr>
          <p:spPr>
            <a:xfrm>
              <a:off x="4000500" y="952500"/>
              <a:ext cx="3143250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BB83C5C-910A-3989-093D-0E93075EE610}"/>
                </a:ext>
              </a:extLst>
            </p:cNvPr>
            <p:cNvSpPr txBox="1"/>
            <p:nvPr/>
          </p:nvSpPr>
          <p:spPr>
            <a:xfrm>
              <a:off x="4417160" y="1140142"/>
              <a:ext cx="2309928" cy="24622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Balanced / Aggressive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814EE470-551F-70F7-E559-FE0369EBBB33}"/>
                </a:ext>
              </a:extLst>
            </p:cNvPr>
            <p:cNvSpPr/>
            <p:nvPr/>
          </p:nvSpPr>
          <p:spPr>
            <a:xfrm>
              <a:off x="4381500" y="1428750"/>
              <a:ext cx="2381250" cy="266700"/>
            </a:xfrm>
            <a:prstGeom prst="roundRect">
              <a:avLst>
                <a:gd name="adj" fmla="val 21429"/>
              </a:avLst>
            </a:prstGeom>
            <a:solidFill>
              <a:srgbClr val="FFEBE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1F5E71C-8198-B3E2-9A78-BDE275E4053B}"/>
                </a:ext>
              </a:extLst>
            </p:cNvPr>
            <p:cNvSpPr txBox="1"/>
            <p:nvPr/>
          </p:nvSpPr>
          <p:spPr>
            <a:xfrm>
              <a:off x="4755396" y="1505902"/>
              <a:ext cx="1633460" cy="18466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❌ 目标点超出建图区域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D1C16D4-5947-076B-882B-43161F172E15}"/>
                </a:ext>
              </a:extLst>
            </p:cNvPr>
            <p:cNvSpPr txBox="1"/>
            <p:nvPr/>
          </p:nvSpPr>
          <p:spPr>
            <a:xfrm>
              <a:off x="4417160" y="1824512"/>
              <a:ext cx="2393284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Nav2 无法在未知区域规划全局路径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3F7110F-646E-4648-65F4-20016669E5D3}"/>
                </a:ext>
              </a:extLst>
            </p:cNvPr>
            <p:cNvSpPr txBox="1"/>
            <p:nvPr/>
          </p:nvSpPr>
          <p:spPr>
            <a:xfrm>
              <a:off x="4417160" y="2015013"/>
              <a:ext cx="2314993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Aggressive 速度过快来不及重规划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6EA94B7-7DCF-A97D-F31A-B579A5118B12}"/>
                </a:ext>
              </a:extLst>
            </p:cNvPr>
            <p:cNvSpPr txBox="1"/>
            <p:nvPr/>
          </p:nvSpPr>
          <p:spPr>
            <a:xfrm>
              <a:off x="4492075" y="2213608"/>
              <a:ext cx="2121606" cy="1436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失败根因与 DWA 参数本身无关</a:t>
              </a:r>
            </a:p>
          </p:txBody>
        </p:sp>
      </p:grpSp>
      <p:sp>
        <p:nvSpPr>
          <p:cNvPr id="24" name="Rectangle 24">
            <a:extLst>
              <a:ext uri="{FF2B5EF4-FFF2-40B4-BE49-F238E27FC236}">
                <a16:creationId xmlns:a16="http://schemas.microsoft.com/office/drawing/2014/main" id="{C8F2FABE-8D17-426C-BEA9-75DC0249AC5D}"/>
              </a:ext>
            </a:extLst>
          </p:cNvPr>
          <p:cNvSpPr/>
          <p:nvPr/>
        </p:nvSpPr>
        <p:spPr>
          <a:xfrm>
            <a:off x="7429500" y="952500"/>
            <a:ext cx="4191000" cy="1905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FF6F00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 w="14288">
            <a:solidFill>
              <a:srgbClr val="FF6F0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ED277F0-9A7D-0298-1BF9-5388854D9106}"/>
              </a:ext>
            </a:extLst>
          </p:cNvPr>
          <p:cNvSpPr txBox="1"/>
          <p:nvPr/>
        </p:nvSpPr>
        <p:spPr>
          <a:xfrm>
            <a:off x="8737926" y="1148239"/>
            <a:ext cx="1574149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⚠ 实验结论的“</a:t>
            </a:r>
            <a:r>
              <a:rPr lang="zh-CN" altLang="en-US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误区</a:t>
            </a:r>
            <a:r>
              <a:rPr lang="zh-CN" sz="1275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"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C87EA1F-0285-88F2-AE7C-7A91DF9B8FD8}"/>
              </a:ext>
            </a:extLst>
          </p:cNvPr>
          <p:cNvSpPr txBox="1"/>
          <p:nvPr/>
        </p:nvSpPr>
        <p:spPr>
          <a:xfrm>
            <a:off x="7606665" y="1524952"/>
            <a:ext cx="250357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表面上：Conservative 参数更好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1AB4744-51CE-685E-8823-41BBA14A1CB1}"/>
              </a:ext>
            </a:extLst>
          </p:cNvPr>
          <p:cNvSpPr txBox="1"/>
          <p:nvPr/>
        </p:nvSpPr>
        <p:spPr>
          <a:xfrm>
            <a:off x="7606665" y="1772602"/>
            <a:ext cx="269304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深入分析后：失败组的根本原因是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4124A9E-52D9-87A3-8981-9459FC83C5F7}"/>
              </a:ext>
            </a:extLst>
          </p:cNvPr>
          <p:cNvSpPr txBox="1"/>
          <p:nvPr/>
        </p:nvSpPr>
        <p:spPr>
          <a:xfrm>
            <a:off x="554355" y="3092768"/>
            <a:ext cx="161582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衍生发现与工程启示</a:t>
            </a: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BDAA3D19-5FDC-04B3-5DD9-24BFFAE419F5}"/>
              </a:ext>
            </a:extLst>
          </p:cNvPr>
          <p:cNvGrpSpPr/>
          <p:nvPr/>
        </p:nvGrpSpPr>
        <p:grpSpPr>
          <a:xfrm>
            <a:off x="571500" y="3476625"/>
            <a:ext cx="11049000" cy="707568"/>
            <a:chOff x="571500" y="3476625"/>
            <a:chExt cx="11049000" cy="707568"/>
          </a:xfrm>
        </p:grpSpPr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8813F56B-652E-607A-B333-559F400141BB}"/>
                </a:ext>
              </a:extLst>
            </p:cNvPr>
            <p:cNvSpPr/>
            <p:nvPr/>
          </p:nvSpPr>
          <p:spPr>
            <a:xfrm>
              <a:off x="571500" y="3476625"/>
              <a:ext cx="11049000" cy="707568"/>
            </a:xfrm>
            <a:prstGeom prst="roundRect">
              <a:avLst>
                <a:gd name="adj" fmla="val 19048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E45E3F3-D227-6E28-5520-7D615E5DB2A7}"/>
                </a:ext>
              </a:extLst>
            </p:cNvPr>
            <p:cNvSpPr txBox="1"/>
            <p:nvPr/>
          </p:nvSpPr>
          <p:spPr>
            <a:xfrm>
              <a:off x="718185" y="3552914"/>
              <a:ext cx="10464403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sim_time=3.0 是隐藏优势</a:t>
              </a:r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：</a:t>
              </a:r>
              <a:endParaRPr lang="en-US" altLang="zh-CN" sz="12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endParaRPr>
            </a:p>
            <a:p>
              <a:pPr algn="l"/>
              <a:r>
                <a:rPr 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更长预测窗口意味着在已建图区域内也能更好评估代价，降低陷入局部死胡同概率。但 sim_time 并非越大越好 —— 过大值增加计算开销，控制器响应变慢</a:t>
              </a:r>
              <a:endParaRPr lang="en-US" altLang="zh-CN" sz="12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endParaRPr>
            </a:p>
            <a:p>
              <a:pPr algn="l"/>
              <a:r>
                <a:rPr lang="zh-CN" altLang="en-US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实际使用的</a:t>
              </a:r>
              <a:r>
                <a:rPr lang="en-US" alt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system</a:t>
              </a:r>
              <a:r>
                <a:rPr lang="zh-CN" altLang="en-US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中的 </a:t>
              </a:r>
              <a:r>
                <a:rPr lang="en-US" altLang="zh-CN" sz="1200" b="1" dirty="0" err="1">
                  <a:solidFill>
                    <a:srgbClr val="125AB4"/>
                  </a:solidFill>
                  <a:latin typeface="Segoe UI"/>
                  <a:ea typeface="Microsoft YaHei"/>
                  <a:cs typeface="Segoe UI"/>
                </a:rPr>
                <a:t>sim_time</a:t>
              </a:r>
              <a:r>
                <a:rPr lang="en-US" altLang="zh-CN" sz="1200" b="1" dirty="0">
                  <a:solidFill>
                    <a:srgbClr val="125AB4"/>
                  </a:solidFill>
                  <a:latin typeface="Segoe UI"/>
                  <a:ea typeface="Microsoft YaHei"/>
                  <a:cs typeface="Segoe UI"/>
                </a:rPr>
                <a:t> = 1.7</a:t>
              </a:r>
              <a:r>
                <a:rPr lang="en-US" altLang="zh-CN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,</a:t>
              </a:r>
              <a:r>
                <a:rPr lang="zh-CN" altLang="en-US" sz="12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测试后更适合该项目</a:t>
              </a:r>
              <a:endParaRPr lang="zh-CN" sz="12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35" name="Rectangle 35">
            <a:extLst>
              <a:ext uri="{FF2B5EF4-FFF2-40B4-BE49-F238E27FC236}">
                <a16:creationId xmlns:a16="http://schemas.microsoft.com/office/drawing/2014/main" id="{BD2BB9BE-548A-F356-8ABD-D87727D7AFA2}"/>
              </a:ext>
            </a:extLst>
          </p:cNvPr>
          <p:cNvSpPr/>
          <p:nvPr/>
        </p:nvSpPr>
        <p:spPr>
          <a:xfrm>
            <a:off x="554355" y="4581115"/>
            <a:ext cx="11049000" cy="435465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87E86A6-1EE4-FA9B-F75A-563E6FCC83F2}"/>
              </a:ext>
            </a:extLst>
          </p:cNvPr>
          <p:cNvSpPr txBox="1"/>
          <p:nvPr/>
        </p:nvSpPr>
        <p:spPr>
          <a:xfrm>
            <a:off x="827723" y="4733040"/>
            <a:ext cx="10339369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00" b="1" dirty="0">
                <a:solidFill>
                  <a:srgbClr val="FF6F00"/>
                </a:solidFill>
                <a:latin typeface="Segoe UI"/>
                <a:ea typeface="Microsoft YaHei"/>
                <a:cs typeface="Segoe UI"/>
              </a:rPr>
              <a:t>自动化实验框架的真正价值</a:t>
            </a:r>
            <a:r>
              <a:rPr lang="zh-CN" sz="1100" dirty="0">
                <a:solidFill>
                  <a:srgbClr val="263238"/>
                </a:solidFill>
                <a:latin typeface="Segoe UI"/>
                <a:ea typeface="Microsoft YaHei"/>
                <a:cs typeface="Segoe UI"/>
              </a:rPr>
              <a:t>：不仅是"验证哪个参数好"，更是"暴露实验设计本身的缺陷"——如果没有系统日志记录，我们可能错误地得出结论"Conservative 参数最优"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01F9710-3E81-4949-3495-9489CD220D3D}"/>
              </a:ext>
            </a:extLst>
          </p:cNvPr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3B6686E-D58D-6EED-3C03-479BCD7D4FC7}"/>
              </a:ext>
            </a:extLst>
          </p:cNvPr>
          <p:cNvSpPr txBox="1"/>
          <p:nvPr/>
        </p:nvSpPr>
        <p:spPr>
          <a:xfrm>
            <a:off x="7560410" y="2076661"/>
            <a:ext cx="3163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地图未建完就发送了目标点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FFBE0D6D-592E-54FF-CE1E-3ED7505BC782}"/>
              </a:ext>
            </a:extLst>
          </p:cNvPr>
          <p:cNvGrpSpPr/>
          <p:nvPr/>
        </p:nvGrpSpPr>
        <p:grpSpPr>
          <a:xfrm>
            <a:off x="3944365" y="804979"/>
            <a:ext cx="4544059" cy="4351483"/>
            <a:chOff x="7680674" y="2362994"/>
            <a:chExt cx="4544059" cy="4351483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7FD15573-8976-800B-993A-DBD222414547}"/>
                </a:ext>
              </a:extLst>
            </p:cNvPr>
            <p:cNvGrpSpPr/>
            <p:nvPr/>
          </p:nvGrpSpPr>
          <p:grpSpPr>
            <a:xfrm>
              <a:off x="7680674" y="2362994"/>
              <a:ext cx="3619500" cy="4351483"/>
              <a:chOff x="7620000" y="1908250"/>
              <a:chExt cx="3619500" cy="4351483"/>
            </a:xfrm>
          </p:grpSpPr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E7B78202-D17F-6BE9-A207-8AD2D640AB01}"/>
                  </a:ext>
                </a:extLst>
              </p:cNvPr>
              <p:cNvSpPr txBox="1"/>
              <p:nvPr/>
            </p:nvSpPr>
            <p:spPr>
              <a:xfrm>
                <a:off x="8099782" y="2960314"/>
                <a:ext cx="276998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6F00"/>
                    </a:solidFill>
                    <a:latin typeface="Segoe UI"/>
                    <a:ea typeface="Microsoft YaHei"/>
                    <a:cs typeface="Segoe UI"/>
                  </a:rPr>
                  <a:t>三组在已建图区域内的局部避障差距不大</a:t>
                </a:r>
              </a:p>
            </p:txBody>
          </p: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68415A5F-E7BF-3A08-F77F-676EBEA6C416}"/>
                  </a:ext>
                </a:extLst>
              </p:cNvPr>
              <p:cNvGrpSpPr/>
              <p:nvPr/>
            </p:nvGrpSpPr>
            <p:grpSpPr>
              <a:xfrm>
                <a:off x="7620000" y="1908250"/>
                <a:ext cx="3619500" cy="4351483"/>
                <a:chOff x="7012838" y="732540"/>
                <a:chExt cx="3619500" cy="4351483"/>
              </a:xfrm>
            </p:grpSpPr>
            <p:sp>
              <p:nvSpPr>
                <p:cNvPr id="2" name="Rectangle 32">
                  <a:extLst>
                    <a:ext uri="{FF2B5EF4-FFF2-40B4-BE49-F238E27FC236}">
                      <a16:creationId xmlns:a16="http://schemas.microsoft.com/office/drawing/2014/main" id="{88E5E0FC-37C3-82ED-8691-EB8BEEBB953E}"/>
                    </a:ext>
                  </a:extLst>
                </p:cNvPr>
                <p:cNvSpPr/>
                <p:nvPr/>
              </p:nvSpPr>
              <p:spPr>
                <a:xfrm>
                  <a:off x="7012838" y="1083523"/>
                  <a:ext cx="3619500" cy="4000500"/>
                </a:xfrm>
                <a:prstGeom prst="roundRect">
                  <a:avLst>
                    <a:gd name="adj" fmla="val 3158"/>
                  </a:avLst>
                </a:prstGeom>
                <a:solidFill>
                  <a:srgbClr val="FFFFFF"/>
                </a:solidFill>
                <a:ln w="9525">
                  <a:solidFill>
                    <a:srgbClr val="CFD8DC"/>
                  </a:solidFill>
                </a:ln>
                <a:effectLst>
                  <a:outerShdw blurRad="57150" dist="19050" dir="5400000" algn="ctr" rotWithShape="0">
                    <a:srgbClr val="0F172A">
                      <a:alpha val="4500"/>
                    </a:srgbClr>
                  </a:outerShdw>
                </a:effectLst>
              </p:spPr>
              <p:txBody>
                <a:bodyPr/>
                <a:lstStyle/>
                <a:p>
                  <a:endParaRPr lang="zh-CN" altLang="en-US" sz="3200" dirty="0"/>
                </a:p>
              </p:txBody>
            </p:sp>
            <p:sp>
              <p:nvSpPr>
                <p:cNvPr id="29" name="Rectangle 33">
                  <a:extLst>
                    <a:ext uri="{FF2B5EF4-FFF2-40B4-BE49-F238E27FC236}">
                      <a16:creationId xmlns:a16="http://schemas.microsoft.com/office/drawing/2014/main" id="{4F9B598A-1B22-FD9F-B963-8DCB0F43C65F}"/>
                    </a:ext>
                  </a:extLst>
                </p:cNvPr>
                <p:cNvSpPr/>
                <p:nvPr/>
              </p:nvSpPr>
              <p:spPr>
                <a:xfrm>
                  <a:off x="7012838" y="732540"/>
                  <a:ext cx="3619500" cy="476250"/>
                </a:xfrm>
                <a:prstGeom prst="roundRect">
                  <a:avLst>
                    <a:gd name="adj" fmla="val 24000"/>
                  </a:avLst>
                </a:prstGeom>
                <a:solidFill>
                  <a:srgbClr val="1565C0"/>
                </a:solidFill>
                <a:ln>
                  <a:noFill/>
                </a:ln>
                <a:effectLst>
                  <a:outerShdw blurRad="57150" dist="19050" dir="5400000" algn="ctr" rotWithShape="0">
                    <a:srgbClr val="0F172A">
                      <a:alpha val="4500"/>
                    </a:srgbClr>
                  </a:outerShdw>
                </a:effectLst>
              </p:spPr>
              <p:txBody>
                <a:bodyPr/>
                <a:lstStyle/>
                <a:p>
                  <a:endParaRPr lang="zh-CN" altLang="en-US" sz="3200"/>
                </a:p>
              </p:txBody>
            </p:sp>
            <p:sp>
              <p:nvSpPr>
                <p:cNvPr id="42" name="Rectangle 34">
                  <a:extLst>
                    <a:ext uri="{FF2B5EF4-FFF2-40B4-BE49-F238E27FC236}">
                      <a16:creationId xmlns:a16="http://schemas.microsoft.com/office/drawing/2014/main" id="{24FE9069-B763-BDF0-4DC2-8AE1831C8A90}"/>
                    </a:ext>
                  </a:extLst>
                </p:cNvPr>
                <p:cNvSpPr/>
                <p:nvPr/>
              </p:nvSpPr>
              <p:spPr>
                <a:xfrm>
                  <a:off x="7012838" y="1018290"/>
                  <a:ext cx="3619500" cy="190500"/>
                </a:xfrm>
                <a:prstGeom prst="rect">
                  <a:avLst/>
                </a:prstGeom>
                <a:solidFill>
                  <a:srgbClr val="1565C0"/>
                </a:solidFill>
                <a:ln>
                  <a:noFill/>
                </a:ln>
                <a:effectLst>
                  <a:outerShdw blurRad="57150" dist="19050" dir="5400000" algn="ctr" rotWithShape="0">
                    <a:srgbClr val="0F172A">
                      <a:alpha val="4500"/>
                    </a:srgbClr>
                  </a:outerShdw>
                </a:effectLst>
              </p:spPr>
              <p:txBody>
                <a:bodyPr/>
                <a:lstStyle/>
                <a:p>
                  <a:endParaRPr lang="zh-CN" altLang="en-US" sz="3200"/>
                </a:p>
              </p:txBody>
            </p:sp>
            <p:sp>
              <p:nvSpPr>
                <p:cNvPr id="43" name="TextBox 35">
                  <a:extLst>
                    <a:ext uri="{FF2B5EF4-FFF2-40B4-BE49-F238E27FC236}">
                      <a16:creationId xmlns:a16="http://schemas.microsoft.com/office/drawing/2014/main" id="{A4060FB3-8A72-4BF0-E10E-2CCC082039C3}"/>
                    </a:ext>
                  </a:extLst>
                </p:cNvPr>
                <p:cNvSpPr txBox="1"/>
                <p:nvPr/>
              </p:nvSpPr>
              <p:spPr>
                <a:xfrm>
                  <a:off x="8251921" y="797530"/>
                  <a:ext cx="1141338" cy="369332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7150" dist="19050" dir="5400000" algn="ctr" rotWithShape="0">
                    <a:srgbClr val="0F172A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latin typeface="Georgia"/>
                      <a:ea typeface="KaiTi"/>
                      <a:cs typeface="Georgia"/>
                    </a:rPr>
                    <a:t>System</a:t>
                  </a:r>
                  <a:endParaRPr lang="zh-CN" sz="2400" b="1" dirty="0">
                    <a:solidFill>
                      <a:srgbClr val="FFFFFF"/>
                    </a:solidFill>
                    <a:latin typeface="Georgia"/>
                    <a:ea typeface="KaiTi"/>
                    <a:cs typeface="Georgia"/>
                  </a:endParaRPr>
                </a:p>
              </p:txBody>
            </p:sp>
            <p:sp>
              <p:nvSpPr>
                <p:cNvPr id="44" name="TextBox 36">
                  <a:extLst>
                    <a:ext uri="{FF2B5EF4-FFF2-40B4-BE49-F238E27FC236}">
                      <a16:creationId xmlns:a16="http://schemas.microsoft.com/office/drawing/2014/main" id="{F4243E9A-5CA8-C4E4-5890-4A30FB09C4A4}"/>
                    </a:ext>
                  </a:extLst>
                </p:cNvPr>
                <p:cNvSpPr txBox="1"/>
                <p:nvPr/>
              </p:nvSpPr>
              <p:spPr>
                <a:xfrm>
                  <a:off x="8283981" y="1235460"/>
                  <a:ext cx="1077218" cy="18466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7150" dist="19050" dir="5400000" algn="ctr" rotWithShape="0">
                    <a:srgbClr val="0F172A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rgbClr val="546E7A"/>
                      </a:solidFill>
                      <a:latin typeface="Segoe UI"/>
                      <a:ea typeface="Microsoft YaHei"/>
                      <a:cs typeface="Segoe UI"/>
                    </a:rPr>
                    <a:t>测试后参数设置</a:t>
                  </a:r>
                  <a:endParaRPr lang="zh-CN" sz="1200" dirty="0">
                    <a:solidFill>
                      <a:srgbClr val="546E7A"/>
                    </a:solidFill>
                    <a:latin typeface="Segoe UI"/>
                    <a:ea typeface="Microsoft YaHei"/>
                    <a:cs typeface="Segoe UI"/>
                  </a:endParaRPr>
                </a:p>
              </p:txBody>
            </p:sp>
            <p:grpSp>
              <p:nvGrpSpPr>
                <p:cNvPr id="45" name="Group 53">
                  <a:extLst>
                    <a:ext uri="{FF2B5EF4-FFF2-40B4-BE49-F238E27FC236}">
                      <a16:creationId xmlns:a16="http://schemas.microsoft.com/office/drawing/2014/main" id="{9A9E355F-1B72-4DA1-525D-232AAD5A2BF3}"/>
                    </a:ext>
                  </a:extLst>
                </p:cNvPr>
                <p:cNvGrpSpPr/>
                <p:nvPr/>
              </p:nvGrpSpPr>
              <p:grpSpPr>
                <a:xfrm>
                  <a:off x="7203338" y="1494540"/>
                  <a:ext cx="3238500" cy="1943100"/>
                  <a:chOff x="4476750" y="1666875"/>
                  <a:chExt cx="3238500" cy="1943100"/>
                </a:xfrm>
              </p:grpSpPr>
              <p:sp>
                <p:nvSpPr>
                  <p:cNvPr id="46" name="Rectangle 37">
                    <a:extLst>
                      <a:ext uri="{FF2B5EF4-FFF2-40B4-BE49-F238E27FC236}">
                        <a16:creationId xmlns:a16="http://schemas.microsoft.com/office/drawing/2014/main" id="{0B6DC9D6-3D63-B7D7-657E-0E427F226CA6}"/>
                      </a:ext>
                    </a:extLst>
                  </p:cNvPr>
                  <p:cNvSpPr/>
                  <p:nvPr/>
                </p:nvSpPr>
                <p:spPr>
                  <a:xfrm>
                    <a:off x="4476750" y="166687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F2FD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47" name="TextBox 38">
                    <a:extLst>
                      <a:ext uri="{FF2B5EF4-FFF2-40B4-BE49-F238E27FC236}">
                        <a16:creationId xmlns:a16="http://schemas.microsoft.com/office/drawing/2014/main" id="{157AE4C2-EAF2-86D2-0BB4-9FEC06EB7DD0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1673641"/>
                    <a:ext cx="1788951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max_vel_x 0.35 m/s</a:t>
                    </a:r>
                  </a:p>
                </p:txBody>
              </p:sp>
              <p:sp>
                <p:nvSpPr>
                  <p:cNvPr id="48" name="Rectangle 39">
                    <a:extLst>
                      <a:ext uri="{FF2B5EF4-FFF2-40B4-BE49-F238E27FC236}">
                        <a16:creationId xmlns:a16="http://schemas.microsoft.com/office/drawing/2014/main" id="{83EBFC5D-779E-B5A5-24A2-7FB9B8FC25E5}"/>
                      </a:ext>
                    </a:extLst>
                  </p:cNvPr>
                  <p:cNvSpPr/>
                  <p:nvPr/>
                </p:nvSpPr>
                <p:spPr>
                  <a:xfrm>
                    <a:off x="4476750" y="195262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AFAFA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49" name="TextBox 40">
                    <a:extLst>
                      <a:ext uri="{FF2B5EF4-FFF2-40B4-BE49-F238E27FC236}">
                        <a16:creationId xmlns:a16="http://schemas.microsoft.com/office/drawing/2014/main" id="{CE988B96-9619-5462-FEF9-8B9E0CF70A84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1959391"/>
                    <a:ext cx="2285882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max_vel_theta </a:t>
                    </a:r>
                    <a:r>
                      <a:rPr lang="en-US" alt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3.2</a:t>
                    </a:r>
                    <a:r>
                      <a:rPr 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 rad/s</a:t>
                    </a:r>
                  </a:p>
                </p:txBody>
              </p:sp>
              <p:sp>
                <p:nvSpPr>
                  <p:cNvPr id="50" name="Rectangle 41">
                    <a:extLst>
                      <a:ext uri="{FF2B5EF4-FFF2-40B4-BE49-F238E27FC236}">
                        <a16:creationId xmlns:a16="http://schemas.microsoft.com/office/drawing/2014/main" id="{D6815DA2-F3A1-1C14-1641-E102872EE413}"/>
                      </a:ext>
                    </a:extLst>
                  </p:cNvPr>
                  <p:cNvSpPr/>
                  <p:nvPr/>
                </p:nvSpPr>
                <p:spPr>
                  <a:xfrm>
                    <a:off x="4476750" y="223837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F2FD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51" name="TextBox 42">
                    <a:extLst>
                      <a:ext uri="{FF2B5EF4-FFF2-40B4-BE49-F238E27FC236}">
                        <a16:creationId xmlns:a16="http://schemas.microsoft.com/office/drawing/2014/main" id="{FC8E06C8-343B-469D-5EE0-5C1A0CA59145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2245141"/>
                    <a:ext cx="1788951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acc_lim_x </a:t>
                    </a:r>
                    <a:r>
                      <a:rPr lang="en-US" alt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2</a:t>
                    </a:r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.5 m/s²</a:t>
                    </a:r>
                  </a:p>
                </p:txBody>
              </p:sp>
              <p:sp>
                <p:nvSpPr>
                  <p:cNvPr id="52" name="Rectangle 43">
                    <a:extLst>
                      <a:ext uri="{FF2B5EF4-FFF2-40B4-BE49-F238E27FC236}">
                        <a16:creationId xmlns:a16="http://schemas.microsoft.com/office/drawing/2014/main" id="{526A833E-D14B-F02F-D5B6-6B234DAC1440}"/>
                      </a:ext>
                    </a:extLst>
                  </p:cNvPr>
                  <p:cNvSpPr/>
                  <p:nvPr/>
                </p:nvSpPr>
                <p:spPr>
                  <a:xfrm>
                    <a:off x="4476750" y="252412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AFAFA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53" name="TextBox 44">
                    <a:extLst>
                      <a:ext uri="{FF2B5EF4-FFF2-40B4-BE49-F238E27FC236}">
                        <a16:creationId xmlns:a16="http://schemas.microsoft.com/office/drawing/2014/main" id="{650B1596-C02C-7CDC-3DBC-2B05694E4E5A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2530891"/>
                    <a:ext cx="1391407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sim_time 1.7 s</a:t>
                    </a:r>
                  </a:p>
                </p:txBody>
              </p:sp>
              <p:sp>
                <p:nvSpPr>
                  <p:cNvPr id="54" name="Rectangle 45">
                    <a:extLst>
                      <a:ext uri="{FF2B5EF4-FFF2-40B4-BE49-F238E27FC236}">
                        <a16:creationId xmlns:a16="http://schemas.microsoft.com/office/drawing/2014/main" id="{649E305B-3901-A3F3-1F92-0DE5C7A00F23}"/>
                      </a:ext>
                    </a:extLst>
                  </p:cNvPr>
                  <p:cNvSpPr/>
                  <p:nvPr/>
                </p:nvSpPr>
                <p:spPr>
                  <a:xfrm>
                    <a:off x="4476750" y="280987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F2FD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55" name="TextBox 46">
                    <a:extLst>
                      <a:ext uri="{FF2B5EF4-FFF2-40B4-BE49-F238E27FC236}">
                        <a16:creationId xmlns:a16="http://schemas.microsoft.com/office/drawing/2014/main" id="{5FCC9DFE-7AC5-4C98-08BF-BC41C964275C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2816641"/>
                    <a:ext cx="1292020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vx_samples 15</a:t>
                    </a:r>
                  </a:p>
                </p:txBody>
              </p:sp>
              <p:sp>
                <p:nvSpPr>
                  <p:cNvPr id="56" name="Rectangle 47">
                    <a:extLst>
                      <a:ext uri="{FF2B5EF4-FFF2-40B4-BE49-F238E27FC236}">
                        <a16:creationId xmlns:a16="http://schemas.microsoft.com/office/drawing/2014/main" id="{009A390F-825D-1220-3F13-273ADE49CC96}"/>
                      </a:ext>
                    </a:extLst>
                  </p:cNvPr>
                  <p:cNvSpPr/>
                  <p:nvPr/>
                </p:nvSpPr>
                <p:spPr>
                  <a:xfrm>
                    <a:off x="4476750" y="309562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AFAFA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57" name="TextBox 48">
                    <a:extLst>
                      <a:ext uri="{FF2B5EF4-FFF2-40B4-BE49-F238E27FC236}">
                        <a16:creationId xmlns:a16="http://schemas.microsoft.com/office/drawing/2014/main" id="{504F6001-48F2-A73B-6CA9-7BA158219097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3102391"/>
                    <a:ext cx="1391407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vth_samples </a:t>
                    </a:r>
                    <a:r>
                      <a:rPr lang="en-US" alt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2</a:t>
                    </a:r>
                    <a:r>
                      <a:rPr lang="zh-CN" sz="1400" dirty="0">
                        <a:solidFill>
                          <a:srgbClr val="263238"/>
                        </a:solidFill>
                        <a:latin typeface="Consolas"/>
                        <a:ea typeface="Microsoft YaHei"/>
                        <a:cs typeface="Consolas"/>
                      </a:rPr>
                      <a:t>0</a:t>
                    </a:r>
                  </a:p>
                </p:txBody>
              </p:sp>
              <p:sp>
                <p:nvSpPr>
                  <p:cNvPr id="58" name="Rectangle 49">
                    <a:extLst>
                      <a:ext uri="{FF2B5EF4-FFF2-40B4-BE49-F238E27FC236}">
                        <a16:creationId xmlns:a16="http://schemas.microsoft.com/office/drawing/2014/main" id="{6EE7BFAA-4C82-8560-219B-FEB9F073D4B1}"/>
                      </a:ext>
                    </a:extLst>
                  </p:cNvPr>
                  <p:cNvSpPr/>
                  <p:nvPr/>
                </p:nvSpPr>
                <p:spPr>
                  <a:xfrm>
                    <a:off x="4476750" y="3381375"/>
                    <a:ext cx="3238500" cy="2286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F2FD"/>
                  </a:solidFill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/>
                  <a:lstStyle/>
                  <a:p>
                    <a:endParaRPr lang="zh-CN" altLang="en-US" sz="3200"/>
                  </a:p>
                </p:txBody>
              </p:sp>
              <p:sp>
                <p:nvSpPr>
                  <p:cNvPr id="59" name="TextBox 50">
                    <a:extLst>
                      <a:ext uri="{FF2B5EF4-FFF2-40B4-BE49-F238E27FC236}">
                        <a16:creationId xmlns:a16="http://schemas.microsoft.com/office/drawing/2014/main" id="{90763107-8A67-9596-386E-93BF7B6612CE}"/>
                      </a:ext>
                    </a:extLst>
                  </p:cNvPr>
                  <p:cNvSpPr txBox="1"/>
                  <p:nvPr/>
                </p:nvSpPr>
                <p:spPr>
                  <a:xfrm>
                    <a:off x="4656772" y="3388141"/>
                    <a:ext cx="2285882" cy="2154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7150" dist="19050" dir="5400000" algn="ctr" rotWithShape="0">
                      <a:srgbClr val="0F172A">
                        <a:alpha val="4500"/>
                      </a:srgbClr>
                    </a:outerShdw>
                  </a:effectLst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inflation_radius 0.</a:t>
                    </a:r>
                    <a:r>
                      <a:rPr lang="en-US" alt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8</a:t>
                    </a:r>
                    <a:r>
                      <a:rPr lang="zh-CN" sz="1400" dirty="0">
                        <a:solidFill>
                          <a:srgbClr val="1565C0"/>
                        </a:solidFill>
                        <a:latin typeface="Consolas"/>
                        <a:ea typeface="Microsoft YaHei"/>
                        <a:cs typeface="Consolas"/>
                      </a:rPr>
                      <a:t>0 m</a:t>
                    </a:r>
                  </a:p>
                </p:txBody>
              </p:sp>
            </p:grpSp>
          </p:grpSp>
          <p:sp>
            <p:nvSpPr>
              <p:cNvPr id="69" name="Rectangle 49">
                <a:extLst>
                  <a:ext uri="{FF2B5EF4-FFF2-40B4-BE49-F238E27FC236}">
                    <a16:creationId xmlns:a16="http://schemas.microsoft.com/office/drawing/2014/main" id="{79F09BAC-204A-1AC0-DB30-B891D9EFE6FE}"/>
                  </a:ext>
                </a:extLst>
              </p:cNvPr>
              <p:cNvSpPr/>
              <p:nvPr/>
            </p:nvSpPr>
            <p:spPr>
              <a:xfrm>
                <a:off x="7810500" y="4976995"/>
                <a:ext cx="32385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3F2FD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0CE4B4C-9820-AC04-890A-66B4F8CBABCE}"/>
                  </a:ext>
                </a:extLst>
              </p:cNvPr>
              <p:cNvSpPr txBox="1"/>
              <p:nvPr/>
            </p:nvSpPr>
            <p:spPr>
              <a:xfrm>
                <a:off x="7748625" y="4957179"/>
                <a:ext cx="3347081" cy="306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zh-CN" altLang="zh-CN" sz="2400" b="0" dirty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</a:t>
                </a:r>
                <a:r>
                  <a:rPr lang="zh-CN" altLang="zh-CN" sz="1400" dirty="0">
                    <a:solidFill>
                      <a:srgbClr val="1565C0"/>
                    </a:solidFill>
                    <a:latin typeface="Consolas"/>
                    <a:ea typeface="Microsoft YaHei"/>
                  </a:rPr>
                  <a:t>raytrace_max_range: 4.0</a:t>
                </a: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9FB7FA8-4A51-9DB9-C978-C8B854099021}"/>
                  </a:ext>
                </a:extLst>
              </p:cNvPr>
              <p:cNvSpPr txBox="1"/>
              <p:nvPr/>
            </p:nvSpPr>
            <p:spPr>
              <a:xfrm>
                <a:off x="7921400" y="4670371"/>
                <a:ext cx="2317636" cy="272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zh-CN" altLang="zh-CN" sz="1400" dirty="0">
                    <a:solidFill>
                      <a:srgbClr val="263238"/>
                    </a:solidFill>
                    <a:latin typeface="Consolas"/>
                    <a:ea typeface="Microsoft YaHei"/>
                  </a:rPr>
                  <a:t>update_frequency</a:t>
                </a:r>
                <a:r>
                  <a:rPr lang="zh-CN" altLang="en-US" sz="1400" dirty="0">
                    <a:solidFill>
                      <a:srgbClr val="263238"/>
                    </a:solidFill>
                    <a:latin typeface="Consolas"/>
                    <a:ea typeface="Microsoft YaHei"/>
                  </a:rPr>
                  <a:t>：</a:t>
                </a:r>
                <a:r>
                  <a:rPr lang="en-US" altLang="zh-CN" sz="1400" dirty="0">
                    <a:solidFill>
                      <a:srgbClr val="263238"/>
                    </a:solidFill>
                    <a:latin typeface="Consolas"/>
                    <a:ea typeface="Microsoft YaHei"/>
                  </a:rPr>
                  <a:t>10</a:t>
                </a:r>
                <a:endParaRPr lang="zh-CN" altLang="zh-CN" sz="1400" dirty="0">
                  <a:solidFill>
                    <a:srgbClr val="263238"/>
                  </a:solidFill>
                  <a:latin typeface="Consolas"/>
                  <a:ea typeface="Microsoft YaHei"/>
                </a:endParaRPr>
              </a:p>
            </p:txBody>
          </p:sp>
        </p:grpSp>
        <p:sp>
          <p:nvSpPr>
            <p:cNvPr id="74" name="右大括号 73">
              <a:extLst>
                <a:ext uri="{FF2B5EF4-FFF2-40B4-BE49-F238E27FC236}">
                  <a16:creationId xmlns:a16="http://schemas.microsoft.com/office/drawing/2014/main" id="{97A17AFB-0C86-6159-39EC-8537F1CF75DF}"/>
                </a:ext>
              </a:extLst>
            </p:cNvPr>
            <p:cNvSpPr/>
            <p:nvPr/>
          </p:nvSpPr>
          <p:spPr>
            <a:xfrm>
              <a:off x="10470391" y="4913393"/>
              <a:ext cx="81200" cy="667544"/>
            </a:xfrm>
            <a:prstGeom prst="rightBrace">
              <a:avLst/>
            </a:prstGeom>
            <a:noFill/>
            <a:ln>
              <a:solidFill>
                <a:srgbClr val="3E81C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FF88272-3B33-4E1D-D189-74BEEF842DBD}"/>
                </a:ext>
              </a:extLst>
            </p:cNvPr>
            <p:cNvSpPr txBox="1"/>
            <p:nvPr/>
          </p:nvSpPr>
          <p:spPr>
            <a:xfrm>
              <a:off x="10551591" y="5037634"/>
              <a:ext cx="1673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3E81CC"/>
                  </a:solidFill>
                </a:rPr>
                <a:t>local_costmap</a:t>
              </a:r>
              <a:endParaRPr lang="zh-CN" altLang="en-US" dirty="0">
                <a:solidFill>
                  <a:srgbClr val="3E81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55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 animBg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667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87655"/>
            <a:ext cx="587526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六状态有限状态机 —— 自主任务执行的"大脑"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599599"/>
            <a:ext cx="49462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StateManager 核心设计 · transition() 防同状态重复切换 · ERROR 自恢复闭环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640509" y="1026319"/>
            <a:ext cx="6195891" cy="5101977"/>
            <a:chOff x="6459855" y="1283018"/>
            <a:chExt cx="5160645" cy="3793807"/>
          </a:xfrm>
        </p:grpSpPr>
        <p:sp>
          <p:nvSpPr>
            <p:cNvPr id="35" name="TextBox 35"/>
            <p:cNvSpPr txBox="1"/>
            <p:nvPr/>
          </p:nvSpPr>
          <p:spPr>
            <a:xfrm>
              <a:off x="6459855" y="1283018"/>
              <a:ext cx="1288433" cy="2746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Georgia"/>
                  <a:ea typeface="KaiTi"/>
                  <a:cs typeface="Georgia"/>
                </a:rPr>
                <a:t>关键设计点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16002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5118" y="1647838"/>
              <a:ext cx="2195009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1. transition() 防同状态重复切换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6070" y="1818102"/>
              <a:ext cx="3801158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检查 new_state != current_state，避免"NAV→NAV"死循环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6070" y="1975222"/>
              <a:ext cx="2841228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同时防止重复触发状态进入时的初始化逻辑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7000" y="2333625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3E0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5118" y="2371817"/>
              <a:ext cx="1440535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2. ERROR 自恢复闭环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6070" y="2570413"/>
              <a:ext cx="3742465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动态障碍物(巡逻车) → 等前方清空后</a:t>
              </a:r>
              <a:r>
                <a:rPr lang="zh-CN" altLang="en-US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冲刺，</a:t>
              </a:r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自动恢复导航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56070" y="2722812"/>
              <a:ext cx="4850650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静态障碍物(墙体) → 等 1</a:t>
              </a:r>
              <a:r>
                <a:rPr lang="en-US" alt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/2</a:t>
              </a:r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 秒确认静止 → 清代价地图 → Nav2 重规划绕行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77000" y="306705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E8F5E9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105241"/>
              <a:ext cx="1363202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3. 漂移监控与重定位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6070" y="3303837"/>
              <a:ext cx="3200388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桥接器实时检测 真实位置 vs 里程计 偏差 &gt; 0.2m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6070" y="3456239"/>
              <a:ext cx="4679856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通过 /pose_drift 话题通知 StateManager → 触发 reset_pose_and_slam()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1760" y="3966210"/>
              <a:ext cx="1546119" cy="2746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Georgia"/>
                  <a:ea typeface="KaiTi"/>
                  <a:cs typeface="Georgia"/>
                </a:rPr>
                <a:t>状态转移规则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4267200"/>
              <a:ext cx="5143500" cy="238125"/>
            </a:xfrm>
            <a:prstGeom prst="roundRect">
              <a:avLst>
                <a:gd name="adj" fmla="val 16000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6070" y="4341495"/>
              <a:ext cx="4212709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IDLE → EXPLORE: 启动自主探索 · EXPLORE → MAP: 未知格 &lt; 5%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77000" y="4552950"/>
              <a:ext cx="5143500" cy="238125"/>
            </a:xfrm>
            <a:prstGeom prst="roundRect">
              <a:avLst>
                <a:gd name="adj" fmla="val 16000"/>
              </a:avLst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6070" y="4627245"/>
              <a:ext cx="3684518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MAP → FINISH: 覆盖率达标 · IDLE → NAV: 外部导航指令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77000" y="4838700"/>
              <a:ext cx="5143500" cy="238125"/>
            </a:xfrm>
            <a:prstGeom prst="roundRect">
              <a:avLst>
                <a:gd name="adj" fmla="val 16000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6070" y="4912995"/>
              <a:ext cx="4472852" cy="160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NAV ↔ ERROR: 遇障/碰撞/漂移 · ERROR → NAV: 动/静态判断后恢复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3A9F64D5-F40C-1F8C-6458-0184C7A74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82" y="978694"/>
            <a:ext cx="5334457" cy="53344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0C1FB02-20D5-7CCC-9E45-44B77D28E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264" y="-205978"/>
            <a:ext cx="6316136" cy="755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55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286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8185" y="265748"/>
            <a:ext cx="62474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动态障碍物的四阶段对抗 —— 本项目的核心工程难题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571500" y="742950"/>
            <a:ext cx="11239500" cy="2762250"/>
            <a:chOff x="571500" y="742950"/>
            <a:chExt cx="11239500" cy="2762250"/>
          </a:xfrm>
        </p:grpSpPr>
        <p:grpSp>
          <p:nvGrpSpPr>
            <p:cNvPr id="21" name="Group 21"/>
            <p:cNvGrpSpPr/>
            <p:nvPr/>
          </p:nvGrpSpPr>
          <p:grpSpPr>
            <a:xfrm>
              <a:off x="571500" y="742950"/>
              <a:ext cx="2619375" cy="2762250"/>
              <a:chOff x="571500" y="742950"/>
              <a:chExt cx="2619375" cy="2762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5" name="Rectangle 5"/>
              <p:cNvSpPr/>
              <p:nvPr/>
            </p:nvSpPr>
            <p:spPr>
              <a:xfrm>
                <a:off x="571500" y="742950"/>
                <a:ext cx="2619375" cy="276225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CFD8DC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571500" y="742950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C62828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895350" y="847725"/>
                <a:ext cx="304800" cy="304800"/>
              </a:xfrm>
              <a:prstGeom prst="ellipse">
                <a:avLst/>
              </a:prstGeom>
              <a:solidFill>
                <a:srgbClr val="C62828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97255" y="852488"/>
                <a:ext cx="100990" cy="24622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09217" y="878160"/>
                <a:ext cx="1627048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C62828"/>
                    </a:solidFill>
                    <a:latin typeface="Georgia"/>
                    <a:ea typeface="KaiTi"/>
                    <a:cs typeface="Georgia"/>
                  </a:rPr>
                  <a:t>刚体与雷达分离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762000" y="1190625"/>
                <a:ext cx="2238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38375" h="9525">
                    <a:moveTo>
                      <a:pt x="0" y="0"/>
                    </a:moveTo>
                    <a:lnTo>
                      <a:pt x="2238375" y="0"/>
                    </a:lnTo>
                  </a:path>
                </a:pathLst>
              </a:custGeom>
              <a:noFill/>
              <a:ln w="9525">
                <a:solidFill>
                  <a:srgbClr val="F1F5F9"/>
                </a:solidFill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3125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现象：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1503045"/>
                <a:ext cx="1659109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巡逻车在 3D 场景中移动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1693545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但激光雷达扫描检测不到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1950720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根因：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0570" y="2141220"/>
                <a:ext cx="137217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dyn_obs 坐标独立于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0570" y="2331720"/>
                <a:ext cx="1231106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刚体系统积分更新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25698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62828"/>
                    </a:solidFill>
                    <a:latin typeface="Segoe UI"/>
                    <a:ea typeface="Microsoft YaHei"/>
                    <a:cs typeface="Segoe UI"/>
                  </a:rPr>
                  <a:t>修复：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0570" y="2760345"/>
                <a:ext cx="1695208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在 Web Worker 雷达扫描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0570" y="2950845"/>
                <a:ext cx="172162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中增加 dyn_obs 射线检测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1522" y="3244691"/>
                <a:ext cx="1684757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输出：dyn_obs 被雷达感知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3190875" y="2143125"/>
              <a:ext cx="333375" cy="1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3200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600450" y="742950"/>
              <a:ext cx="2619375" cy="2762250"/>
              <a:chOff x="3600450" y="742950"/>
              <a:chExt cx="2619375" cy="2762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3600450" y="742950"/>
                <a:ext cx="2619375" cy="276225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CFD8DC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600450" y="742950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FF6F0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3924300" y="847725"/>
                <a:ext cx="304800" cy="304800"/>
              </a:xfrm>
              <a:prstGeom prst="ellipse">
                <a:avLst/>
              </a:prstGeom>
              <a:solidFill>
                <a:srgbClr val="FF6F0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031629" y="867251"/>
                <a:ext cx="128241" cy="24622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48162" y="883342"/>
                <a:ext cx="1627048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FF6F00"/>
                    </a:solidFill>
                    <a:latin typeface="Georgia"/>
                    <a:ea typeface="KaiTi"/>
                    <a:cs typeface="Georgia"/>
                  </a:rPr>
                  <a:t>碰撞后噪声积累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3790950" y="1190625"/>
                <a:ext cx="2238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38375" h="9525">
                    <a:moveTo>
                      <a:pt x="0" y="0"/>
                    </a:moveTo>
                    <a:lnTo>
                      <a:pt x="2238375" y="0"/>
                    </a:lnTo>
                  </a:path>
                </a:pathLst>
              </a:custGeom>
              <a:noFill/>
              <a:ln w="9525">
                <a:solidFill>
                  <a:srgbClr val="F1F5F9"/>
                </a:solidFill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79520" y="13125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现象：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79520" y="1503045"/>
                <a:ext cx="214321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真实 Y=1.73m, 里程计 Y=1.40m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779520" y="1693545"/>
                <a:ext cx="1814599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累积误差 0.332m 持续漂移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779520" y="1950720"/>
                <a:ext cx="660437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AI 定位：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779520" y="2141220"/>
                <a:ext cx="1479316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x/y 与 ox/oy 独立积分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779520" y="2331720"/>
                <a:ext cx="1352934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碰撞只修正"真实"，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79520" y="2522220"/>
                <a:ext cx="1814599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噪声积分继续漂移"里程计"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79520" y="27603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6F00"/>
                    </a:solidFill>
                    <a:latin typeface="Segoe UI"/>
                    <a:ea typeface="Microsoft YaHei"/>
                    <a:cs typeface="Segoe UI"/>
                  </a:rPr>
                  <a:t>修复：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779520" y="2950845"/>
                <a:ext cx="1913729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碰撞时 ox=x, oy=y 强制同步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79520" y="3141345"/>
                <a:ext cx="2107500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+ freeze_odom=30 帧暂停噪声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6219825" y="2143125"/>
              <a:ext cx="333375" cy="1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3200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6629400" y="742950"/>
              <a:ext cx="2619375" cy="2762250"/>
              <a:chOff x="6629400" y="742950"/>
              <a:chExt cx="2619375" cy="2762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6629400" y="742950"/>
                <a:ext cx="2619375" cy="276225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CFD8DC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629400" y="742950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6953250" y="847725"/>
                <a:ext cx="304800" cy="3048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41530" y="847725"/>
                <a:ext cx="128241" cy="24622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77112" y="867251"/>
                <a:ext cx="1627048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565C0"/>
                    </a:solidFill>
                    <a:latin typeface="Georgia"/>
                    <a:ea typeface="KaiTi"/>
                    <a:cs typeface="Georgia"/>
                  </a:rPr>
                  <a:t>速度不足被推回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819900" y="1190625"/>
                <a:ext cx="2238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38375" h="9525">
                    <a:moveTo>
                      <a:pt x="0" y="0"/>
                    </a:moveTo>
                    <a:lnTo>
                      <a:pt x="2238375" y="0"/>
                    </a:lnTo>
                  </a:path>
                </a:pathLst>
              </a:custGeom>
              <a:noFill/>
              <a:ln w="9525">
                <a:solidFill>
                  <a:srgbClr val="F1F5F9"/>
                </a:solidFill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08470" y="13125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现象：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08470" y="1503045"/>
                <a:ext cx="166552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等待后 Nav2 小速度指令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08470" y="1693545"/>
                <a:ext cx="1846659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不足以克服惯性脱离危险区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08470" y="1950720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根因：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08470" y="2141220"/>
                <a:ext cx="1772152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DWA 在窄道中下发低速度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808470" y="2331720"/>
                <a:ext cx="1447512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保证安全 → 进退两难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08470" y="25698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修复：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08470" y="2760345"/>
                <a:ext cx="191033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check_front_clear() 检测清空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808470" y="2950845"/>
                <a:ext cx="150041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+ 下发初始速度 boost</a:t>
                </a:r>
              </a:p>
            </p:txBody>
          </p:sp>
        </p:grpSp>
        <p:sp>
          <p:nvSpPr>
            <p:cNvPr id="57" name="Line 57"/>
            <p:cNvSpPr/>
            <p:nvPr/>
          </p:nvSpPr>
          <p:spPr>
            <a:xfrm>
              <a:off x="9248775" y="2143125"/>
              <a:ext cx="333375" cy="1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3200"/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9658350" y="742950"/>
              <a:ext cx="2152650" cy="2762250"/>
              <a:chOff x="9658350" y="742950"/>
              <a:chExt cx="2152650" cy="2762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58" name="Rectangle 58"/>
              <p:cNvSpPr/>
              <p:nvPr/>
            </p:nvSpPr>
            <p:spPr>
              <a:xfrm>
                <a:off x="9658350" y="742950"/>
                <a:ext cx="2152650" cy="2762250"/>
              </a:xfrm>
              <a:prstGeom prst="roundRect">
                <a:avLst>
                  <a:gd name="adj" fmla="val 4425"/>
                </a:avLst>
              </a:prstGeom>
              <a:solidFill>
                <a:srgbClr val="FFFFFF"/>
              </a:solidFill>
              <a:ln w="19050">
                <a:solidFill>
                  <a:srgbClr val="2E7D32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658350" y="742950"/>
                <a:ext cx="21526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9982200" y="847725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068075" y="867251"/>
                <a:ext cx="133050" cy="24622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b="1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4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330941" y="883902"/>
                <a:ext cx="1300036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2E7D32"/>
                    </a:solidFill>
                    <a:latin typeface="Georgia"/>
                    <a:ea typeface="KaiTi"/>
                    <a:cs typeface="Georgia"/>
                  </a:rPr>
                  <a:t>最终方案 ✅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9848850" y="1190625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F1F5F9"/>
                </a:solidFill>
              </a:ln>
            </p:spPr>
            <p:txBody>
              <a:bodyPr/>
              <a:lstStyle/>
              <a:p>
                <a:endParaRPr lang="zh-CN" altLang="en-US" sz="3200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837420" y="13125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策略：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837420" y="1503045"/>
                <a:ext cx="1771651" cy="55399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检测前方障碍物</a:t>
                </a:r>
                <a:r>
                  <a:rPr lang="zh-CN" alt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→ 等待让 Nav2 绕行</a:t>
                </a:r>
              </a:p>
              <a:p>
                <a:pPr algn="l"/>
                <a:endPara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837420" y="1693545"/>
                <a:ext cx="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837420" y="1950720"/>
                <a:ext cx="838371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动/静区分：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37421" y="2141219"/>
                <a:ext cx="1783080" cy="9233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等 1</a:t>
                </a:r>
                <a:r>
                  <a:rPr lang="en-US" alt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/2</a:t>
                </a:r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 秒→清空(动态)</a:t>
                </a:r>
                <a:r>
                  <a:rPr lang="zh-CN" alt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未清空(静态)→清代价地图→重规划绕行</a:t>
                </a:r>
              </a:p>
              <a:p>
                <a:endParaRPr lang="zh-CN" alt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  <a:p>
                <a:pPr algn="l"/>
                <a:endPara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37420" y="2331720"/>
                <a:ext cx="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837420" y="2760345"/>
                <a:ext cx="4616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E7D32"/>
                    </a:solidFill>
                    <a:latin typeface="Segoe UI"/>
                    <a:ea typeface="Microsoft YaHei"/>
                    <a:cs typeface="Segoe UI"/>
                  </a:rPr>
                  <a:t>效果：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837420" y="2950845"/>
                <a:ext cx="1793557" cy="55399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自适应处理巡逻车经过</a:t>
                </a:r>
                <a:r>
                  <a:rPr lang="zh-CN" altLang="zh-CN" sz="12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和永久障碍两种场景</a:t>
                </a:r>
              </a:p>
              <a:p>
                <a:pPr algn="l"/>
                <a:endPara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</p:grpSp>
      </p:grpSp>
      <p:sp>
        <p:nvSpPr>
          <p:cNvPr id="76" name="Rectangle 76"/>
          <p:cNvSpPr/>
          <p:nvPr/>
        </p:nvSpPr>
        <p:spPr>
          <a:xfrm>
            <a:off x="571500" y="3762375"/>
            <a:ext cx="11049000" cy="619125"/>
          </a:xfrm>
          <a:prstGeom prst="roundRect">
            <a:avLst>
              <a:gd name="adj" fmla="val 15385"/>
            </a:avLst>
          </a:prstGeom>
          <a:solidFill>
            <a:srgbClr val="ECEFF1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7" name="TextBox 77"/>
          <p:cNvSpPr txBox="1"/>
          <p:nvPr/>
        </p:nvSpPr>
        <p:spPr>
          <a:xfrm>
            <a:off x="1852851" y="3870960"/>
            <a:ext cx="848629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0D47A1"/>
                </a:solidFill>
                <a:latin typeface="Georgia"/>
                <a:ea typeface="KaiTi"/>
                <a:cs typeface="Georgia"/>
              </a:rPr>
              <a:t>四阶段递进：感知不到 → 感知到但控制不住 → 能等待但走不了 → 完整自适应处理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300090" y="4170045"/>
            <a:ext cx="759182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核心洞察：动态障碍物问题是"分层解耦"思路的试金石 — 物理引擎、传感器模型、控制器三层必须协同才能解决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571500" y="4572000"/>
            <a:ext cx="11049000" cy="381000"/>
            <a:chOff x="571500" y="4572000"/>
            <a:chExt cx="11049000" cy="381000"/>
          </a:xfrm>
        </p:grpSpPr>
        <p:sp>
          <p:nvSpPr>
            <p:cNvPr id="79" name="Rectangle 79"/>
            <p:cNvSpPr/>
            <p:nvPr/>
          </p:nvSpPr>
          <p:spPr>
            <a:xfrm>
              <a:off x="571500" y="4572000"/>
              <a:ext cx="3524250" cy="381000"/>
            </a:xfrm>
            <a:prstGeom prst="roundRect">
              <a:avLst>
                <a:gd name="adj" fmla="val 2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70683" y="4687503"/>
              <a:ext cx="252588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碰撞时 freeze_odom = 30 帧 (~0.5秒)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286250" y="4572000"/>
              <a:ext cx="3524250" cy="381000"/>
            </a:xfrm>
            <a:prstGeom prst="roundRect">
              <a:avLst>
                <a:gd name="adj" fmla="val 2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896040" y="4694227"/>
              <a:ext cx="23046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漂移 &gt; 0.2m 触发 /pose_drift 通知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001000" y="4572000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93696" y="4680779"/>
              <a:ext cx="28341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静态障碍 </a:t>
              </a:r>
              <a:r>
                <a:rPr lang="en-US" altLang="zh-CN" sz="12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1/2</a:t>
              </a:r>
              <a:r>
                <a:rPr lang="zh-CN" sz="12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 秒超时 → 清代价地图重规划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68527" y="5018471"/>
            <a:ext cx="934922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物理引擎关键设计：AABB 刚体碰撞 + 电机制动抱死 (abs(force)&lt;0.001) + 里程计噪声模拟 + 漂移检测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/>
      <p:bldP spid="78" grpId="0"/>
      <p:bldP spid="8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FD584-573E-C988-5886-A3054372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43D0F4-8AB1-AA8D-0148-9F382C5CC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9152"/>
            <a:ext cx="10729956" cy="645421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A3B3B5-C328-DE17-6A78-7A0B46292EE9}"/>
              </a:ext>
            </a:extLst>
          </p:cNvPr>
          <p:cNvGrpSpPr/>
          <p:nvPr/>
        </p:nvGrpSpPr>
        <p:grpSpPr>
          <a:xfrm>
            <a:off x="10907541" y="1670681"/>
            <a:ext cx="421965" cy="3516637"/>
            <a:chOff x="11203409" y="1734097"/>
            <a:chExt cx="421965" cy="3516637"/>
          </a:xfrm>
        </p:grpSpPr>
        <p:sp>
          <p:nvSpPr>
            <p:cNvPr id="9" name="Ellipse 7">
              <a:extLst>
                <a:ext uri="{FF2B5EF4-FFF2-40B4-BE49-F238E27FC236}">
                  <a16:creationId xmlns:a16="http://schemas.microsoft.com/office/drawing/2014/main" id="{43B2D716-5340-C928-E394-3113C1B6CA7D}"/>
                </a:ext>
              </a:extLst>
            </p:cNvPr>
            <p:cNvSpPr/>
            <p:nvPr/>
          </p:nvSpPr>
          <p:spPr>
            <a:xfrm>
              <a:off x="11203409" y="1734097"/>
              <a:ext cx="406297" cy="410668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4400"/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668838F7-D4CF-7D0A-1D22-5E318EC6C7E3}"/>
                </a:ext>
              </a:extLst>
            </p:cNvPr>
            <p:cNvSpPr txBox="1"/>
            <p:nvPr/>
          </p:nvSpPr>
          <p:spPr>
            <a:xfrm>
              <a:off x="11329506" y="1734097"/>
              <a:ext cx="150682" cy="369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4ACAA079-ADFB-4E24-6BE6-20B66936BACF}"/>
                </a:ext>
              </a:extLst>
            </p:cNvPr>
            <p:cNvSpPr txBox="1"/>
            <p:nvPr/>
          </p:nvSpPr>
          <p:spPr>
            <a:xfrm>
              <a:off x="11219077" y="2234524"/>
              <a:ext cx="406297" cy="301621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刚体与雷达分离</a:t>
              </a:r>
            </a:p>
          </p:txBody>
        </p:sp>
      </p:grpSp>
      <p:sp>
        <p:nvSpPr>
          <p:cNvPr id="12" name="Ellipse 25">
            <a:extLst>
              <a:ext uri="{FF2B5EF4-FFF2-40B4-BE49-F238E27FC236}">
                <a16:creationId xmlns:a16="http://schemas.microsoft.com/office/drawing/2014/main" id="{3417EAA2-6B5B-A0B9-6664-4C5BF90F939D}"/>
              </a:ext>
            </a:extLst>
          </p:cNvPr>
          <p:cNvSpPr/>
          <p:nvPr/>
        </p:nvSpPr>
        <p:spPr>
          <a:xfrm>
            <a:off x="11556736" y="1670681"/>
            <a:ext cx="406297" cy="410668"/>
          </a:xfrm>
          <a:prstGeom prst="ellipse">
            <a:avLst/>
          </a:prstGeom>
          <a:solidFill>
            <a:srgbClr val="FF6F00"/>
          </a:solidFill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TextBox 26">
            <a:extLst>
              <a:ext uri="{FF2B5EF4-FFF2-40B4-BE49-F238E27FC236}">
                <a16:creationId xmlns:a16="http://schemas.microsoft.com/office/drawing/2014/main" id="{AEFB2222-B897-6CD5-AF9C-41C46E991AC0}"/>
              </a:ext>
            </a:extLst>
          </p:cNvPr>
          <p:cNvSpPr txBox="1"/>
          <p:nvPr/>
        </p:nvSpPr>
        <p:spPr>
          <a:xfrm>
            <a:off x="11679478" y="1670681"/>
            <a:ext cx="192360" cy="3693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A4E0C9B8-C934-E6B2-8F2A-09A40626CA5A}"/>
              </a:ext>
            </a:extLst>
          </p:cNvPr>
          <p:cNvSpPr txBox="1"/>
          <p:nvPr/>
        </p:nvSpPr>
        <p:spPr>
          <a:xfrm>
            <a:off x="11556736" y="2159673"/>
            <a:ext cx="437845" cy="301621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rgbClr val="FF6F00"/>
                </a:solidFill>
                <a:latin typeface="Georgia"/>
                <a:ea typeface="KaiTi"/>
                <a:cs typeface="Georgia"/>
              </a:rPr>
              <a:t>碰撞后噪声积累</a:t>
            </a:r>
          </a:p>
        </p:txBody>
      </p:sp>
    </p:spTree>
    <p:extLst>
      <p:ext uri="{BB962C8B-B14F-4D97-AF65-F5344CB8AC3E}">
        <p14:creationId xmlns:p14="http://schemas.microsoft.com/office/powerpoint/2010/main" val="3468484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2FC26D1-AC6E-33CC-A260-CCF4F5FE6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57" y="-1"/>
            <a:ext cx="11359244" cy="7427833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EDB55CE-4B43-0BDE-3DE7-D530AF040A84}"/>
              </a:ext>
            </a:extLst>
          </p:cNvPr>
          <p:cNvGrpSpPr/>
          <p:nvPr/>
        </p:nvGrpSpPr>
        <p:grpSpPr>
          <a:xfrm>
            <a:off x="164094" y="1943007"/>
            <a:ext cx="602538" cy="2971985"/>
            <a:chOff x="442490" y="1943007"/>
            <a:chExt cx="602538" cy="2971985"/>
          </a:xfrm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CB9799C8-F8C9-9772-E0BF-2483C3B41168}"/>
                </a:ext>
              </a:extLst>
            </p:cNvPr>
            <p:cNvSpPr/>
            <p:nvPr/>
          </p:nvSpPr>
          <p:spPr>
            <a:xfrm>
              <a:off x="442490" y="1943007"/>
              <a:ext cx="602538" cy="2971985"/>
            </a:xfrm>
            <a:prstGeom prst="roundRect">
              <a:avLst>
                <a:gd name="adj" fmla="val 12903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5" name="TextBox 37">
              <a:extLst>
                <a:ext uri="{FF2B5EF4-FFF2-40B4-BE49-F238E27FC236}">
                  <a16:creationId xmlns:a16="http://schemas.microsoft.com/office/drawing/2014/main" id="{101FA6E3-F5F2-55E8-3B46-C01BB482F15D}"/>
                </a:ext>
              </a:extLst>
            </p:cNvPr>
            <p:cNvSpPr txBox="1"/>
            <p:nvPr/>
          </p:nvSpPr>
          <p:spPr>
            <a:xfrm>
              <a:off x="587827" y="2351782"/>
              <a:ext cx="457201" cy="2154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8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状态机输出</a:t>
              </a:r>
              <a:endParaRPr lang="zh-CN" sz="2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D8F6C3-43EB-79A4-7B1D-0828E7789C0B}"/>
              </a:ext>
            </a:extLst>
          </p:cNvPr>
          <p:cNvGrpSpPr/>
          <p:nvPr/>
        </p:nvGrpSpPr>
        <p:grpSpPr>
          <a:xfrm>
            <a:off x="5627509" y="-1"/>
            <a:ext cx="6422977" cy="1012372"/>
            <a:chOff x="5627509" y="-1"/>
            <a:chExt cx="6422977" cy="101237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A4712EF-9574-3CF1-7B96-4E0160406072}"/>
                </a:ext>
              </a:extLst>
            </p:cNvPr>
            <p:cNvSpPr/>
            <p:nvPr/>
          </p:nvSpPr>
          <p:spPr>
            <a:xfrm>
              <a:off x="9131513" y="-1"/>
              <a:ext cx="2918973" cy="10123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81F8327-A642-B6FE-7C0E-EED0B639365A}"/>
                </a:ext>
              </a:extLst>
            </p:cNvPr>
            <p:cNvCxnSpPr>
              <a:stCxn id="9" idx="1"/>
            </p:cNvCxnSpPr>
            <p:nvPr/>
          </p:nvCxnSpPr>
          <p:spPr>
            <a:xfrm flipH="1" flipV="1">
              <a:off x="7282543" y="498021"/>
              <a:ext cx="1848970" cy="81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BBB61B0-0310-2A1A-29A5-846EC89FAF08}"/>
                </a:ext>
              </a:extLst>
            </p:cNvPr>
            <p:cNvSpPr txBox="1"/>
            <p:nvPr/>
          </p:nvSpPr>
          <p:spPr>
            <a:xfrm>
              <a:off x="5627509" y="321519"/>
              <a:ext cx="1621971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初始状态设置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69BFF6D-0F2C-6931-CBEF-519796EC9E79}"/>
              </a:ext>
            </a:extLst>
          </p:cNvPr>
          <p:cNvGrpSpPr/>
          <p:nvPr/>
        </p:nvGrpSpPr>
        <p:grpSpPr>
          <a:xfrm>
            <a:off x="6076546" y="1055960"/>
            <a:ext cx="5973940" cy="908865"/>
            <a:chOff x="6076546" y="1055960"/>
            <a:chExt cx="5973940" cy="9088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4A6C06F-03A0-591E-66A9-2D51C0E82C0C}"/>
                </a:ext>
              </a:extLst>
            </p:cNvPr>
            <p:cNvSpPr/>
            <p:nvPr/>
          </p:nvSpPr>
          <p:spPr>
            <a:xfrm>
              <a:off x="9131513" y="1055960"/>
              <a:ext cx="2918973" cy="9088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4ECE42C-2153-6F7C-2163-75D8D730BD68}"/>
                </a:ext>
              </a:extLst>
            </p:cNvPr>
            <p:cNvCxnSpPr/>
            <p:nvPr/>
          </p:nvCxnSpPr>
          <p:spPr>
            <a:xfrm flipH="1" flipV="1">
              <a:off x="7282543" y="1469524"/>
              <a:ext cx="1848970" cy="81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3FD896F-4A38-24E6-9EFD-A61D8F544202}"/>
                </a:ext>
              </a:extLst>
            </p:cNvPr>
            <p:cNvSpPr txBox="1"/>
            <p:nvPr/>
          </p:nvSpPr>
          <p:spPr>
            <a:xfrm>
              <a:off x="6076546" y="1293022"/>
              <a:ext cx="117293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状态转换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64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17AA6A-BE3F-8D1C-9B08-1F12046B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15" y="1389128"/>
            <a:ext cx="6323128" cy="46831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1F27B3-7FFF-FDC2-DC85-5E28FF674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68" y="1759529"/>
            <a:ext cx="8976532" cy="394234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71CD6E2-5699-FAB9-FAD8-74AF1D31D879}"/>
              </a:ext>
            </a:extLst>
          </p:cNvPr>
          <p:cNvGrpSpPr/>
          <p:nvPr/>
        </p:nvGrpSpPr>
        <p:grpSpPr>
          <a:xfrm>
            <a:off x="4180921" y="382109"/>
            <a:ext cx="2766885" cy="816522"/>
            <a:chOff x="442490" y="1943007"/>
            <a:chExt cx="602538" cy="2971985"/>
          </a:xfrm>
        </p:grpSpPr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38885550-4EE8-E011-D5D6-C28705F5F47E}"/>
                </a:ext>
              </a:extLst>
            </p:cNvPr>
            <p:cNvSpPr/>
            <p:nvPr/>
          </p:nvSpPr>
          <p:spPr>
            <a:xfrm>
              <a:off x="442490" y="1943007"/>
              <a:ext cx="602538" cy="2971985"/>
            </a:xfrm>
            <a:prstGeom prst="roundRect">
              <a:avLst>
                <a:gd name="adj" fmla="val 12903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 sz="3600"/>
            </a:p>
          </p:txBody>
        </p:sp>
        <p:sp>
          <p:nvSpPr>
            <p:cNvPr id="10" name="TextBox 37">
              <a:extLst>
                <a:ext uri="{FF2B5EF4-FFF2-40B4-BE49-F238E27FC236}">
                  <a16:creationId xmlns:a16="http://schemas.microsoft.com/office/drawing/2014/main" id="{363D6DED-13A2-DFFA-E406-6BB1B845F4E2}"/>
                </a:ext>
              </a:extLst>
            </p:cNvPr>
            <p:cNvSpPr txBox="1"/>
            <p:nvPr/>
          </p:nvSpPr>
          <p:spPr>
            <a:xfrm>
              <a:off x="541878" y="2422770"/>
              <a:ext cx="457201" cy="21544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8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状态机输出</a:t>
              </a:r>
              <a:endParaRPr lang="zh-CN" sz="2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74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4701D-5549-606B-CE32-001FC91B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F271E67C-5BC8-9337-E206-D294BCF7FB80}"/>
              </a:ext>
            </a:extLst>
          </p:cNvPr>
          <p:cNvGrpSpPr/>
          <p:nvPr/>
        </p:nvGrpSpPr>
        <p:grpSpPr>
          <a:xfrm>
            <a:off x="1525589" y="2110740"/>
            <a:ext cx="9090541" cy="2636520"/>
            <a:chOff x="1390015" y="2110740"/>
            <a:chExt cx="9090541" cy="26365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78FCE20-3754-E6FF-5980-0EAB5A39694C}"/>
                </a:ext>
              </a:extLst>
            </p:cNvPr>
            <p:cNvSpPr txBox="1"/>
            <p:nvPr/>
          </p:nvSpPr>
          <p:spPr>
            <a:xfrm>
              <a:off x="5307214" y="2860962"/>
              <a:ext cx="5173342" cy="1098378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600" b="1" i="0" u="none" strike="noStrike" kern="1200" cap="none" spc="0" normalizeH="0" baseline="0" noProof="0" dirty="0">
                  <a:ln w="6350">
                    <a:noFill/>
                  </a:ln>
                  <a:solidFill>
                    <a:srgbClr val="125AB4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总结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68ABAD5-5224-C480-C5CF-72BEE35F9F09}"/>
                </a:ext>
              </a:extLst>
            </p:cNvPr>
            <p:cNvSpPr txBox="1"/>
            <p:nvPr/>
          </p:nvSpPr>
          <p:spPr>
            <a:xfrm>
              <a:off x="1390015" y="2110740"/>
              <a:ext cx="4069715" cy="2636520"/>
            </a:xfrm>
            <a:prstGeom prst="rect">
              <a:avLst/>
            </a:prstGeom>
            <a:noFill/>
            <a:effectLst/>
          </p:spPr>
          <p:txBody>
            <a:bodyPr vert="horz" wrap="square" lIns="0" tIns="45720" rIns="0" bIns="36195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600" b="0" i="0" u="none" strike="noStrike" kern="1200" cap="none" spc="0" normalizeH="0" baseline="0" noProof="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0</a:t>
              </a:r>
              <a:r>
                <a:rPr lang="en-US" altLang="zh-CN" sz="16600" dirty="0">
                  <a:ln w="6350">
                    <a:noFill/>
                  </a:ln>
                  <a:gradFill>
                    <a:gsLst>
                      <a:gs pos="0">
                        <a:srgbClr val="125AB4"/>
                      </a:gs>
                      <a:gs pos="100000">
                        <a:srgbClr val="125AB4">
                          <a:alpha val="17000"/>
                          <a:lumMod val="84000"/>
                          <a:lumOff val="16000"/>
                        </a:srgbClr>
                      </a:gs>
                    </a:gsLst>
                    <a:lin ang="5400000" scaled="0"/>
                  </a:gradFill>
                  <a:latin typeface="Calibri" panose="020F0502020204030204" pitchFamily="34" charset="0"/>
                  <a:ea typeface="宋体" panose="02010600030101010101" pitchFamily="2" charset="-122"/>
                  <a:cs typeface="思源宋体 CN Heavy" panose="02020900000000000000" charset="-122"/>
                  <a:sym typeface="+mn-ea"/>
                </a:rPr>
                <a:t>4</a:t>
              </a:r>
              <a:endParaRPr kumimoji="0" lang="zh-CN" altLang="en-US" sz="16600" b="0" i="0" u="none" strike="noStrike" kern="1200" cap="none" spc="0" normalizeH="0" baseline="0" noProof="0" dirty="0">
                <a:ln w="6350">
                  <a:noFill/>
                </a:ln>
                <a:gradFill>
                  <a:gsLst>
                    <a:gs pos="0">
                      <a:srgbClr val="125AB4"/>
                    </a:gs>
                    <a:gs pos="100000">
                      <a:srgbClr val="125AB4">
                        <a:alpha val="17000"/>
                        <a:lumMod val="84000"/>
                        <a:lumOff val="16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思源宋体 CN Heavy" panose="02020900000000000000" charset="-122"/>
                <a:sym typeface="+mn-ea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BF7D7F5-70E7-53F6-916F-2F2913500886}"/>
                </a:ext>
              </a:extLst>
            </p:cNvPr>
            <p:cNvSpPr txBox="1"/>
            <p:nvPr/>
          </p:nvSpPr>
          <p:spPr>
            <a:xfrm>
              <a:off x="2095499" y="3244850"/>
              <a:ext cx="2422527" cy="330603"/>
            </a:xfrm>
            <a:prstGeom prst="rect">
              <a:avLst/>
            </a:prstGeom>
            <a:solidFill>
              <a:schemeClr val="bg1"/>
            </a:solidFill>
            <a:effectLst>
              <a:softEdge rad="25400"/>
            </a:effectLst>
          </p:spPr>
          <p:txBody>
            <a:bodyPr wrap="square" lIns="0" tIns="45720" rIns="0" bIns="45720" rtlCol="0">
              <a:spAutoFit/>
            </a:bodyPr>
            <a:lstStyle/>
            <a:p>
              <a:pPr algn="ctr" defTabSz="914400">
                <a:lnSpc>
                  <a:spcPct val="120000"/>
                </a:lnSpc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25AB4">
                      <a:alpha val="7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思源黑体 CN Light" panose="020B0300000000000000" charset="-122"/>
                  <a:sym typeface="+mn-ea"/>
                </a:rPr>
                <a:t>Summary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C7B5BF0-D2DC-6948-2888-0F277ED297E2}"/>
                </a:ext>
              </a:extLst>
            </p:cNvPr>
            <p:cNvCxnSpPr>
              <a:cxnSpLocks/>
            </p:cNvCxnSpPr>
            <p:nvPr/>
          </p:nvCxnSpPr>
          <p:spPr>
            <a:xfrm>
              <a:off x="4937760" y="2600960"/>
              <a:ext cx="0" cy="1517650"/>
            </a:xfrm>
            <a:prstGeom prst="line">
              <a:avLst/>
            </a:prstGeom>
            <a:ln>
              <a:solidFill>
                <a:srgbClr val="125AB4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55C1674B-3CCC-E326-234C-6B6D96875C1C}"/>
                </a:ext>
              </a:extLst>
            </p:cNvPr>
            <p:cNvSpPr txBox="1"/>
            <p:nvPr/>
          </p:nvSpPr>
          <p:spPr>
            <a:xfrm>
              <a:off x="5307214" y="3632200"/>
              <a:ext cx="5055986" cy="566576"/>
            </a:xfrm>
            <a:prstGeom prst="rect">
              <a:avLst/>
            </a:prstGeom>
          </p:spPr>
          <p:txBody>
            <a:bodyPr wrap="square" tIns="0" bIns="0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>
                  <a:solidFill>
                    <a:schemeClr val="bg1">
                      <a:lumMod val="75000"/>
                    </a:schemeClr>
                  </a:solidFill>
                  <a:latin typeface="等线 Light" panose="02010600030101010101" pitchFamily="2" charset="-122"/>
                  <a:ea typeface="黑体" panose="02010609060101010101" pitchFamily="49" charset="-122"/>
                </a:defRPr>
              </a:lvl1pPr>
            </a:lstStyle>
            <a:p>
              <a:pPr>
                <a:defRPr/>
              </a:pP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sym typeface="等线 Light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536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286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8185" y="265748"/>
            <a:ext cx="3133871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AI 在复杂工程问题中的诊断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68" y="561499"/>
            <a:ext cx="36697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46E7A"/>
                </a:solidFill>
                <a:latin typeface="Segoe UI"/>
                <a:ea typeface="Microsoft YaHei"/>
                <a:cs typeface="Segoe UI"/>
              </a:rPr>
              <a:t>从遥测数据到根因定位的四层穿透 —— 以里程计漂移问题为例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71500" y="876300"/>
            <a:ext cx="7810500" cy="4229100"/>
            <a:chOff x="571500" y="876300"/>
            <a:chExt cx="7810500" cy="422910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876300"/>
              <a:ext cx="7810500" cy="857250"/>
              <a:chOff x="571500" y="876300"/>
              <a:chExt cx="7810500" cy="857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6" name="Rectangle 6"/>
              <p:cNvSpPr/>
              <p:nvPr/>
            </p:nvSpPr>
            <p:spPr>
              <a:xfrm>
                <a:off x="571500" y="876300"/>
                <a:ext cx="7810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571500" y="876300"/>
                <a:ext cx="57150" cy="857250"/>
              </a:xfrm>
              <a:prstGeom prst="roundRect">
                <a:avLst>
                  <a:gd name="adj" fmla="val 50000"/>
                </a:avLst>
              </a:prstGeom>
              <a:solidFill>
                <a:srgbClr val="C62828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0368" y="888278"/>
                <a:ext cx="69730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C62828"/>
                    </a:solidFill>
                    <a:latin typeface="Georgia"/>
                    <a:ea typeface="KaiTi"/>
                    <a:cs typeface="Georgia"/>
                  </a:rPr>
                  <a:t>数据层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78578" y="920663"/>
                <a:ext cx="1314462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546E7A"/>
                    </a:solidFill>
                    <a:latin typeface="Segoe UI"/>
                    <a:ea typeface="Microsoft YaHei"/>
                    <a:cs typeface="Segoe UI"/>
                  </a:rPr>
                  <a:t>Web 端遥测面板观察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273" y="1161646"/>
                <a:ext cx="7144585" cy="21544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真实位置 Y = 1.73m · 里程计位置 Y = 1.40m · 累积误差 = 0.332m (超出漂移检测阈值 0.2m)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88670" y="1474470"/>
                <a:ext cx="5862182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90A4AE"/>
                    </a:solidFill>
                    <a:latin typeface="Segoe UI"/>
                    <a:ea typeface="Microsoft YaHei"/>
                    <a:cs typeface="Segoe UI"/>
                  </a:rPr>
                  <a:t>AI 分析：为什么存在偏差？偏差量级 (0.332m) 远超噪声预期，说明是系统性误差而非随机抖动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4476750" y="1733550"/>
              <a:ext cx="1" cy="228600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71500" y="2000250"/>
              <a:ext cx="7810500" cy="857250"/>
              <a:chOff x="571500" y="2000250"/>
              <a:chExt cx="7810500" cy="857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14" name="Rectangle 14"/>
              <p:cNvSpPr/>
              <p:nvPr/>
            </p:nvSpPr>
            <p:spPr>
              <a:xfrm>
                <a:off x="571500" y="2000250"/>
                <a:ext cx="7810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71500" y="2000250"/>
                <a:ext cx="57150" cy="857250"/>
              </a:xfrm>
              <a:prstGeom prst="roundRect">
                <a:avLst>
                  <a:gd name="adj" fmla="val 50000"/>
                </a:avLst>
              </a:prstGeom>
              <a:solidFill>
                <a:srgbClr val="FF6F0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0368" y="2012228"/>
                <a:ext cx="69730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FF6F00"/>
                    </a:solidFill>
                    <a:latin typeface="Georgia"/>
                    <a:ea typeface="KaiTi"/>
                    <a:cs typeface="Georgia"/>
                  </a:rPr>
                  <a:t>代码层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78578" y="2044613"/>
                <a:ext cx="1819409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546E7A"/>
                    </a:solidFill>
                    <a:latin typeface="Segoe UI"/>
                    <a:ea typeface="Microsoft YaHei"/>
                    <a:cs typeface="Segoe UI"/>
                  </a:rPr>
                  <a:t>physics_loop 运动学更新定位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3785" y="2204776"/>
                <a:ext cx="7562577" cy="43088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x += vx×cos(theta)×dt · y += vx×sin(theta)×dt (真实物理) vs ox += vx×cos(theta)×dt + noise (里程计独立积分)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72342" y="2633798"/>
                <a:ext cx="6264535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FF6F00"/>
                    </a:solidFill>
                    <a:latin typeface="Segoe UI"/>
                    <a:ea typeface="Microsoft YaHei"/>
                    <a:cs typeface="Segoe UI"/>
                  </a:rPr>
                  <a:t>AI 定位：x/y 与 ox/oy 是两条完全独立的积分路径！没有任何机制将里程计约束到真实物理位置附近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4476750" y="2857500"/>
              <a:ext cx="1" cy="228600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3124200"/>
              <a:ext cx="7810500" cy="857250"/>
              <a:chOff x="571500" y="3124200"/>
              <a:chExt cx="7810500" cy="857250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22" name="Rectangle 22"/>
              <p:cNvSpPr/>
              <p:nvPr/>
            </p:nvSpPr>
            <p:spPr>
              <a:xfrm>
                <a:off x="571500" y="3124200"/>
                <a:ext cx="7810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71500" y="3124200"/>
                <a:ext cx="57150" cy="8572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0368" y="3136178"/>
                <a:ext cx="69730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565C0"/>
                    </a:solidFill>
                    <a:latin typeface="Georgia"/>
                    <a:ea typeface="KaiTi"/>
                    <a:cs typeface="Georgia"/>
                  </a:rPr>
                  <a:t>交互层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78578" y="3168563"/>
                <a:ext cx="1837041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546E7A"/>
                    </a:solidFill>
                    <a:latin typeface="Segoe UI"/>
                    <a:ea typeface="Microsoft YaHei"/>
                    <a:cs typeface="Segoe UI"/>
                  </a:rPr>
                  <a:t>resolve_collision() 碰撞执行时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39006" y="3352404"/>
                <a:ext cx="7426506" cy="43088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resolve_collision() → 修正 x,y (反弹到安全位置) · 修正 vx,vy (速度反向×恢复系数) · ox,oy </a:t>
                </a:r>
                <a:endParaRPr lang="en-US" altLang="zh-CN" sz="1400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endParaRPr>
              </a:p>
              <a:p>
                <a:pPr algn="l"/>
                <a:r>
                  <a:rPr lang="zh-CN" sz="1400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→ 完全不被触碰！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9006" y="3767405"/>
                <a:ext cx="6524222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AI 定位：碰撞只修正"真实"，噪声积分继续漂移"里程计"——两条路径的偏差在每次碰撞后反而加速扩大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4476750" y="3981450"/>
              <a:ext cx="1" cy="228600"/>
            </a:xfrm>
            <a:prstGeom prst="line">
              <a:avLst/>
            </a:prstGeom>
            <a:noFill/>
            <a:ln w="23812">
              <a:solidFill>
                <a:srgbClr val="1565C0"/>
              </a:solidFill>
              <a:tailEnd type="triangle" w="lg" len="lg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71500" y="4219308"/>
              <a:ext cx="7810500" cy="886092"/>
              <a:chOff x="571500" y="4219308"/>
              <a:chExt cx="7810500" cy="886092"/>
            </a:xfrm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71500" y="4248150"/>
                <a:ext cx="7810500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19050">
                <a:solidFill>
                  <a:srgbClr val="2E7D32"/>
                </a:solidFill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71500" y="4248150"/>
                <a:ext cx="57150" cy="8572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0368" y="4219308"/>
                <a:ext cx="69730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2E7D32"/>
                    </a:solidFill>
                    <a:latin typeface="Georgia"/>
                    <a:ea typeface="KaiTi"/>
                    <a:cs typeface="Georgia"/>
                  </a:rPr>
                  <a:t>修复层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78578" y="4292513"/>
                <a:ext cx="730969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546E7A"/>
                    </a:solidFill>
                    <a:latin typeface="Segoe UI"/>
                    <a:ea typeface="Microsoft YaHei"/>
                    <a:cs typeface="Segoe UI"/>
                  </a:rPr>
                  <a:t>AI 方案实施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2277" y="4484370"/>
                <a:ext cx="7321634" cy="43088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 latinLnBrk="1"/>
                <a:r>
                  <a:rPr lang="zh-CN" sz="1400" dirty="0">
                    <a:solidFill>
                      <a:srgbClr val="263238"/>
                    </a:solidFill>
                    <a:latin typeface="Segoe UI"/>
                    <a:ea typeface="Microsoft YaHei"/>
                    <a:cs typeface="Segoe UI"/>
                  </a:rPr>
                  <a:t>1. 碰撞时强制同步 ox=x, oy=y · 2. freeze_odom=30 帧暂停噪声 · 3. 漂移&gt;0.2m→/pose_drift→StateManager · 4. reset_pose_and_slam()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8185" y="4904375"/>
                <a:ext cx="6126677" cy="169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F172A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2E7D32"/>
                    </a:solidFill>
                    <a:latin typeface="Segoe UI"/>
                    <a:ea typeface="Microsoft YaHei"/>
                    <a:cs typeface="Segoe UI"/>
                  </a:rPr>
                  <a:t>AI 方案覆盖了三个时间尺度：碰撞瞬间(同步) → 碰撞后0.5秒(冻结) → 持续运行(漂移监控+重定位)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8792936" y="876300"/>
            <a:ext cx="3048000" cy="4229100"/>
            <a:chOff x="8572500" y="876300"/>
            <a:chExt cx="3048000" cy="4229100"/>
          </a:xfrm>
        </p:grpSpPr>
        <p:sp>
          <p:nvSpPr>
            <p:cNvPr id="38" name="Rectangle 38"/>
            <p:cNvSpPr/>
            <p:nvPr/>
          </p:nvSpPr>
          <p:spPr>
            <a:xfrm>
              <a:off x="8572500" y="876300"/>
              <a:ext cx="3048000" cy="4229100"/>
            </a:xfrm>
            <a:prstGeom prst="roundRect">
              <a:avLst>
                <a:gd name="adj" fmla="val 3750"/>
              </a:avLst>
            </a:prstGeom>
            <a:solidFill>
              <a:srgbClr val="ECEFF1">
                <a:alpha val="50000"/>
              </a:srgbClr>
            </a:solidFill>
            <a:ln w="9525">
              <a:solidFill>
                <a:srgbClr val="CFD8DC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4661" y="1100614"/>
              <a:ext cx="196367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0D47A1"/>
                  </a:solidFill>
                  <a:latin typeface="Georgia"/>
                  <a:ea typeface="KaiTi"/>
                  <a:cs typeface="Georgia"/>
                </a:rPr>
                <a:t>AI 工程价值四维度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63000" y="1476375"/>
              <a:ext cx="2667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37427" y="160115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快速定位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91180" y="1826895"/>
              <a:ext cx="141064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在海量代码中精确定位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50301" y="1998345"/>
              <a:ext cx="149239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"ox/oy 独立积分"这一行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63000" y="2362200"/>
              <a:ext cx="2667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37427" y="2486978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因果分析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6139" y="2712720"/>
              <a:ext cx="124072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解释"碰撞后漂移"的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04993" y="2884170"/>
              <a:ext cx="1183017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物理/代码双重原因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63000" y="3248025"/>
              <a:ext cx="2667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37427" y="3372802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方案建议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61949" y="3598545"/>
              <a:ext cx="186910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给出 freeze_odom + 漂移检测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19657" y="3769995"/>
              <a:ext cx="1753686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+ StateManager 的完整方案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763000" y="4133850"/>
              <a:ext cx="2667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37427" y="4258628"/>
              <a:ext cx="7181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知识弥补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38893" y="4484370"/>
              <a:ext cx="171521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补充 WSL2 网络、QoS 配置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20" y="4655820"/>
              <a:ext cx="1687963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ROS 2 生命周期等冷门知识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C48970-8A2D-52E3-213E-66A7DA4755FE}"/>
              </a:ext>
            </a:extLst>
          </p:cNvPr>
          <p:cNvGrpSpPr/>
          <p:nvPr/>
        </p:nvGrpSpPr>
        <p:grpSpPr>
          <a:xfrm>
            <a:off x="571500" y="5569923"/>
            <a:ext cx="11049000" cy="726578"/>
            <a:chOff x="571500" y="5569923"/>
            <a:chExt cx="11049000" cy="726578"/>
          </a:xfrm>
        </p:grpSpPr>
        <p:sp>
          <p:nvSpPr>
            <p:cNvPr id="57" name="Rectangle 57"/>
            <p:cNvSpPr/>
            <p:nvPr/>
          </p:nvSpPr>
          <p:spPr>
            <a:xfrm>
              <a:off x="571500" y="5569923"/>
              <a:ext cx="11049000" cy="726578"/>
            </a:xfrm>
            <a:prstGeom prst="roundRect">
              <a:avLst>
                <a:gd name="adj" fmla="val 20833"/>
              </a:avLst>
            </a:prstGeom>
            <a:solidFill>
              <a:srgbClr val="1565C0">
                <a:alpha val="6000"/>
              </a:srgbClr>
            </a:solidFill>
            <a:ln w="9525">
              <a:solidFill>
                <a:srgbClr val="1565C0"/>
              </a:solidFill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0819" y="5659458"/>
              <a:ext cx="102303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0D47A1"/>
                  </a:solidFill>
                  <a:latin typeface="Georgia"/>
                  <a:ea typeface="KaiTi"/>
                  <a:cs typeface="Georgia"/>
                </a:rPr>
                <a:t>分层排查法：网络 → 传输 → 协议 → 中间件 → 算法，每层独立验证，先确认下层无问题再排查上层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351387" y="5960949"/>
              <a:ext cx="748923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90% 的"算法 bug"实际上是下层配置错误 · AI 擅长"这个错误属于哪一层、为什么"的结构化推断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286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49555"/>
            <a:ext cx="74483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Embodied-SimLite vs Gazebo —— 教学场景下的选型思考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685800"/>
            <a:ext cx="11049000" cy="2788444"/>
            <a:chOff x="571500" y="685800"/>
            <a:chExt cx="11049000" cy="2788444"/>
          </a:xfrm>
        </p:grpSpPr>
        <p:sp>
          <p:nvSpPr>
            <p:cNvPr id="5" name="Rectangle 5"/>
            <p:cNvSpPr/>
            <p:nvPr/>
          </p:nvSpPr>
          <p:spPr>
            <a:xfrm>
              <a:off x="571500" y="685800"/>
              <a:ext cx="1905000" cy="342900"/>
            </a:xfrm>
            <a:prstGeom prst="roundRect">
              <a:avLst>
                <a:gd name="adj" fmla="val 11111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75100" y="8091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维度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476500" y="685800"/>
              <a:ext cx="4381500" cy="342900"/>
            </a:xfrm>
            <a:prstGeom prst="roundRect">
              <a:avLst>
                <a:gd name="adj" fmla="val 11111"/>
              </a:avLst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72620" y="809149"/>
              <a:ext cx="7892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Gazebo 方案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0" y="685800"/>
              <a:ext cx="4762500" cy="342900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E8F5E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5069" y="809149"/>
              <a:ext cx="16083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Embodied-SimLite · 提升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06680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04354" y="1142524"/>
              <a:ext cx="2392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RTF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3856" y="1142524"/>
              <a:ext cx="206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10%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25167" y="1142524"/>
              <a:ext cx="10281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~100% · 10× 提升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1333500"/>
              <a:ext cx="11049000" cy="2667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4835" y="140922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GPU 利用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00573" y="1409224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0% (纯 CPU)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6740" y="1409224"/>
              <a:ext cx="1465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浏览器 WebGL 硬件加速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160020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1585" y="16759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内存占用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2347" y="1675924"/>
              <a:ext cx="3498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&gt;8 GB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5645" y="1675924"/>
              <a:ext cx="9872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~2 GB · 4× 降低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1866900"/>
              <a:ext cx="11049000" cy="2667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1585" y="19426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部署门槛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40541" y="194262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完整 ROS 2 + Gazebo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34043" y="1942624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仅需浏览器 · 秒级接入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213360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51585" y="22093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启动时间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8085" y="220932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3-5 分钟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77386" y="2209324"/>
              <a:ext cx="1123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3-5 秒 · 60× 加速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2400300"/>
              <a:ext cx="11049000" cy="2667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6577" y="24760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物理保真度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0806" y="24760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高 (ODE/Bullet)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2259" y="2476024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中 (AABB+运动学) · 教学够用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266700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86577" y="27427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传感器仿真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93310" y="2742724"/>
              <a:ext cx="947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6F00"/>
                  </a:solidFill>
                  <a:latin typeface="Segoe UI"/>
                  <a:ea typeface="Microsoft YaHei"/>
                  <a:cs typeface="Segoe UI"/>
                </a:rPr>
                <a:t>插件式(需编译)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00939" y="2742724"/>
              <a:ext cx="1676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Web Worker 模拟 · 零配置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1500" y="2933700"/>
              <a:ext cx="11049000" cy="2667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6593" y="3009424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跨平台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55830" y="30094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仅 Ubuntu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0771" y="3009424"/>
              <a:ext cx="19769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Windows/macOS/Linux/移动端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320040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76826" y="3276124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AI 开发效率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94835" y="32761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传统开发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2512" y="3276124"/>
              <a:ext cx="21134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LLM 全栈结对编程 · 周期极大缩短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54355" y="37595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Georgia"/>
                <a:ea typeface="KaiTi"/>
                <a:cs typeface="Georgia"/>
              </a:rPr>
              <a:t>适用场景矩阵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4095750"/>
            <a:ext cx="5334000" cy="1876425"/>
            <a:chOff x="571500" y="4095750"/>
            <a:chExt cx="5334000" cy="1876425"/>
          </a:xfrm>
        </p:grpSpPr>
        <p:sp>
          <p:nvSpPr>
            <p:cNvPr id="49" name="Rectangle 49"/>
            <p:cNvSpPr/>
            <p:nvPr/>
          </p:nvSpPr>
          <p:spPr>
            <a:xfrm>
              <a:off x="571500" y="4095750"/>
              <a:ext cx="1714500" cy="285750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6276" y="4198620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部署便捷度 →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86000" y="4095750"/>
              <a:ext cx="1714500" cy="285750"/>
            </a:xfrm>
            <a:prstGeom prst="rect">
              <a:avLst/>
            </a:prstGeom>
            <a:solidFill>
              <a:srgbClr val="ECEFF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10982" y="4206716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↑ 物理保真度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86000" y="4381500"/>
              <a:ext cx="3619500" cy="857250"/>
            </a:xfrm>
            <a:prstGeom prst="roundRect">
              <a:avLst>
                <a:gd name="adj" fmla="val 8889"/>
              </a:avLst>
            </a:prstGeom>
            <a:solidFill>
              <a:srgbClr val="FFEBEE"/>
            </a:solidFill>
            <a:ln w="9525">
              <a:solidFill>
                <a:srgbClr val="EF9A9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84438" y="4545806"/>
              <a:ext cx="1422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KaiTi"/>
                  <a:cs typeface="Georgia"/>
                </a:rPr>
                <a:t>Gazebo / Isaac Sim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60205" y="4779645"/>
              <a:ext cx="1871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高保真 · 重部署 · 低 RTF · 高门槛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43667" y="4978241"/>
              <a:ext cx="17041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工程级仿真 · 自动驾驶 · 工业验证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" y="4381500"/>
              <a:ext cx="1714500" cy="857250"/>
            </a:xfrm>
            <a:prstGeom prst="roundRect">
              <a:avLst>
                <a:gd name="adj" fmla="val 8889"/>
              </a:avLst>
            </a:prstGeom>
            <a:solidFill>
              <a:srgbClr val="E3F2FD"/>
            </a:solidFill>
            <a:ln w="9525">
              <a:solidFill>
                <a:srgbClr val="90CAF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7869" y="47444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Georgia"/>
                  <a:ea typeface="KaiTi"/>
                  <a:cs typeface="Georgia"/>
                </a:rPr>
                <a:t>传统 ROS 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98245" y="495919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中等保真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1500" y="5429250"/>
              <a:ext cx="5334000" cy="523875"/>
            </a:xfrm>
            <a:prstGeom prst="roundRect">
              <a:avLst>
                <a:gd name="adj" fmla="val 14545"/>
              </a:avLst>
            </a:prstGeom>
            <a:solidFill>
              <a:srgbClr val="E8F5E9"/>
            </a:solidFill>
            <a:ln w="19050">
              <a:solidFill>
                <a:srgbClr val="2E7D3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22730" y="5550218"/>
              <a:ext cx="1631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7D32"/>
                  </a:solidFill>
                  <a:latin typeface="Georgia"/>
                  <a:ea typeface="KaiTi"/>
                  <a:cs typeface="Georgia"/>
                </a:rPr>
                <a:t>Embodied-SimLite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573863" y="5789295"/>
              <a:ext cx="33292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低保真 · 零部署 · 高 RTF · 低门槛 — 教学验证场景的最佳选择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286500" y="4381500"/>
            <a:ext cx="5334000" cy="1181100"/>
            <a:chOff x="6286500" y="4381500"/>
            <a:chExt cx="5334000" cy="1181100"/>
          </a:xfrm>
        </p:grpSpPr>
        <p:sp>
          <p:nvSpPr>
            <p:cNvPr id="64" name="Rectangle 64"/>
            <p:cNvSpPr/>
            <p:nvPr/>
          </p:nvSpPr>
          <p:spPr>
            <a:xfrm>
              <a:off x="6286500" y="4381500"/>
              <a:ext cx="5334000" cy="523875"/>
            </a:xfrm>
            <a:prstGeom prst="roundRect">
              <a:avLst>
                <a:gd name="adj" fmla="val 18182"/>
              </a:avLst>
            </a:prstGeom>
            <a:solidFill>
              <a:srgbClr val="1565C0">
                <a:alpha val="6000"/>
              </a:srgbClr>
            </a:solidFill>
            <a:ln w="9525">
              <a:solidFill>
                <a:srgbClr val="1565C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4232" y="4510564"/>
              <a:ext cx="36385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D47A1"/>
                  </a:solidFill>
                  <a:latin typeface="Georgia"/>
                  <a:ea typeface="KaiTi"/>
                  <a:cs typeface="Georgia"/>
                </a:rPr>
                <a:t>教学场景需要"够用的仿真"而非"精确的仿真"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92776" y="4732020"/>
              <a:ext cx="4721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一个能让学生 3 分钟上手、反复试错的平台，远比一个精确但跑不动的平台更有教学价值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86500" y="5029200"/>
              <a:ext cx="5334000" cy="523875"/>
            </a:xfrm>
            <a:prstGeom prst="roundRect">
              <a:avLst>
                <a:gd name="adj" fmla="val 18182"/>
              </a:avLst>
            </a:prstGeom>
            <a:solidFill>
              <a:srgbClr val="FF6F00">
                <a:alpha val="6000"/>
              </a:srgbClr>
            </a:solidFill>
            <a:ln w="9525">
              <a:solidFill>
                <a:srgbClr val="FF6F0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89754" y="5166360"/>
              <a:ext cx="17274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6F00"/>
                  </a:solidFill>
                  <a:latin typeface="Georgia"/>
                  <a:ea typeface="KaiTi"/>
                  <a:cs typeface="Georgia"/>
                </a:rPr>
                <a:t>"可用性优先于保真度"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7763" y="5379720"/>
              <a:ext cx="49314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选对工具比优化工具更重要 · Embodied-SimLite 用可接受的精度损失换来了 10× 可用性提升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296483" y="655939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571500" y="2286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16280" y="249555"/>
            <a:ext cx="123751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工程</a:t>
            </a:r>
            <a:r>
              <a:rPr lang="zh-CN" altLang="en-US" sz="2400" b="1" dirty="0">
                <a:solidFill>
                  <a:srgbClr val="263238"/>
                </a:solidFill>
                <a:latin typeface="Georgia"/>
                <a:ea typeface="KaiTi"/>
                <a:cs typeface="Georgia"/>
              </a:rPr>
              <a:t>总结</a:t>
            </a:r>
            <a:endParaRPr lang="zh-CN" sz="2400" b="1" dirty="0">
              <a:solidFill>
                <a:srgbClr val="263238"/>
              </a:solidFill>
              <a:latin typeface="Georgia"/>
              <a:ea typeface="KaiTi"/>
              <a:cs typeface="Georgia"/>
            </a:endParaRPr>
          </a:p>
        </p:txBody>
      </p:sp>
      <p:sp>
        <p:nvSpPr>
          <p:cNvPr id="6" name="Line 6"/>
          <p:cNvSpPr/>
          <p:nvPr/>
        </p:nvSpPr>
        <p:spPr>
          <a:xfrm>
            <a:off x="1333500" y="952500"/>
            <a:ext cx="45719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38100" cap="rnd">
            <a:gradFill>
              <a:gsLst>
                <a:gs pos="0">
                  <a:srgbClr val="1565C0"/>
                </a:gs>
                <a:gs pos="30000">
                  <a:srgbClr val="FF6F00"/>
                </a:gs>
                <a:gs pos="65000">
                  <a:srgbClr val="2E7D32"/>
                </a:gs>
                <a:gs pos="100000">
                  <a:srgbClr val="0D47A1"/>
                </a:gs>
              </a:gsLst>
              <a:lin ang="5400000" scaled="1"/>
            </a:gradFill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Ellipse 7"/>
          <p:cNvSpPr/>
          <p:nvPr/>
        </p:nvSpPr>
        <p:spPr>
          <a:xfrm>
            <a:off x="1104900" y="1104900"/>
            <a:ext cx="467122" cy="457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" name="TextBox 8"/>
          <p:cNvSpPr txBox="1"/>
          <p:nvPr/>
        </p:nvSpPr>
        <p:spPr>
          <a:xfrm>
            <a:off x="1258159" y="1166426"/>
            <a:ext cx="116284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09750" y="1066800"/>
            <a:ext cx="10023662" cy="781050"/>
            <a:chOff x="1809750" y="1066800"/>
            <a:chExt cx="9810750" cy="78105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809750" y="1066800"/>
              <a:ext cx="981075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8355" y="1187768"/>
              <a:ext cx="1933222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565C0"/>
                  </a:solidFill>
                  <a:latin typeface="Georgia"/>
                  <a:ea typeface="KaiTi"/>
                  <a:cs typeface="Georgia"/>
                </a:rPr>
                <a:t>WSL2 的隐性成本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8668" y="1202222"/>
              <a:ext cx="3228448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"不可预期的失效比明确的不支持更糟糕"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3118" y="1466374"/>
              <a:ext cx="7679988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GPU 桥接 (GPU-PV) 在特定版本组合下不可预期地失效。对教学场景，"不知道下次更新后能否继续工作"比"不支持"更致命。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4070" y="1664970"/>
              <a:ext cx="639758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教训：引入中间层（硬件虚拟化）必须评估故障模式 · 任何"不可预期的失效"都比"明确的不支持"更糟糕</a:t>
              </a:r>
            </a:p>
          </p:txBody>
        </p:sp>
      </p:grpSp>
      <p:sp>
        <p:nvSpPr>
          <p:cNvPr id="15" name="Ellipse 15"/>
          <p:cNvSpPr/>
          <p:nvPr/>
        </p:nvSpPr>
        <p:spPr>
          <a:xfrm>
            <a:off x="1104900" y="2171700"/>
            <a:ext cx="467122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" name="TextBox 16"/>
          <p:cNvSpPr txBox="1"/>
          <p:nvPr/>
        </p:nvSpPr>
        <p:spPr>
          <a:xfrm>
            <a:off x="1243460" y="2247126"/>
            <a:ext cx="14740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809750" y="2133600"/>
            <a:ext cx="10023662" cy="781050"/>
            <a:chOff x="1809750" y="2133600"/>
            <a:chExt cx="9810750" cy="78105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809750" y="2133600"/>
              <a:ext cx="981075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8355" y="2254568"/>
              <a:ext cx="2459006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FF6F00"/>
                  </a:solidFill>
                  <a:latin typeface="Georgia"/>
                  <a:ea typeface="KaiTi"/>
                  <a:cs typeface="Georgia"/>
                </a:rPr>
                <a:t>Web 技术栈的适用边界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33704" y="2286952"/>
              <a:ext cx="2330766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"选对工具比优化工具更重要"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3118" y="2533174"/>
              <a:ext cx="8933536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可以做：2D 激光 SLAM、Nav2 路径规划验证、DWA 参数调优、教学概念验证。不能做：3D 点云仿真、精确接触力/摩擦力、工业级回环检测。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4070" y="2731770"/>
              <a:ext cx="3609963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教训：教学场景需要的是"够用的仿真"，不是"精确的仿真"</a:t>
              </a:r>
            </a:p>
          </p:txBody>
        </p:sp>
      </p:grpSp>
      <p:sp>
        <p:nvSpPr>
          <p:cNvPr id="23" name="Ellipse 23"/>
          <p:cNvSpPr/>
          <p:nvPr/>
        </p:nvSpPr>
        <p:spPr>
          <a:xfrm>
            <a:off x="1104900" y="3238500"/>
            <a:ext cx="467122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4" name="TextBox 24"/>
          <p:cNvSpPr txBox="1"/>
          <p:nvPr/>
        </p:nvSpPr>
        <p:spPr>
          <a:xfrm>
            <a:off x="1261365" y="3304615"/>
            <a:ext cx="14740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3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809750" y="3200400"/>
            <a:ext cx="10023662" cy="781050"/>
            <a:chOff x="1809750" y="3200400"/>
            <a:chExt cx="9810750" cy="78105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5" name="Rectangle 25"/>
            <p:cNvSpPr/>
            <p:nvPr/>
          </p:nvSpPr>
          <p:spPr>
            <a:xfrm>
              <a:off x="1809750" y="3200400"/>
              <a:ext cx="981075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78355" y="3321368"/>
              <a:ext cx="1239473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2E7D32"/>
                  </a:solidFill>
                  <a:latin typeface="Georgia"/>
                  <a:ea typeface="KaiTi"/>
                  <a:cs typeface="Georgia"/>
                </a:rPr>
                <a:t>AI 辅助调试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96871" y="3326702"/>
              <a:ext cx="5325176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"分层排查：网络 → 传输 → 协议 → 中间件 → 算法，每层独立验证"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83118" y="3599974"/>
              <a:ext cx="9069791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AI 不是"自动修复 bug 的机器"，而是"快速定位根因的协作伙伴"。最佳模式：先给现象再给假设 → 分层分类推断 → 方案对比 → 人力做最终选择。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84070" y="3798570"/>
              <a:ext cx="6373540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546E7A"/>
                  </a:solidFill>
                  <a:latin typeface="Segoe UI"/>
                  <a:ea typeface="Microsoft YaHei"/>
                  <a:cs typeface="Segoe UI"/>
                </a:rPr>
                <a:t>教训：AI 能极大缩短"看到现象 → 定位根因"的路径，但不能替代"判断哪个方案在工程上更合理"的经验</a:t>
              </a:r>
            </a:p>
          </p:txBody>
        </p:sp>
      </p:grpSp>
      <p:sp>
        <p:nvSpPr>
          <p:cNvPr id="31" name="Ellipse 31"/>
          <p:cNvSpPr/>
          <p:nvPr/>
        </p:nvSpPr>
        <p:spPr>
          <a:xfrm>
            <a:off x="1104900" y="4305300"/>
            <a:ext cx="467122" cy="45720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TextBox 32"/>
          <p:cNvSpPr txBox="1"/>
          <p:nvPr/>
        </p:nvSpPr>
        <p:spPr>
          <a:xfrm>
            <a:off x="1252573" y="4362450"/>
            <a:ext cx="15395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4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809750" y="4267200"/>
            <a:ext cx="10023662" cy="781050"/>
            <a:chOff x="1809750" y="4267200"/>
            <a:chExt cx="9810750" cy="781050"/>
          </a:xfrm>
          <a:effectLst>
            <a:outerShdw blurRad="5715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3" name="Rectangle 33"/>
            <p:cNvSpPr/>
            <p:nvPr/>
          </p:nvSpPr>
          <p:spPr>
            <a:xfrm>
              <a:off x="1809750" y="4267200"/>
              <a:ext cx="981075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78355" y="4388168"/>
              <a:ext cx="2091919" cy="27699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D47A1"/>
                  </a:solidFill>
                  <a:latin typeface="Georgia"/>
                  <a:ea typeface="KaiTi"/>
                  <a:cs typeface="Georgia"/>
                </a:rPr>
                <a:t>可用性优先于保真度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4971" y="4409711"/>
              <a:ext cx="4725589" cy="21544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63238"/>
                  </a:solidFill>
                  <a:latin typeface="Segoe UI"/>
                  <a:ea typeface="Microsoft YaHei"/>
                  <a:cs typeface="Segoe UI"/>
                </a:rPr>
                <a:t>"让学生在学 SLAM 中学 SLAM，而非在配环境中学配环境"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83118" y="4666774"/>
              <a:ext cx="8764175" cy="16927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这是贯穿整个项目的第一性原理。传统的 Gazebo + ROS2 路径让学生“在配环境中学配环境”；Embodied-SimLite </a:t>
              </a:r>
              <a:r>
                <a:rPr lang="zh-CN" altLang="en-US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让我们</a:t>
              </a:r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真正学 SLAM</a:t>
              </a:r>
              <a:r>
                <a:rPr lang="zh-CN" altLang="en-US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和</a:t>
              </a:r>
              <a:r>
                <a:rPr lang="en-US" alt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Nav2</a:t>
              </a:r>
              <a:r>
                <a:rPr lang="zh-CN" sz="1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542925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26323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3503953" y="5588318"/>
            <a:ext cx="5184111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Embodied-SimLite </a:t>
            </a:r>
            <a:r>
              <a:rPr lang="zh-CN" altLang="en-US" sz="13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的</a:t>
            </a:r>
            <a:r>
              <a:rPr lang="zh-CN" sz="13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“可用性提升”</a:t>
            </a:r>
            <a:r>
              <a:rPr lang="zh-CN" altLang="en-US" sz="13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，跟专注于学习知识和算法</a:t>
            </a:r>
            <a:endParaRPr lang="zh-CN" sz="1350" b="1" dirty="0">
              <a:solidFill>
                <a:srgbClr val="FFFFFF"/>
              </a:solidFill>
              <a:latin typeface="Georgia"/>
              <a:ea typeface="KaiTi"/>
              <a:cs typeface="Georgia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483" y="655939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8477250" y="190500"/>
            <a:ext cx="3048000" cy="3048000"/>
            <a:chOff x="8477250" y="190500"/>
            <a:chExt cx="3048000" cy="3048000"/>
          </a:xfrm>
        </p:grpSpPr>
        <p:sp>
          <p:nvSpPr>
            <p:cNvPr id="13" name="Ellipse 13"/>
            <p:cNvSpPr/>
            <p:nvPr/>
          </p:nvSpPr>
          <p:spPr>
            <a:xfrm>
              <a:off x="9048750" y="7620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1565C0"/>
              </a:solidFill>
              <a:custDash>
                <a:ds d="300000" sp="800000"/>
              </a:custDash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8477250" y="190500"/>
              <a:ext cx="3048000" cy="3048000"/>
            </a:xfrm>
            <a:prstGeom prst="ellipse">
              <a:avLst/>
            </a:prstGeom>
            <a:noFill/>
            <a:ln w="4762">
              <a:solidFill>
                <a:srgbClr val="0D47A1"/>
              </a:solidFill>
              <a:custDash>
                <a:ds d="400000" sp="2000000"/>
              </a:custDash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50598" y="2084070"/>
            <a:ext cx="369080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gradFill>
                  <a:gsLst>
                    <a:gs pos="0">
                      <a:srgbClr val="1565C0"/>
                    </a:gs>
                    <a:gs pos="100000">
                      <a:srgbClr val="0D47A1"/>
                    </a:gs>
                  </a:gsLst>
                  <a:lin ang="2700000" scaled="1"/>
                </a:gradFill>
                <a:latin typeface="Georgia"/>
                <a:ea typeface="KaiTi"/>
                <a:cs typeface="Georgia"/>
              </a:rPr>
              <a:t>Thank You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810000" y="295275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D47A1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4062889" y="3329940"/>
            <a:ext cx="40662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具身智能仿真平台 Embodied-SimLite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95927" y="3775710"/>
            <a:ext cx="240014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用 Web 技术栈定义机器人仿真教学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762250" y="4286250"/>
            <a:ext cx="6477000" cy="304800"/>
            <a:chOff x="2762250" y="4286250"/>
            <a:chExt cx="6477000" cy="304800"/>
          </a:xfrm>
        </p:grpSpPr>
        <p:sp>
          <p:nvSpPr>
            <p:cNvPr id="20" name="Rectangle 20"/>
            <p:cNvSpPr/>
            <p:nvPr/>
          </p:nvSpPr>
          <p:spPr>
            <a:xfrm>
              <a:off x="2762250" y="42862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8095" y="4381024"/>
              <a:ext cx="591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Web 仿真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95750" y="42862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3575" y="438102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ROS 2 桥接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9250" y="42862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7552" y="4381024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SLAM 建图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762750" y="42862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14704" y="4381024"/>
              <a:ext cx="639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Nav2 导航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96250" y="428625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3836" y="4381024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AI 赋能开发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917246" y="4904779"/>
            <a:ext cx="6357511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200" dirty="0">
                <a:solidFill>
                  <a:srgbClr val="125AB4"/>
                </a:solidFill>
                <a:latin typeface="Segoe UI"/>
                <a:ea typeface="Microsoft YaHei"/>
                <a:cs typeface="Segoe UI"/>
              </a:rPr>
              <a:t>嵌入式综合设计 II · 期末答辩 · 2026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1022" y="6559391"/>
            <a:ext cx="1517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Embodied-SimLite · 期末答辩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96483" y="6559391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A704C0-DE6B-13BC-2017-0636B3B38309}"/>
              </a:ext>
            </a:extLst>
          </p:cNvPr>
          <p:cNvSpPr txBox="1"/>
          <p:nvPr/>
        </p:nvSpPr>
        <p:spPr>
          <a:xfrm>
            <a:off x="2917246" y="5523547"/>
            <a:ext cx="8379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25A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汇报小组：组长：沈星宇</a:t>
            </a:r>
            <a:endParaRPr lang="en-US" altLang="zh-CN" dirty="0">
              <a:solidFill>
                <a:srgbClr val="125AB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125A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125A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lang="zh-CN" altLang="en-US" dirty="0">
                <a:solidFill>
                  <a:srgbClr val="125AB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组员：邓皓舰、管嘉怡、李睿、青煜恒、周思彤（按首字母）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6881</Words>
  <Application>Microsoft Office PowerPoint</Application>
  <PresentationFormat>宽屏</PresentationFormat>
  <Paragraphs>631</Paragraphs>
  <Slides>28</Slides>
  <Notes>23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楷体</vt:lpstr>
      <vt:lpstr>微软雅黑</vt:lpstr>
      <vt:lpstr>Arial</vt:lpstr>
      <vt:lpstr>Calibri</vt:lpstr>
      <vt:lpstr>Consolas</vt:lpstr>
      <vt:lpstr>Georgia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L</cp:lastModifiedBy>
  <cp:revision>18</cp:revision>
  <dcterms:created xsi:type="dcterms:W3CDTF">2013-01-27T09:14:16Z</dcterms:created>
  <dcterms:modified xsi:type="dcterms:W3CDTF">2026-06-05T06:35:28Z</dcterms:modified>
  <cp:category/>
</cp:coreProperties>
</file>