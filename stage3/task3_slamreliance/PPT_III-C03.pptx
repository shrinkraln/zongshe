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0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7" y="566928"/>
            <a:ext cx="146304" cy="146304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" y="566928"/>
            <a:ext cx="146304" cy="146304"/>
          </a:xfrm>
          <a:prstGeom prst="ellipse">
            <a:avLst/>
          </a:prstGeom>
          <a:solidFill>
            <a:srgbClr val="9B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475488"/>
            <a:ext cx="10058400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 spc="15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进阶式挑战性综合项目 III ｜ 具身智能系统集成与审计（Physical AI）</a:t>
            </a:r>
            <a:endParaRPr sz="1300" b="0" i="0" spc="15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实车SLAM建图与定位可信度实验</a:t>
            </a:r>
            <a:endParaRPr sz="40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91672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1">
                <a:solidFill>
                  <a:srgbClr val="E8A33D"/>
                </a:solidFill>
                <a:latin typeface="Microsoft YaHei"/>
                <a:ea typeface="Microsoft YaHei"/>
                <a:cs typeface="Microsoft YaHei"/>
              </a:rPr>
              <a:t>系统报告“我知道我在哪”，依据是什么？地图质量良好是否等于定位可信？如何量化可信程度，并写出“在哪里不可信”？</a:t>
            </a:r>
            <a:endParaRPr sz="1800" b="0" i="1">
              <a:solidFill>
                <a:srgbClr val="E8A33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94360" y="3566160"/>
            <a:ext cx="10972800" cy="0"/>
          </a:xfrm>
          <a:prstGeom prst="line">
            <a:avLst/>
          </a:prstGeom>
          <a:ln w="12700">
            <a:solidFill>
              <a:srgbClr val="8CA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3730752"/>
            <a:ext cx="11091672" cy="6217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第3课｜任务二（实车SLAM与自主导航部署）第①课｜交付：地图两件套与真值图对照 · 《定位误差统计表》 · TF树诊断报告 · 《定位不可信区域图》 · 参数迁移说明</a:t>
            </a:r>
            <a:endParaRPr sz="1500" b="0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1091672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4学时 · 约180分钟｜工程原理与具身纵深 30 · 系统机制 14 · 建图/互评/采样 78 · 课堂验证与数据解读 30 · 验收与收束 10</a:t>
            </a:r>
            <a:endParaRPr sz="130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4360" y="513892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5047488"/>
            <a:ext cx="18288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S1 本体构建</a:t>
            </a:r>
            <a:endParaRPr sz="135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5047488"/>
            <a:ext cx="3657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35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43200" y="5138928"/>
            <a:ext cx="128016" cy="128016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5047488"/>
            <a:ext cx="18288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S2 算法验证</a:t>
            </a:r>
            <a:endParaRPr sz="135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7992" y="5047488"/>
            <a:ext cx="3657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35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892040" y="5138928"/>
            <a:ext cx="128016" cy="128016"/>
          </a:xfrm>
          <a:prstGeom prst="ellipse">
            <a:avLst/>
          </a:prstGeom>
          <a:solidFill>
            <a:srgbClr val="9B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5047488"/>
            <a:ext cx="25603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S3 具身闭环（本学期）</a:t>
            </a:r>
            <a:endParaRPr sz="135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本课审计训练点（GR2·隐患识别）：“地图质量良好”与“定位可信”是两个独立指标。</a:t>
            </a:r>
            <a:endParaRPr sz="1250" b="0" i="1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上节回执 · 本课核心问题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第2课已完成的三项，与本课要回答的一个问题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P2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3093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13232" y="1664208"/>
            <a:ext cx="402336" cy="402336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64208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1572768"/>
            <a:ext cx="53949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单命令起机与装配后复检</a:t>
            </a:r>
            <a:endParaRPr sz="13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1883664"/>
            <a:ext cx="5394960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robot_bringup 五连环通过；环境就绪检查装配后复检全绿</a:t>
            </a:r>
            <a:endParaRPr sz="11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63093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13232" y="2578608"/>
            <a:ext cx="402336" cy="402336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78608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2487168"/>
            <a:ext cx="53949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《仿真-实车差异记录表》首页</a:t>
            </a:r>
            <a:endParaRPr sz="13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2798064"/>
            <a:ext cx="5394960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四项差距填齐，完成 A/B 归因</a:t>
            </a:r>
            <a:endParaRPr sz="11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40"/>
            <a:ext cx="6309360" cy="804672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13232" y="3493008"/>
            <a:ext cx="402336" cy="40233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493008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160" y="3401568"/>
            <a:ext cx="53949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噪声先验来源已确定</a:t>
            </a:r>
            <a:endParaRPr sz="13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80160" y="3712464"/>
            <a:ext cx="5394960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S1 第10课闭合误差表——本课写入 slam_toolbox 参数（里程计噪声先验）</a:t>
            </a:r>
            <a:endParaRPr sz="11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86600" y="1463040"/>
            <a:ext cx="4553712" cy="2633472"/>
          </a:xfrm>
          <a:prstGeom prst="roundRect">
            <a:avLst>
              <a:gd name="adj" fmla="val 2083"/>
            </a:avLst>
          </a:prstGeom>
          <a:solidFill>
            <a:srgbClr val="F4F0FF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96912" y="1572768"/>
            <a:ext cx="41148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本课核心问题</a:t>
            </a:r>
            <a:endParaRPr sz="130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96912" y="1920240"/>
            <a:ext cx="4160520" cy="21031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地图质量良好 ≠ 定位可信。
系统报告“我知道我在哪”，依据是什么？
如何量化其可信程度？在哪里不可信？</a:t>
            </a:r>
            <a:endParaRPr sz="14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63093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TF 树：第2课两层之上，本课新增顶层 map → odom</a:t>
            </a:r>
            <a:endParaRPr sz="11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4617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4F0FF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792" y="4617720"/>
            <a:ext cx="1225296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map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965960" y="4869180"/>
            <a:ext cx="365760" cy="0"/>
          </a:xfrm>
          <a:prstGeom prst="line">
            <a:avLst/>
          </a:prstGeom>
          <a:ln w="22225">
            <a:solidFill>
              <a:srgbClr val="6446C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77440" y="4617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450592" y="4617720"/>
            <a:ext cx="1225296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odom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794760" y="4869180"/>
            <a:ext cx="365760" cy="0"/>
          </a:xfrm>
          <a:prstGeom prst="line">
            <a:avLst/>
          </a:prstGeom>
          <a:ln w="22225">
            <a:solidFill>
              <a:srgbClr val="6B7F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06240" y="46177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79392" y="4617720"/>
            <a:ext cx="1225296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base_link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623560" y="4869180"/>
            <a:ext cx="365760" cy="0"/>
          </a:xfrm>
          <a:prstGeom prst="line">
            <a:avLst/>
          </a:prstGeom>
          <a:ln w="22225">
            <a:solidFill>
              <a:srgbClr val="6B7F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035040" y="46177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08192" y="4617720"/>
            <a:ext cx="676656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laser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212080"/>
            <a:ext cx="630936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新增段由 SLAM/AMCL 发布（本课）；下两段为第2课已验证的里程计与静态 TF。</a:t>
            </a:r>
            <a:endParaRPr sz="10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086600" y="4251960"/>
            <a:ext cx="4553712" cy="1463040"/>
          </a:xfrm>
          <a:prstGeom prst="roundRect">
            <a:avLst>
              <a:gd name="adj" fmla="val 375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296912" y="4343400"/>
            <a:ext cx="4160520" cy="13258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术语说明（本课新增两个正式名称）</a:t>
            </a:r>
            <a:endParaRPr sz="11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定位不可信区域图（原讲稿称“雷区图”）；高置信错误（原讲稿称“自信地错着”）——含义在 P17/P21 讲解。</a:t>
            </a:r>
            <a:endParaRPr sz="10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11091672" cy="530352"/>
          </a:xfrm>
          <a:prstGeom prst="roundRect">
            <a:avLst>
              <a:gd name="adj" fmla="val 10344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" y="5943600"/>
            <a:ext cx="10634472" cy="530352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上节课的结论是“参数会过期”；本课的结论是“地图质量与定位可信度是两个独立指标”——一张干净的地图上可能存在高置信错误的区域。</a:t>
            </a:r>
            <a:endParaRPr sz="12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工程原理① · 参数迁移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逻辑资产照搬，物理常数必测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P3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3383280"/>
          </a:xfrm>
          <a:prstGeom prst="roundRect">
            <a:avLst>
              <a:gd name="adj" fmla="val 1621"/>
            </a:avLst>
          </a:prstGeom>
          <a:solidFill>
            <a:srgbClr val="E6F4F5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554480"/>
            <a:ext cx="50292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直接沿用（逻辑资产）</a:t>
            </a:r>
            <a:endParaRPr sz="12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5029200" cy="2743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64465" indent="-164465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launch 结构、话题接线、扫描匹配器的大部分配置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描述的是“谁接谁”的逻辑关系——仿真与实车同样成立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S2 平台已验证的流程资产，孪生的价值所在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3383280"/>
          </a:xfrm>
          <a:prstGeom prst="roundRect">
            <a:avLst>
              <a:gd name="adj" fmla="val 1621"/>
            </a:avLst>
          </a:prstGeom>
          <a:solidFill>
            <a:srgbClr val="FBF3E6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0292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必须重调（物理常数）</a:t>
            </a:r>
            <a:endParaRPr sz="12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5029200" cy="2834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64465" indent="-164465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① 地图分辨率——场景尺度与树莓派算力的折中（SLAM 是建图阶段的算力大头）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② 扫描匹配阈值——实车雷达噪声水平与孪生理想模型不同（第2课差异记录表的一部分差距在此消化）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600"/>
              </a:spcAft>
              <a:buChar char="•"/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③ 里程计噪声模型——SLAM 在“里程计说走了 1 m”与“激光看到的墙对不上”之间仲裁的权重依据（→ P4）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634472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判据：一个参数能否跨环境迁移，取决于它描述的是逻辑关系还是物理量——与第1课“凡进入系统的物理常数，必须有测量出处”同源。</a:t>
            </a:r>
            <a:endParaRPr sz="125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工程原理② · 三学期数据链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从闭合误差到里程计噪声先验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P4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S1 · 第10课</a:t>
            </a:r>
            <a:endParaRPr sz="12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246120" cy="1417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车走 1 m 正方形×2圈，系统自报“回到原点”，卷尺实测闭合误差 10~30 cm——一张实验记录表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142232" y="2423160"/>
            <a:ext cx="146304" cy="0"/>
          </a:xfrm>
          <a:prstGeom prst="line">
            <a:avLst/>
          </a:prstGeom>
          <a:ln w="2222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15968" y="1463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5FA"/>
          </a:solidFill>
          <a:ln w="15875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59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S2 · 孪生平台</a:t>
            </a:r>
            <a:endParaRPr sz="12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59" y="1920240"/>
            <a:ext cx="3246120" cy="1417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将该误差显性建模为里程计噪声，使虚拟车的漂移与实车一致——仿真校准依据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2423160"/>
            <a:ext cx="146303" cy="0"/>
          </a:xfrm>
          <a:prstGeom prst="line">
            <a:avLst/>
          </a:prstGeom>
          <a:ln w="2222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83296" y="1463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47888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S3 · 本课</a:t>
            </a:r>
            <a:endParaRPr sz="12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1920240"/>
            <a:ext cx="3246120" cy="1417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写入 mapper_real.yaml 的里程计噪声先验——建图时“多信里程计还是多信激光”的仲裁权重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5394960" cy="1005840"/>
          </a:xfrm>
          <a:prstGeom prst="roundRect">
            <a:avLst>
              <a:gd name="adj" fmla="val 5454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3730752"/>
            <a:ext cx="4846320" cy="704087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mapper_real.yaml（示意）</a:t>
            </a:r>
            <a:endParaRPr sz="100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odometry_noise_prior: &lt;由本组闭合误差推得&gt;   # 出处：S1第10课闭合误差表 第N行</a:t>
            </a:r>
            <a:endParaRPr sz="100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45352" y="3566160"/>
            <a:ext cx="5394960" cy="1005840"/>
          </a:xfrm>
          <a:prstGeom prst="roundRect">
            <a:avLst>
              <a:gd name="adj" fmla="val 5454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46520" y="3611880"/>
            <a:ext cx="5029200" cy="9144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规则：闭合误差大 → 里程计可信度低 → 噪声先验取大 → SLAM 更多依赖激光；反之亦然。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10634472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要求：本组的噪声先验必须能追溯到本组闭合误差表（哪张表、第几行）——出处可查，才构成可复算的记录（L1）。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91672" cy="594360"/>
          </a:xfrm>
          <a:prstGeom prst="roundRect">
            <a:avLst>
              <a:gd name="adj" fmla="val 923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审计意义：这是第2课 A 类（系统性）差距的第一次“偿还”——把仿真与实车的系统性差距显性写进参数。</a:t>
            </a:r>
            <a:endParaRPr sz="12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工程原理③ · 建图质量缺陷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三种形态：重影 · 断裂 · 残影（与互评三项一一对应）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P5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① 重影 → 互评“重影”</a:t>
            </a:r>
            <a:endParaRPr sz="120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914400" y="2011680"/>
            <a:ext cx="2834639" cy="0"/>
          </a:xfrm>
          <a:prstGeom prst="line">
            <a:avLst/>
          </a:prstGeom>
          <a:ln w="25400">
            <a:solidFill>
              <a:srgbClr val="162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2139696"/>
            <a:ext cx="2834639" cy="0"/>
          </a:xfrm>
          <a:prstGeom prst="line">
            <a:avLst/>
          </a:prstGeom>
          <a:ln w="25400">
            <a:solidFill>
              <a:srgbClr val="C77F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286000"/>
            <a:ext cx="3246120" cy="1874519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症状：同一堵墙被绘制为两条平行线
机理：里程计漂移使激光点配准到错误位置，第二圈再次错位
处置：准确的噪声先验、慢速建图、给回环闭合机会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15968" y="14630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2F5FA"/>
          </a:solidFill>
          <a:ln w="15875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59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② 断裂 → 互评“缺口”</a:t>
            </a:r>
            <a:endParaRPr sz="120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681728" y="2075688"/>
            <a:ext cx="1371599" cy="0"/>
          </a:xfrm>
          <a:prstGeom prst="line">
            <a:avLst/>
          </a:prstGeom>
          <a:ln w="25400">
            <a:solidFill>
              <a:srgbClr val="162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19088" y="2075688"/>
            <a:ext cx="1097279" cy="0"/>
          </a:xfrm>
          <a:prstGeom prst="line">
            <a:avLst/>
          </a:prstGeom>
          <a:ln w="25400">
            <a:solidFill>
              <a:srgbClr val="162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80559" y="2286000"/>
            <a:ext cx="3246120" cy="1874519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症状：绕行一圈后走廊无法闭合、应有墙体缺失
机理：累积漂移超出回环检测的容忍范围
处置：绕两圈、转弯减速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83296" y="14630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47888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③ 残影 → 互评“畸变”</a:t>
            </a:r>
            <a:endParaRPr sz="120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540496" y="2011680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97696" y="2011680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54896" y="2011680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12096" y="2011680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69296" y="2011680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6496" y="2011680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2286000"/>
            <a:ext cx="3246120" cy="1874519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症状：穿场行人被记录为一串“鬼影墙”；直角不直、长走廊弯曲
机理：SLAM 假设世界静止；几何失真
处置：建图清场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4389120"/>
            <a:ext cx="10634472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上节课思考题核对：闭合误差在地图上的可观察痕迹 ＝ 重影。残影揭示“地图只记录建图时刻的世界”——地图时效性问题第6课正式讨论。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8640" y="51663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166360"/>
            <a:ext cx="10634472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互评三项：重影 / 缺口 / 畸变——每一项对应一类缺陷；评分必须指出图上的位置。</a:t>
            </a:r>
            <a:endParaRPr sz="12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具身智能纵深① · 具身定位与状态估计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里程计误差累积机理 与 SLAM 的本质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P6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0292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里程计误差随路程累积（示意）</a:t>
            </a:r>
            <a:endParaRPr sz="110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1005840" y="1920240"/>
            <a:ext cx="0" cy="2011680"/>
          </a:xfrm>
          <a:prstGeom prst="line">
            <a:avLst/>
          </a:prstGeom>
          <a:ln w="1587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" y="3931920"/>
            <a:ext cx="4663440" cy="0"/>
          </a:xfrm>
          <a:prstGeom prst="line">
            <a:avLst/>
          </a:prstGeom>
          <a:ln w="1587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1783080"/>
            <a:ext cx="914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误差</a:t>
            </a:r>
            <a:endParaRPr sz="9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3977639"/>
            <a:ext cx="7315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路程</a:t>
            </a:r>
            <a:endParaRPr sz="9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1005840" y="2103120"/>
            <a:ext cx="4480560" cy="1828800"/>
          </a:xfrm>
          <a:custGeom>
            <a:avLst/>
            <a:gdLst/>
            <a:ahLst/>
            <a:cxnLst/>
            <a:rect l="l" t="t" r="r" b="b"/>
            <a:pathLst>
              <a:path w="4480560" h="1828800">
                <a:moveTo>
                  <a:pt x="0" y="1828800"/>
                </a:moveTo>
                <a:lnTo>
                  <a:pt x="1005840" y="1463040"/>
                </a:lnTo>
                <a:lnTo>
                  <a:pt x="2103120" y="1005840"/>
                </a:lnTo>
                <a:lnTo>
                  <a:pt x="3200400" y="502920"/>
                </a:lnTo>
                <a:lnTo>
                  <a:pt x="4480560" y="0"/>
                </a:lnTo>
              </a:path>
            </a:pathLst>
          </a:custGeom>
          <a:noFill/>
          <a:ln w="3175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23774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1 m 正方形×2圈：闭合误差 10~30 cm</a:t>
            </a:r>
            <a:endParaRPr sz="9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502920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航迹推算由轮速增量逐步积分得到位姿：每一步的标定残差（有效轮距误差）与打滑都进入积分，误差随路程单调累积、不会自行消除。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5352" y="14630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2" y="1536192"/>
            <a:ext cx="50292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SLAM：以观测约束修正状态估计（位姿图示意）</a:t>
            </a:r>
            <a:endParaRPr sz="110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0" y="1810512"/>
            <a:ext cx="329184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回环边：首尾观测一致 → 全局修正累积误差</a:t>
            </a:r>
            <a:endParaRPr sz="90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6830568" y="2057400"/>
            <a:ext cx="4023360" cy="274320"/>
          </a:xfrm>
          <a:custGeom>
            <a:avLst/>
            <a:gdLst/>
            <a:ahLst/>
            <a:cxnLst/>
            <a:rect l="l" t="t" r="r" b="b"/>
            <a:pathLst>
              <a:path w="4023360" h="274320">
                <a:moveTo>
                  <a:pt x="0" y="274320"/>
                </a:moveTo>
                <a:lnTo>
                  <a:pt x="667511" y="0"/>
                </a:lnTo>
                <a:lnTo>
                  <a:pt x="3044952" y="0"/>
                </a:lnTo>
                <a:lnTo>
                  <a:pt x="4023360" y="274320"/>
                </a:lnTo>
              </a:path>
            </a:pathLst>
          </a:custGeom>
          <a:noFill/>
          <a:ln w="2222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2286000"/>
            <a:ext cx="310896" cy="31089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x1</a:t>
            </a:r>
            <a:endParaRPr sz="85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004304" y="2441448"/>
            <a:ext cx="658368" cy="0"/>
          </a:xfrm>
          <a:prstGeom prst="line">
            <a:avLst/>
          </a:prstGeom>
          <a:ln w="1587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680960" y="2286000"/>
            <a:ext cx="310896" cy="31089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x2</a:t>
            </a:r>
            <a:endParaRPr sz="85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010144" y="2441448"/>
            <a:ext cx="658368" cy="0"/>
          </a:xfrm>
          <a:prstGeom prst="line">
            <a:avLst/>
          </a:prstGeom>
          <a:ln w="1587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686800" y="2286000"/>
            <a:ext cx="310896" cy="31089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2286000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x3</a:t>
            </a:r>
            <a:endParaRPr sz="85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9015984" y="2441448"/>
            <a:ext cx="658368" cy="0"/>
          </a:xfrm>
          <a:prstGeom prst="line">
            <a:avLst/>
          </a:prstGeom>
          <a:ln w="1587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692640" y="2286000"/>
            <a:ext cx="310896" cy="31089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286000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x4</a:t>
            </a:r>
            <a:endParaRPr sz="85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10021824" y="2441448"/>
            <a:ext cx="658368" cy="0"/>
          </a:xfrm>
          <a:prstGeom prst="line">
            <a:avLst/>
          </a:prstGeom>
          <a:ln w="15875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698480" y="2286000"/>
            <a:ext cx="310896" cy="31089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0" y="2286000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x5</a:t>
            </a:r>
            <a:endParaRPr sz="85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2670048"/>
            <a:ext cx="4389120" cy="237744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实线：里程计边（相邻位姿的相对运动，权重由噪声先验决定）</a:t>
            </a:r>
            <a:endParaRPr sz="9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6830568" y="2615184"/>
            <a:ext cx="0" cy="329184"/>
          </a:xfrm>
          <a:prstGeom prst="line">
            <a:avLst/>
          </a:prstGeom>
          <a:ln w="12700">
            <a:solidFill>
              <a:srgbClr val="C77F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693407" y="2944368"/>
            <a:ext cx="274320" cy="182880"/>
          </a:xfrm>
          <a:prstGeom prst="rect">
            <a:avLst/>
          </a:prstGeom>
          <a:solidFill>
            <a:srgbClr val="FBF3E6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836408" y="2615184"/>
            <a:ext cx="0" cy="329184"/>
          </a:xfrm>
          <a:prstGeom prst="line">
            <a:avLst/>
          </a:prstGeom>
          <a:ln w="12700">
            <a:solidFill>
              <a:srgbClr val="C77F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699248" y="2944368"/>
            <a:ext cx="274320" cy="182880"/>
          </a:xfrm>
          <a:prstGeom prst="rect">
            <a:avLst/>
          </a:prstGeom>
          <a:solidFill>
            <a:srgbClr val="FBF3E6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842248" y="2615184"/>
            <a:ext cx="0" cy="329184"/>
          </a:xfrm>
          <a:prstGeom prst="line">
            <a:avLst/>
          </a:prstGeom>
          <a:ln w="12700">
            <a:solidFill>
              <a:srgbClr val="C77F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705088" y="2944368"/>
            <a:ext cx="274320" cy="182880"/>
          </a:xfrm>
          <a:prstGeom prst="rect">
            <a:avLst/>
          </a:prstGeom>
          <a:solidFill>
            <a:srgbClr val="FBF3E6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848088" y="2615184"/>
            <a:ext cx="0" cy="329184"/>
          </a:xfrm>
          <a:prstGeom prst="line">
            <a:avLst/>
          </a:prstGeom>
          <a:ln w="12700">
            <a:solidFill>
              <a:srgbClr val="C77F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710928" y="2944368"/>
            <a:ext cx="274320" cy="182880"/>
          </a:xfrm>
          <a:prstGeom prst="rect">
            <a:avLst/>
          </a:prstGeom>
          <a:solidFill>
            <a:srgbClr val="FBF3E6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853928" y="2615184"/>
            <a:ext cx="0" cy="329184"/>
          </a:xfrm>
          <a:prstGeom prst="line">
            <a:avLst/>
          </a:prstGeom>
          <a:ln w="12700">
            <a:solidFill>
              <a:srgbClr val="C77F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716767" y="2944368"/>
            <a:ext cx="274320" cy="182880"/>
          </a:xfrm>
          <a:prstGeom prst="rect">
            <a:avLst/>
          </a:prstGeom>
          <a:solidFill>
            <a:srgbClr val="FBF3E6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182112"/>
            <a:ext cx="4846320" cy="237744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虚线：激光观测边（“观测应与地图一致”的约束）</a:t>
            </a:r>
            <a:endParaRPr sz="900" b="0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28232" y="3520440"/>
            <a:ext cx="50292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两条路线：滤波（AMCL：逐帧递推地维护状态的概率分布）／图优化（slam_toolbox：位姿为节点、观测与里程计为边，整体求最小误差解；回环闭合是最强约束）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映射：噪声先验 ＝ 里程计边的权重；重影/断裂 ＝ 约束不足或权重不当的可见后果；绕两圈 ＝ 给回环约束出现的机会</a:t>
            </a:r>
            <a:endParaRPr sz="100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48640" y="5303520"/>
            <a:ext cx="11091672" cy="594360"/>
          </a:xfrm>
          <a:prstGeom prst="roundRect">
            <a:avLst>
              <a:gd name="adj" fmla="val 923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303520"/>
            <a:ext cx="10634472" cy="5943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具身智能体行动的前提是状态估计；S1 第10课的闭合误差正是误差累积机理的直接测量，本课的噪声先验把它写进优化器。</a:t>
            </a:r>
            <a:endParaRPr sz="12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具身智能纵深② · 定位可信度的量化语言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误差 · 协方差 · 重定位一致性——精密度 ≠ 准确度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P7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6949440" cy="2267712"/>
        </p:xfrm>
        <a:graphic>
          <a:graphicData uri="http://schemas.openxmlformats.org/drawingml/2006/table">
            <a:tbl>
              <a:tblPr firstRow="1"/>
              <a:tblGrid>
                <a:gridCol w="1463040"/>
                <a:gridCol w="3291840"/>
                <a:gridCol w="21945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本课测量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|估计 − 真值|；真值来自独立基准（孪生侧＝平台真值位姿，实车侧＝卷尺/量角器）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点×2 条件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协方差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估计的分散程度（AMCL 粒子云的散布）——系统的自评置信度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椭圆目视三档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重定位一致性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初始位姿偏置 1 m 后能否收敛回真值、用时多久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B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463040"/>
            <a:ext cx="38679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6576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协方差 × 误差（2×2）</a:t>
            </a:r>
            <a:endParaRPr sz="9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1737360" cy="822960"/>
          </a:xfrm>
          <a:prstGeom prst="roundRect">
            <a:avLst>
              <a:gd name="adj" fmla="val 6666"/>
            </a:avLst>
          </a:prstGeom>
          <a:solidFill>
            <a:srgbClr val="E9F5EE"/>
          </a:solidFill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28431" y="1883664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协方差小·误差小</a:t>
            </a:r>
            <a:endParaRPr sz="8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8431" y="2240280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可信</a:t>
            </a:r>
            <a:endParaRPr sz="9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784080" y="1828800"/>
            <a:ext cx="1737360" cy="822960"/>
          </a:xfrm>
          <a:prstGeom prst="roundRect">
            <a:avLst>
              <a:gd name="adj" fmla="val 6666"/>
            </a:avLst>
          </a:prstGeom>
          <a:solidFill>
            <a:srgbClr val="FBEF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57232" y="1883664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协方差小·误差大</a:t>
            </a:r>
            <a:endParaRPr sz="8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57232" y="2240280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高置信错误</a:t>
            </a:r>
            <a:endParaRPr sz="900" b="1" i="0">
              <a:solidFill>
                <a:srgbClr val="C039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55279" y="2743200"/>
            <a:ext cx="1737360" cy="822960"/>
          </a:xfrm>
          <a:prstGeom prst="roundRect">
            <a:avLst>
              <a:gd name="adj" fmla="val 6666"/>
            </a:avLst>
          </a:prstGeom>
          <a:solidFill>
            <a:srgbClr val="F2F5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28431" y="2798064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协方差大·误差小</a:t>
            </a:r>
            <a:endParaRPr sz="8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28431" y="3154680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保守但准确</a:t>
            </a:r>
            <a:endParaRPr sz="9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84080" y="2743200"/>
            <a:ext cx="1737360" cy="822960"/>
          </a:xfrm>
          <a:prstGeom prst="roundRect">
            <a:avLst>
              <a:gd name="adj" fmla="val 6666"/>
            </a:avLst>
          </a:prstGeom>
          <a:solidFill>
            <a:srgbClr val="F2F5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57232" y="2798064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协方差大·误差大</a:t>
            </a:r>
            <a:endParaRPr sz="8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57232" y="3154680"/>
            <a:ext cx="16002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不可信且自知</a:t>
            </a:r>
            <a:endParaRPr sz="9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4F0FF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005072"/>
            <a:ext cx="10698480" cy="10058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关键关系</a:t>
            </a:r>
            <a:endParaRPr sz="120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协方差度量精密度（自我一致性），误差度量准确度；二者相互独立。所有基于自我一致性的置信度指标（AMCL 协方差、检测置信分、LLM 输出概率）共有这一盲区——评价可信度必须引入独立基准。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634472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映射：本课实验 ＝ 该原理的“量化”环节——5 点×2 条件测得误差与协方差、条件 B 测得重定位一致性；第8课的规划审计规则将直接使用本课产出的不可信区域。</a:t>
            </a:r>
            <a:endParaRPr sz="115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系统机制① · AMCL 粒子滤波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预测 — 加权 — 重采样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P8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2F5FA"/>
          </a:solidFill>
          <a:ln w="15875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① 预测</a:t>
            </a:r>
            <a:endParaRPr sz="12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462442" y="2554105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58828" y="2174944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20867" y="2299390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2123" y="2516526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66145" y="2029824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29981" y="2288685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55275" y="2013028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01881" y="2473523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86868" y="2616728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86089" y="2031260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03496" y="2358227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75770" y="2255681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57952" y="2281868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12042" y="2153580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84051" y="2329039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97144" y="2159453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63138" y="2305862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31938" y="2025435"/>
            <a:ext cx="73152" cy="7315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788920"/>
            <a:ext cx="32461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按里程计增量移动全部粒子并加入噪声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15968" y="146304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80559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② 加权</a:t>
            </a:r>
            <a:endParaRPr sz="12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766244" y="2508117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50264" y="2168202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9896" y="2424667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47370" y="2256145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54048" y="2373788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17852" y="2197158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97614" y="2289782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5323" y="2526627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56531" y="2349121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18367" y="2240431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20086" y="2145582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7686" y="2260214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3505" y="2486044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36725" y="2355554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12985" y="2144169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43225" y="2188616"/>
            <a:ext cx="109728" cy="109728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14005" y="2528149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4318" y="2206399"/>
            <a:ext cx="73152" cy="7315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59" y="2788920"/>
            <a:ext cx="32461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把当前激光帧按每个粒子的位姿投影到地图，与实际观测越一致权重越高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083296" y="146304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47888" y="1554480"/>
            <a:ext cx="32461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③ 重采样</a:t>
            </a:r>
            <a:endParaRPr sz="12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9698652" y="2339341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783136" y="2349628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46847" y="2256847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54764" y="2389875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12343" y="2285937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83628" y="2326595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81738" y="2327644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55390" y="2271510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952697" y="2395144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81213" y="2373294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976093" y="2256589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31664" y="2347419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739171" y="2250899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100342" y="2327023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06440" y="2397000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03435" y="2404287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799144" y="2383575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830929" y="2406784"/>
            <a:ext cx="73152" cy="7315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47888" y="2788920"/>
            <a:ext cx="32461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高权重粒子复制、低权重淘汰，粒子云逐渐收缩；团心 ＝ AMCL 报告的位置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48640" y="3794760"/>
            <a:ext cx="5394960" cy="1417320"/>
          </a:xfrm>
          <a:prstGeom prst="roundRect">
            <a:avLst>
              <a:gd name="adj" fmla="val 387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49808" y="3858768"/>
            <a:ext cx="5029200" cy="13258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初始位姿不是仪式，是先验</a:t>
            </a:r>
            <a:endParaRPr sz="11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rviz2 “2D Pose Estimate” 决定粒子初始分布的位置与范围；给错位置的后果由条件 B 实测。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245352" y="3794760"/>
            <a:ext cx="5394960" cy="1417320"/>
          </a:xfrm>
          <a:prstGeom prst="roundRect">
            <a:avLst>
              <a:gd name="adj" fmla="val 387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446520" y="3858768"/>
            <a:ext cx="5029200" cy="13258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协方差椭圆 ＝ 粒子云散布的数学画像</a:t>
            </a:r>
            <a:endParaRPr sz="11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x/y 方向方差及相关性，随收敛而缩小；它是精密度指标，不是准确度指标（P7）。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48640" y="53949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设计思想：不轻信单点估计，让多个假设竞争、由观测裁决——第9课的双模型交叉验证与此同源。</a:t>
            </a:r>
            <a:endParaRPr sz="12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系统机制② · TF 坐标树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四段链与诊断：map → odom → base_link → laser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P9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554480"/>
            <a:ext cx="1316736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map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039112" y="1828800"/>
            <a:ext cx="1362456" cy="0"/>
          </a:xfrm>
          <a:prstGeom prst="line">
            <a:avLst/>
          </a:prstGeom>
          <a:ln w="19050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65960" y="2194560"/>
            <a:ext cx="1600200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AMCL / slam_toolbox 发布
离散跳变，长期无偏</a:t>
            </a:r>
            <a:endParaRPr sz="8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29000" y="15544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02152" y="1554480"/>
            <a:ext cx="1316736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odom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919472" y="1828800"/>
            <a:ext cx="1362456" cy="0"/>
          </a:xfrm>
          <a:prstGeom prst="line">
            <a:avLst/>
          </a:prstGeom>
          <a:ln w="19050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46320" y="2194560"/>
            <a:ext cx="1600200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轮式里程计（MCU 经 Agent）
连续平滑，累积漂移</a:t>
            </a:r>
            <a:endParaRPr sz="8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59" y="15544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82512" y="1554480"/>
            <a:ext cx="1316736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base_link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799831" y="1828800"/>
            <a:ext cx="1362457" cy="0"/>
          </a:xfrm>
          <a:prstGeom prst="line">
            <a:avLst/>
          </a:prstGeom>
          <a:ln w="19050">
            <a:solidFill>
              <a:srgbClr val="1621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26679" y="2194560"/>
            <a:ext cx="1600200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静态 TF（第2课 launch，卷尺实测）
错误 → 墙体系统性错位</a:t>
            </a:r>
            <a:endParaRPr sz="8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89719" y="15544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6B7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62872" y="1554480"/>
            <a:ext cx="1316736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laser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3108960"/>
            <a:ext cx="5394960" cy="1783080"/>
          </a:xfrm>
          <a:prstGeom prst="roundRect">
            <a:avLst>
              <a:gd name="adj" fmla="val 3076"/>
            </a:avLst>
          </a:prstGeom>
          <a:solidFill>
            <a:srgbClr val="E6F4F5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9808" y="3182112"/>
            <a:ext cx="5029200" cy="1691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诊断命令</a:t>
            </a:r>
            <a:endParaRPr sz="11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ros2 run tf2_tools view_frames → 生成 PDF；四段齐全、频率健康 ＝ 合格（本课验收项）。孪生侧帧名为 base_footprint / laser_frame（平台约定），诊断方法相同。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45352" y="3108960"/>
            <a:ext cx="5394960" cy="1783080"/>
          </a:xfrm>
          <a:prstGeom prst="roundRect">
            <a:avLst>
              <a:gd name="adj" fmla="val 3076"/>
            </a:avLst>
          </a:prstGeom>
          <a:solidFill>
            <a:srgbClr val="FBEFE7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3182112"/>
            <a:ext cx="5029200" cy="1691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8A5522"/>
                </a:solidFill>
                <a:latin typeface="Microsoft YaHei"/>
                <a:ea typeface="Microsoft YaHei"/>
                <a:cs typeface="Microsoft YaHei"/>
              </a:rPr>
              <a:t>外推错误（extrapolation）＝ 所需时刻的变换不可得</a:t>
            </a:r>
            <a:endParaRPr sz="1150" b="1" i="0">
              <a:solidFill>
                <a:srgbClr val="8A55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5522"/>
                </a:solidFill>
                <a:latin typeface="Microsoft YaHei"/>
                <a:ea typeface="Microsoft YaHei"/>
                <a:cs typeface="Microsoft YaHei"/>
              </a:rPr>
              <a:t>三类原因：某环节停止发布；发布频率过低；多机时钟不同步——第1课契约表“时间戳单调”栏在此兑现。</a:t>
            </a:r>
            <a:endParaRPr sz="1050" b="0" i="0">
              <a:solidFill>
                <a:srgbClr val="8A552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10634472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分四段的原因：各段可信度与更新特性不同，分段才能分账诊断——用 AMCL 的“长期准”校正里程计的“短期漂”，用里程计的“平滑”填补两次修正之间的空档。</a:t>
            </a:r>
            <a:endParaRPr sz="115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系统机制③ · 本课组织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孪生侧静态世界模式（各组并行）与实车公共基线制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P10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2514600"/>
          </a:xfrm>
          <a:prstGeom prst="roundRect">
            <a:avLst>
              <a:gd name="adj" fmla="val 2181"/>
            </a:avLst>
          </a:prstGeom>
          <a:solidFill>
            <a:srgbClr val="E6F4F5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50292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孪生侧（各组并行）</a:t>
            </a:r>
            <a:endParaRPr sz="120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5029200" cy="2057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平台端＝笔记本：make_gt_map.py --seed N（真值图）；nav_gateway.py --seed N --slip &lt;本组值&gt;（静态世界，10 Hz）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ROS 2 端＝本组树莓派：ros_bridge.py → /odom、/scan、tf；其上运行 slam_toolbox、AMCL、5 点×2 条件采样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真值来源：网关 GET /health 的 robot_truth（truth_probe.py）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400"/>
              </a:spcAft>
              <a:buChar char="•"/>
            </a:pPr>
            <a:r>
              <a:rPr sz="100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纪律：静态世界模式不得与默认入口 inference_server.py 同时运行（回合制、6 倍墙钟速）</a:t>
            </a:r>
            <a:endParaRPr sz="1000" b="0" i="0">
              <a:solidFill>
                <a:srgbClr val="C039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2514600"/>
          </a:xfrm>
          <a:prstGeom prst="roundRect">
            <a:avLst>
              <a:gd name="adj" fmla="val 2181"/>
            </a:avLst>
          </a:prstGeom>
          <a:solidFill>
            <a:srgbClr val="FBF3E6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50292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实车侧（公共基线制，可用实车 1 台）</a:t>
            </a:r>
            <a:endParaRPr sz="120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029200" cy="2057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示范车现场建图并执行同一采样矩阵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各组测量员轮值，以卷尺/量角器测真值；AMCL 估计由投影读取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实车地图与《定位误差统计表（实车版）》全班共用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  <a:p>
            <a:pPr marL="164465" indent="-164465" algn="l">
              <a:lnSpc>
                <a:spcPct val="108000"/>
              </a:lnSpc>
              <a:spcAft>
                <a:spcPts val="300"/>
              </a:spcAft>
              <a:buChar char="•"/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仿真预验证：各组孪生链路（建图→重定位）通过，是进入实车基线核对与阶段验收的前提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11091672" cy="1325880"/>
          </a:xfrm>
          <a:prstGeom prst="roundRect">
            <a:avLst>
              <a:gd name="adj" fmla="val 4137"/>
            </a:avLst>
          </a:prstGeom>
          <a:solidFill>
            <a:srgbClr val="F4F0FF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178808"/>
            <a:ext cx="10698480" cy="12344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两个不得混淆的量</a:t>
            </a:r>
            <a:endParaRPr sz="11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(a) SLAM 噪声先验——mapper_real.yaml 中对里程计观测的噪声假设，决定建图时对里程计的信任权重（由本组闭合误差推得）；(b) 平台 --slip——nav_gateway.py 的里程计漂移系数，决定孪生里程计实际产生的乘性偏差与比例噪声（默认 0，须显式开启）。--slip 使孪生“像本组的车一样漂移”，噪声先验使 SLAM“知道里程计在漂移”。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55778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BEFE7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10634472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5522"/>
                </a:solidFill>
                <a:latin typeface="Microsoft YaHei"/>
                <a:ea typeface="Microsoft YaHei"/>
                <a:cs typeface="Microsoft YaHei"/>
              </a:rPr>
              <a:t>平台特性：24 线稀疏雷达下 AMCL 单腿漂移实测 0.2–0.5 m（README 5.9），与实车 LD19 稠密扫描的误差量级不同——两侧数据并列时注明，不作直接比较。</a:t>
            </a:r>
            <a:endParaRPr sz="1100" b="0" i="0">
              <a:solidFill>
                <a:srgbClr val="8A552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实验四要素卡 · 实验 3-1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《孪生侧建图与定位可信度实验》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P11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13232" y="1591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1591056"/>
            <a:ext cx="7772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以本组噪声先验完成孪生侧建图并与真值图对照；完成 AMCL 重定位与 5 点×2 条件采样，产出《定位误差统计表（孪生版）》与 TF 树诊断报告。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146304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25112" y="1591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5112" y="1591056"/>
            <a:ext cx="7772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原理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5112" y="1938528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逻辑资产照搬、物理常数必测（P3）；噪声先验 ＝ 里程计边的权重（P6）；误差 ＝ |估计−真值|，协方差为精密度指标（P7）；两条证据链独立（估计与真值分别记录，不得互相参照）。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13232" y="3785615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3785615"/>
            <a:ext cx="1143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步骤概览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4133087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生成真值图与静态世界 → 桥接 → 迁移参数并建图 → 存图并对照真值图 → 互评 → 重定位 → 5 点×2 条件采样 → view_frames（P14–P16）。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60520" y="365760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25112" y="3785615"/>
            <a:ext cx="3099816" cy="27432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25112" y="3785615"/>
            <a:ext cx="309981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验收（课内 40% ＋ 30% 的孪生部分）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25112" y="4133087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地图两件套；对照真值图的互评记录；TF 报告四段齐全；采样表 10 行无空行；条件 B 每点收敛/发散有记录；参数迁移说明（三项＋先验出处）。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63840" y="1463040"/>
            <a:ext cx="3776472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步骤概览</a:t>
            </a:r>
            <a:endParaRPr sz="11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63840" y="1783080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36992" y="1783080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① 真值图 + 静态世界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752076" y="2185416"/>
            <a:ext cx="0" cy="128016"/>
          </a:xfrm>
          <a:prstGeom prst="line">
            <a:avLst/>
          </a:prstGeom>
          <a:ln w="22225">
            <a:solidFill>
              <a:srgbClr val="147F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63840" y="2331720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36992" y="2331720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② 桥接（树莓派）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752076" y="2734056"/>
            <a:ext cx="0" cy="128016"/>
          </a:xfrm>
          <a:prstGeom prst="line">
            <a:avLst/>
          </a:prstGeom>
          <a:ln w="22225">
            <a:solidFill>
              <a:srgbClr val="147F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863840" y="2880360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36992" y="2880360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③ 迁移参数并建图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752076" y="3282696"/>
            <a:ext cx="0" cy="128016"/>
          </a:xfrm>
          <a:prstGeom prst="line">
            <a:avLst/>
          </a:prstGeom>
          <a:ln w="22225">
            <a:solidFill>
              <a:srgbClr val="147F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63840" y="3429000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36992" y="3429000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④ 存图 · 对照真值图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9752076" y="3831335"/>
            <a:ext cx="0" cy="128017"/>
          </a:xfrm>
          <a:prstGeom prst="line">
            <a:avLst/>
          </a:prstGeom>
          <a:ln w="22225">
            <a:solidFill>
              <a:srgbClr val="147F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863840" y="3977639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936992" y="3977639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⑤ 互评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9752076" y="4379975"/>
            <a:ext cx="0" cy="128017"/>
          </a:xfrm>
          <a:prstGeom prst="line">
            <a:avLst/>
          </a:prstGeom>
          <a:ln w="22225">
            <a:solidFill>
              <a:srgbClr val="147F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863840" y="4526279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936992" y="4526279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⑥ 重定位 → 5×2 采样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9752076" y="4928615"/>
            <a:ext cx="0" cy="128016"/>
          </a:xfrm>
          <a:prstGeom prst="line">
            <a:avLst/>
          </a:prstGeom>
          <a:ln w="22225">
            <a:solidFill>
              <a:srgbClr val="147F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863840" y="5074919"/>
            <a:ext cx="3776472" cy="384048"/>
          </a:xfrm>
          <a:prstGeom prst="roundRect">
            <a:avLst>
              <a:gd name="adj" fmla="val 1428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936992" y="5074919"/>
            <a:ext cx="3630168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⑦ view_frames</a:t>
            </a:r>
            <a:endParaRPr sz="10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三条纪律：参数文件＝S2 验证版＋本组噪声先验；地图两件套 .pgm 与 .yaml 缺一不可；采样时估计值与真值分别记录、互不参照。分工：一人操作、一人记录。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预注册单 · 教学版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动手前填写：先声明判据，后采集数据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P12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91672" cy="3931920"/>
        </p:xfrm>
        <a:graphic>
          <a:graphicData uri="http://schemas.openxmlformats.org/drawingml/2006/table">
            <a:tbl>
              <a:tblPr firstRow="1"/>
              <a:tblGrid>
                <a:gridCol w="1463040"/>
                <a:gridCol w="4846320"/>
                <a:gridCol w="4782312"/>
              </a:tblGrid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栏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填写内容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协方差椭圆小是否等于定位准确？初始位姿偏置 1 m 时 AMCL 能否收敛？给出预判与机理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“预计椭圆小不等于误差小；重影区与长走廊内条件 B 可能锁定在错误位置”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 · 阈值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误差＝|估计−真值|（cm）；协方差椭圆目视三档；条件 B 收敛用时（s）；“不可信”的误差阈值现在确定并写理由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“误差 &gt; 15 cm 判为不可信（理由：车长约 20 cm，超过 3/4 车长即无法用于贴边导航）”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冻结声明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噪声先验一旦确定、采样一旦开始不得修改；种子编号、标记点位置、初始位姿偏置量（1 m）冻结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改动即重采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变更登记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中途改任何参数：改了什么／为什么／影响哪些数据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“P3 后把匹配阈值由 X 改为 Y，影响 P4、P5 的采样，已重采”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34472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规范：先声明判据，后采集数据——避免在看到数据后调整“什么算不可信”的口径（锚定偏差）。填写完成方可开始动手。</a:t>
            </a:r>
            <a:endParaRPr sz="12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AI 输出审核点 · 本课两处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AI 起草的参数：进入系统前必须有本组数据出处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P13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292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案例① 噪声先验</a:t>
            </a:r>
            <a:endParaRPr sz="12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AI 输出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odometry_noise_prior: 0.05  # 常见经验值</a:t>
            </a:r>
            <a:endParaRPr sz="1000" b="0" i="0">
              <a:solidFill>
                <a:srgbClr val="16213A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596896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缺陷判断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2596896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无出处——不是本组的车；“经验值”是别人的车、别人的教室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273552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正确做法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7360" y="3273552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从本组闭合误差表推得，并在参数迁移说明中写明表名与行号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8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记录表条目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3950208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“AI 给出噪声先验 X ／ 无出处 ／ 依本组闭合误差表第 N 行改为 Y ／ 已更正”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45352" y="146304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28232" y="1554480"/>
            <a:ext cx="50292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案例② 越界代填物理常数</a:t>
            </a:r>
            <a:endParaRPr sz="12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28232" y="1920240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AI 输出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34072" y="1920240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footprint: [[0.10,0.09],…]  resolution: 0.05  # 顺手代填</a:t>
            </a:r>
            <a:endParaRPr sz="1000" b="0" i="0">
              <a:solidFill>
                <a:srgbClr val="16213A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28232" y="2596896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缺陷判断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34072" y="2596896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footprint、分辨率是本组车与本组场景的物理量，AI 并不掌握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28232" y="3273552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正确做法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34072" y="3273552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footprint 以尺测量；分辨率按场景尺度与算力确定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28232" y="3950208"/>
            <a:ext cx="10058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记录表条目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34072" y="3950208"/>
            <a:ext cx="402336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“AI 代填 footprint/分辨率 ／ 越界 ／ 实测为 ____ ／ 已更正”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10634472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原则：AI 给出的参数与系统的自我报告同属“未经独立验证的输入”，进入系统前必须有本组数据出处。</a:t>
            </a:r>
            <a:endParaRPr sz="125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10634472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《AI辅助使用记录表》条目格式：“AI 给出 X ／ 缺陷判断 ／ 实测为 Y ／ 已更正”——巡场逐组查条目。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分步操作① · 孪生侧建图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命令与预期回显：平台端 → 桥接 → 建图 → 存图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P14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949440" cy="3794760"/>
          </a:xfrm>
          <a:prstGeom prst="roundRect">
            <a:avLst>
              <a:gd name="adj" fmla="val 1445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6400800" cy="34930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平台端（笔记本）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python make_gt_map.py --seed &lt;组号种子&gt; --out .          # 真值图 map_gt.pgm/.yaml；打印起点真值与障碍表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python nav_gateway.py --seed &lt;同一种子&gt; --slip &lt;本组slip&gt;  # 静态世界，10 Hz；--slip 不写即无漂移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 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ROS 2 端（本组树莓派；与笔记本同一网段，先 ping 通）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SIM_GATEWAY_WS=ws://&lt;笔记本IP&gt;:8000/ws python ros_bridge.py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topic hz /odom /scan                                 # 桥接就绪：/odom ≈10 Hz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 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建图（参数文件 = S2 验证版 + 本组噪声先验）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launch slam_toolbox online_async_launch.py slam_params_file:=config/mapper_real.yaml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run teleop_twist_keyboard teleop_twist_keyboard      # 慢速绕行 2 圈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run nav2_map_server map_saver_cli -f maps/sim_&lt;组号&gt;  # 存图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ls maps/                                                  # 两件套：sim_&lt;组号&gt;.pgm + .yaml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1463040"/>
            <a:ext cx="3913632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91272" y="1554480"/>
            <a:ext cx="36576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① 慢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91272" y="1874520"/>
            <a:ext cx="365760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扫描匹配依赖前后帧重叠；转弯时角速度对匹配的影响大于线速度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26679" y="2761488"/>
            <a:ext cx="3913632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91272" y="2852928"/>
            <a:ext cx="36576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② 两圈</a:t>
            </a:r>
            <a:endParaRPr sz="11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91272" y="3172968"/>
            <a:ext cx="365760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第二圈是回环闭合的机会；存图前检查走廊是否接上、起点附近墙体是否对齐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26679" y="4059935"/>
            <a:ext cx="3913632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91272" y="4151375"/>
            <a:ext cx="36576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③ 判据</a:t>
            </a:r>
            <a:endParaRPr sz="11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91272" y="4471416"/>
            <a:ext cx="365760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slam_toolbox 正常工作的标志：map→odom 变换非恒等且随行程变化（平台 README）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BEFE7"/>
          </a:solidFill>
          <a:ln w="952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34472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5522"/>
                </a:solidFill>
                <a:latin typeface="Microsoft YaHei"/>
                <a:ea typeface="Microsoft YaHei"/>
                <a:cs typeface="Microsoft YaHei"/>
              </a:rPr>
              <a:t>孪生侧 tf：odom → base_footprint → {base_link, laser_frame}（平台约定）；rviz2 订阅 /scan 须设 QoS＝Best Effort，否则收不到——本平台最高频的问题。</a:t>
            </a:r>
            <a:endParaRPr sz="1100" b="0" i="0">
              <a:solidFill>
                <a:srgbClr val="8A552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分步操作③ · 孪生侧重定位与可信度采样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5 个标记点 × 2 种初始位姿条件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P16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949440" cy="1600200"/>
          </a:xfrm>
          <a:prstGeom prst="roundRect">
            <a:avLst>
              <a:gd name="adj" fmla="val 3428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6400800" cy="129844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launch nav2_bringup localization_launch.py map:=maps/sim_&lt;组号&gt;.yaml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rviz2：2D Pose Estimate 给初始位姿（位置+朝向；起点真值由 make_gt_map.py 打印），粒子云收敛后再移动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每个标记点静止后：① 读 /amcl_pose（估计） → ② python truth_probe.py --host &lt;笔记本IP&gt;（真值）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  记录四项：AMCL估计(x,y,θ) | 真值(x,y,θ) | 误差 | 协方差椭圆目视（大/中/小）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00400"/>
          <a:ext cx="6949440" cy="1828800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880360"/>
                <a:gridCol w="28803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标记点</a:t>
                      </a:r>
                      <a:endParaRPr sz="100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A：正确初始位姿</a:t>
                      </a:r>
                      <a:endParaRPr sz="100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B：初始位姿偏置 1 m（位置＋朝向）</a:t>
                      </a:r>
                      <a:endParaRPr sz="100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  <a:endParaRPr sz="100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 · 收敛(用时)/发散/锁定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  <a:endParaRPr sz="100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 · 收敛(用时)/发散/锁定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P3（预判不可信区域）</a:t>
                      </a:r>
                      <a:endParaRPr sz="100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 · 收敛(用时)/发散/锁定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· P5</a:t>
                      </a:r>
                      <a:endParaRPr sz="100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□ 四项 · 收敛(用时)/发散/锁定</a:t>
                      </a:r>
                      <a:endParaRPr sz="100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463040"/>
            <a:ext cx="3913632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91272" y="1554480"/>
            <a:ext cx="36576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① 两条证据链独立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91272" y="1874520"/>
            <a:ext cx="365760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先记 AMCL 估计，再读真值，不得互相参照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26679" y="2761488"/>
            <a:ext cx="3913632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91272" y="2852928"/>
            <a:ext cx="36576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② 协方差三档判据</a:t>
            </a:r>
            <a:endParaRPr sz="11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91272" y="3172968"/>
            <a:ext cx="365760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锚＝椭圆长轴对车长：小 ≤1 倍车长；中 1～3 倍；大 &gt;3 倍（rviz2 中与车体模型比对）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26679" y="4059935"/>
            <a:ext cx="3913632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91272" y="4151375"/>
            <a:ext cx="36576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③ 条件 B 记结果</a:t>
            </a:r>
            <a:endParaRPr sz="11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91272" y="4471416"/>
            <a:ext cx="365760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收敛（记用时）／发散／锁定（粒子云紧凑但位置错误）；标记点分散全场，至少 1 个置于预判的不可信区域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10634472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每点四项记全再移动；多数组完成条件 A、开始条件 B 时全班集合，切换到 P17。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课堂验证环节 · 高置信错误</a:t>
            </a:r>
            <a:endParaRPr sz="1200" b="0" i="0" spc="15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协方差小，误差大：系统的自我报告与事实不一致</a:t>
            </a:r>
            <a:endParaRPr sz="28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9B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P17</a:t>
            </a:r>
            <a:endParaRPr sz="95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1A243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10515600" cy="9601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课堂实测：某标记点上协方差椭圆小、粒子云紧凑，而误差达数十厘米——这不是故障，是高置信错误。误差 ＝ |估计 − 独立实测|；协方差小 ≠ 误差小。</a:t>
            </a:r>
            <a:endParaRPr sz="14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5394960" cy="1965960"/>
          </a:xfrm>
          <a:prstGeom prst="roundRect">
            <a:avLst>
              <a:gd name="adj" fmla="val 2790"/>
            </a:avLst>
          </a:prstGeom>
          <a:solidFill>
            <a:srgbClr val="1A2436"/>
          </a:solidFill>
          <a:ln w="15875">
            <a:solidFill>
              <a:srgbClr val="9B7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29200" cy="1828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9B7BF5"/>
                </a:solidFill>
                <a:latin typeface="Microsoft YaHei"/>
                <a:ea typeface="Microsoft YaHei"/>
                <a:cs typeface="Microsoft YaHei"/>
              </a:rPr>
              <a:t>机理</a:t>
            </a:r>
            <a:endParaRPr sz="1200" b="1" i="0">
              <a:solidFill>
                <a:srgbClr val="9B7BF5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AMCL 评估的是粒子间的一致性，无法评估一致的方向是否正确。在重影区（地图本身错误）、长走廊（沿走廊方向观测几乎不变）、对称结构（两处激光观测相同）中，粒子会一致地收敛到错误位置。</a:t>
            </a:r>
            <a:endParaRPr sz="1050" b="0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5352" y="2743200"/>
            <a:ext cx="5394960" cy="1965960"/>
          </a:xfrm>
          <a:prstGeom prst="roundRect">
            <a:avLst>
              <a:gd name="adj" fmla="val 2790"/>
            </a:avLst>
          </a:prstGeom>
          <a:solidFill>
            <a:srgbClr val="1A2436"/>
          </a:solidFill>
          <a:ln w="15875">
            <a:solidFill>
              <a:srgbClr val="3FC1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5029200" cy="1828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3FC1C9"/>
                </a:solidFill>
                <a:latin typeface="Microsoft YaHei"/>
                <a:ea typeface="Microsoft YaHei"/>
                <a:cs typeface="Microsoft YaHei"/>
              </a:rPr>
              <a:t>对应：S2 的 C1 检查点（真值-里程计分叉）的实车版</a:t>
            </a:r>
            <a:endParaRPr sz="1200" b="1" i="0">
              <a:solidFill>
                <a:srgbClr val="3FC1C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S2 由平台提供真值；本课起真值来自平台（孪生侧）与卷尺（实车侧）。精密度与准确度是两个独立变量（P7）。</a:t>
            </a:r>
            <a:endParaRPr sz="1050" b="0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A243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956048"/>
            <a:ext cx="1069848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E8A33D"/>
                </a:solidFill>
                <a:latin typeface="Microsoft YaHei"/>
                <a:ea typeface="Microsoft YaHei"/>
                <a:cs typeface="Microsoft YaHei"/>
              </a:rPr>
              <a:t>去向</a:t>
            </a:r>
            <a:endParaRPr sz="1150" b="1" i="0">
              <a:solidFill>
                <a:srgbClr val="E8A33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短期——把发生高置信错误的位置标入《定位不可信区域图》（P21）；长期——第8课 Plan Auditor 的第一批规则由此产生；第12课答辩必答题“最严重的一次虚假自报”可取自本课数据。</a:t>
            </a:r>
            <a:endParaRPr sz="1050" b="0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598932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34472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所有基于自我一致性的置信度指标共有这一盲区——评价可信度必须引入独立基准。</a:t>
            </a:r>
            <a:endParaRPr sz="12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分步操作② · 孪生地图互评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对照真值图打分：重影 · 缺口 · 畸变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P15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6949440" cy="2011680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3931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打分项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看什么（与真值图叠合比对）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打分（1~5）</a:t>
                      </a:r>
                      <a:endParaRPr sz="10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重影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同一堵墙有几条线（对应缺陷“重影”）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缺口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真值图中存在而建图缺失的墙体、走廊不闭合（对应缺陷“断裂”）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畸变</a:t>
                      </a:r>
                      <a:endParaRPr sz="1050" b="1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虚假结构与几何失真：鬼影墙、直角不直、长走廊弯曲（对应缺陷“残影”）</a:t>
                      </a:r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463040"/>
            <a:ext cx="386791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09560" y="1517904"/>
            <a:ext cx="36576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建图与真值图叠合（示意）</a:t>
            </a:r>
            <a:endParaRPr sz="9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0" y="1874519"/>
            <a:ext cx="3291840" cy="1371600"/>
          </a:xfrm>
          <a:prstGeom prst="rect">
            <a:avLst/>
          </a:prstGeom>
          <a:noFill/>
          <a:ln w="25400">
            <a:solidFill>
              <a:srgbClr val="162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965960"/>
            <a:ext cx="3291840" cy="1371600"/>
          </a:xfrm>
          <a:prstGeom prst="rect">
            <a:avLst/>
          </a:prstGeom>
          <a:noFill/>
          <a:ln w="1905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246120"/>
            <a:ext cx="35661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黑：真值图  橙：建图（偏移即重影/畸变）</a:t>
            </a:r>
            <a:endParaRPr sz="8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776472"/>
            <a:ext cx="3246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① 交换工位</a:t>
            </a:r>
            <a:endParaRPr sz="11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4096512"/>
            <a:ext cx="32461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相邻组交换工位，评图不评人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15968" y="37033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80559" y="3776472"/>
            <a:ext cx="3246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② 证据打分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80559" y="4096512"/>
            <a:ext cx="32461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每个分数必须指出图上位置（“此处双线”）；印象式评价不计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83296" y="37033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47888" y="3776472"/>
            <a:ext cx="3246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③ 计入考核</a:t>
            </a:r>
            <a:endParaRPr sz="11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47888" y="4096512"/>
            <a:ext cx="324612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互评结果计入地图质量 30%；恶意压分与人情分同样被复核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0634472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方法提示：孪生侧有真值图，缺陷判断有客观依据；看别人的缺陷，反查自己的噪声先验与建图速度。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实验四要素卡 · 实验 3-2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《实车公共基线：建图与定位采样》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P18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13232" y="1591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1591056"/>
            <a:ext cx="7772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获得本教室的实车地图与《定位误差统计表（实车版）》作为全班共用基线；各组核对孪生结果与实车基线，定位“公共不可信区域”。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146304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25112" y="1591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5112" y="1591056"/>
            <a:ext cx="7772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原理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5112" y="1938528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实车侧真值来自独立外部基准（卷尺/量角器）；公共基线制下每组回答的问题是“以本组参数校准的孪生，对同一台实车、同一间教室的定位可信度预测能力如何”；测量方法由学生轮值执行、全班掌握。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13232" y="3785615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3785615"/>
            <a:ext cx="1143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步骤概览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4133087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示范车清场建图（三条命令，投影）→ 存图分发 → 重定位 → 5 点×2 条件采样（AMCL 估计由投影读取；真值由轮值测量员实测）→ 数据公布 → 各组抄录核对（P19）。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60520" y="3657600"/>
            <a:ext cx="3429000" cy="2011679"/>
          </a:xfrm>
          <a:prstGeom prst="roundRect">
            <a:avLst>
              <a:gd name="adj" fmla="val 2727"/>
            </a:avLst>
          </a:prstGeom>
          <a:solidFill>
            <a:srgbClr val="F2F5FA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25112" y="3785615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25112" y="3785615"/>
            <a:ext cx="7772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</a:t>
            </a:r>
            <a:endParaRPr sz="11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25112" y="4133087"/>
            <a:ext cx="3099816" cy="1444751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实车版统计表抄录完整并与孪生版并列；公共不可信区域记入本组《定位不可信区域图》。</a:t>
            </a:r>
            <a:endParaRPr sz="10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863840" y="1463040"/>
            <a:ext cx="3776472" cy="4206240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6720" y="1536192"/>
            <a:ext cx="34747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轮值测量员分配（示例）</a:t>
            </a:r>
            <a:endParaRPr sz="1050" b="1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046720" y="1874519"/>
          <a:ext cx="3429000" cy="1975104"/>
        </p:xfrm>
        <a:graphic>
          <a:graphicData uri="http://schemas.openxmlformats.org/drawingml/2006/table">
            <a:tbl>
              <a:tblPr firstRow="1"/>
              <a:tblGrid>
                <a:gridCol w="1005840"/>
                <a:gridCol w="1188720"/>
                <a:gridCol w="12344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标记点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A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B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G01 / G02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G03 / G04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G05 / G06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G07 / G08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G09 / G10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G11 / G12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G13 / G14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G15 / G16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G17 / G01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G02 / G03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046720" y="3977639"/>
            <a:ext cx="34290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每点两名测量员：一人卷尺量位置，一人量角器量朝向；估计值先由投影公布，再实测真值——两条证据链在实车侧同样独立。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可用实车 1 台，公共基线制为正式协议：教师操作示范车，rviz2 投影；建图命令与孪生侧一致；实车数据全班共用，各组与本组孪生结果并列归因。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分步操作④ · 实车公共基线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示范车建图三命令与采样测量规范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P19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2608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4846320" cy="180136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CA0BE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# 教师示范车（投影）——清出主通道后：</a:t>
            </a:r>
            <a:endParaRPr sz="950" b="0" i="0">
              <a:solidFill>
                <a:srgbClr val="8CA0BE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launch slam_toolbox online_async_launch.py \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     slam_params_file:=config/mapper_real.yaml   # 示范车噪声先验（见右）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run teleop_twist_keyboard teleop_twist_keyboard   # 慢速绕行 2 圈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E8EEF9"/>
                </a:solidFill>
                <a:latin typeface="Courier New" panose="02070409020205090404"/>
                <a:ea typeface="Microsoft YaHei"/>
                <a:cs typeface="Courier New" panose="02070409020205090404"/>
              </a:rPr>
              <a:t>ros2 run nav2_map_server map_saver_cli -f maps/classroom  # 分发两件套</a:t>
            </a:r>
            <a:endParaRPr sz="950" b="0" i="0">
              <a:solidFill>
                <a:srgbClr val="E8EEF9"/>
              </a:solidFill>
              <a:latin typeface="Courier New" panose="02070409020205090404"/>
              <a:ea typeface="Microsoft YaHei"/>
              <a:cs typeface="Courier New" panose="020704090202050904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394960" cy="1783080"/>
          </a:xfrm>
          <a:prstGeom prst="roundRect">
            <a:avLst>
              <a:gd name="adj" fmla="val 3076"/>
            </a:avLst>
          </a:prstGeom>
          <a:solidFill>
            <a:srgbClr val="FBF3E6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767328"/>
            <a:ext cx="5029200" cy="1691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示范车噪声先验两档（拍板）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首选：教师课前按 S1 第10课协议为示范车补测一次闭合误差（1 m 正方形×2圈，卷尺测量），作为示范车自有数据推得先验。
兜底：来不及补测时，取全班 S1 闭合误差表的中位值，并在参数迁移说明中注明“公共基线先验＝全班中位闭合误差（非示范车自有数据）”。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09944" y="1709928"/>
            <a:ext cx="402336" cy="402336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709928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76872" y="1572768"/>
            <a:ext cx="44805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先估计、后真值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6872" y="1883664"/>
            <a:ext cx="4480560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每点由投影读出 AMCL 估计并公布，再由测量员实测（卷尺量位置、量角器量朝向，车头贴纸对齐地贴刻度线）</a:t>
            </a:r>
            <a:endParaRPr sz="10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45352" y="2450592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09944" y="2697480"/>
            <a:ext cx="402336" cy="402336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2697480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76872" y="2560320"/>
            <a:ext cx="44805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测量员轮值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6872" y="2871216"/>
            <a:ext cx="4480560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按分配表轮值，每组至少一次</a:t>
            </a:r>
            <a:endParaRPr sz="10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45352" y="3438144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09944" y="3685032"/>
            <a:ext cx="402336" cy="402336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3685032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76872" y="3547872"/>
            <a:ext cx="44805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条件 B 由教师执行偏置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76872" y="3858768"/>
            <a:ext cx="4480560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全班观察粒子云的收敛/发散/锁定并记录用时</a:t>
            </a:r>
            <a:endParaRPr sz="10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45352" y="4425696"/>
            <a:ext cx="5394960" cy="896112"/>
          </a:xfrm>
          <a:prstGeom prst="roundRect">
            <a:avLst>
              <a:gd name="adj" fmla="val 6122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409944" y="4672583"/>
            <a:ext cx="402336" cy="40233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672583"/>
            <a:ext cx="585216" cy="40233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4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6872" y="4535424"/>
            <a:ext cx="44805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异常如实入表</a:t>
            </a:r>
            <a:endParaRPr sz="12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76872" y="4846320"/>
            <a:ext cx="4480560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发散、锁定、未收敛照记；实车侧记录表由课代表汇总公布，各组抄录并签字确认</a:t>
            </a:r>
            <a:endParaRPr sz="100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669280"/>
            <a:ext cx="10634472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标记点 P1~P5 分散全场，至少 1 个置于预判的公共不可信区域（长走廊端头、对称角落）。</a:t>
            </a:r>
            <a:endParaRPr sz="11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数据记录表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《定位误差统计表》：孪生版与实车版并列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P20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91672" cy="2286000"/>
        </p:xfrm>
        <a:graphic>
          <a:graphicData uri="http://schemas.openxmlformats.org/drawingml/2006/table">
            <a:tbl>
              <a:tblPr firstRow="1"/>
              <a:tblGrid>
                <a:gridCol w="1005840"/>
                <a:gridCol w="914400"/>
                <a:gridCol w="1920240"/>
                <a:gridCol w="1920240"/>
                <a:gridCol w="1005840"/>
                <a:gridCol w="1188720"/>
                <a:gridCol w="1490472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标记点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 (x, y, θ)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真值 (x, y, θ)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 (cm)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协方差目视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B 结果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小/中/大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小/中/大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收敛(  s)/发散/锁定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误差均值：____ cm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误差最大值：____ cm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B 收敛点数：__/5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233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E6F4F5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096512"/>
            <a:ext cx="502920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孪生版</a:t>
            </a:r>
            <a:endParaRPr sz="115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真值 ＝ 网关 robot_truth；本组噪声先验与 --slip；24 线稀疏雷达（AMCL 误差量级 0.2–0.5 m 属平台特性）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5352" y="40233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BF3E6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46520" y="4096512"/>
            <a:ext cx="502920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实车版（公共基线）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真值 ＝ 卷尺/量角器；示范车先验；LD19 稠密扫描——两版并列，差异写入备注（例：“孪生侧条件 B 全部收敛；实车侧 P3 锁定”）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634472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规范：缺行按未完成计（40% 压在这张表上）；估计与真值分别记录，事后不得修改；统计口径与预注册单一致。</a:t>
            </a:r>
            <a:endParaRPr sz="115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数据解读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《定位不可信区域图》与公共不可信区域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P21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4F0FF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9848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定义：定位不可信区域 ＝ 有证据表明“定位在此处最易出错”的区域；每处标注附证据编号（统计表行号）。</a:t>
            </a:r>
            <a:endParaRPr sz="115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3246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证据① 最强</a:t>
            </a:r>
            <a:endParaRPr sz="1150" b="1" i="0">
              <a:solidFill>
                <a:srgbClr val="C039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606040"/>
            <a:ext cx="324612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条件 B 在此发散或锁定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15968" y="22402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59" y="2304288"/>
            <a:ext cx="3246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证据②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59" y="2606040"/>
            <a:ext cx="324612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条件 A 在此误差显著高于全场均值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83296" y="22402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 w="12700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246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证据③</a:t>
            </a:r>
            <a:endParaRPr sz="115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606040"/>
            <a:ext cx="324612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地图缺陷区（重影/对称/长走廊）且至少一次实测误差佐证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474720"/>
          <a:ext cx="6949440" cy="1645920"/>
        </p:xfrm>
        <a:graphic>
          <a:graphicData uri="http://schemas.openxmlformats.org/drawingml/2006/table">
            <a:tbl>
              <a:tblPr firstRow="1"/>
              <a:tblGrid>
                <a:gridCol w="731520"/>
                <a:gridCol w="1280160"/>
                <a:gridCol w="1280160"/>
                <a:gridCol w="1371600"/>
                <a:gridCol w="146304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组号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误差均值(cm)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最大值(cm)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条件B发散/锁定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不可信区域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互评</a:t>
                      </a:r>
                      <a:endParaRPr sz="950" b="1" i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G01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G02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G03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6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…至 G17</a:t>
                      </a:r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50" b="0" i="0">
                        <a:solidFill>
                          <a:srgbClr val="16213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772400" y="3474720"/>
            <a:ext cx="3867912" cy="1645920"/>
          </a:xfrm>
          <a:prstGeom prst="roundRect">
            <a:avLst>
              <a:gd name="adj" fmla="val 3333"/>
            </a:avLst>
          </a:prstGeom>
          <a:solidFill>
            <a:srgbClr val="FBF3E6"/>
          </a:solidFill>
          <a:ln w="12700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36992" y="3547872"/>
            <a:ext cx="356616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公共不可信区域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多组在同一位置报告发散/锁定 → 本教室的公共不可信区域——第4课失效注入的选点依据；第4课起纳入回归对照清单（参数改动后须复核此处表现不退化）。</a:t>
            </a:r>
            <a:endParaRPr sz="10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7058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303520"/>
            <a:ext cx="10634472" cy="7772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CE3A8"/>
                </a:solidFill>
                <a:latin typeface="Microsoft YaHei"/>
                <a:ea typeface="Microsoft YaHei"/>
                <a:cs typeface="Microsoft YaHei"/>
              </a:rPr>
              <a:t>去向：第4课注入选点 → 第8课 Plan Auditor 规则的物理输入（目标点落入不可信区域附近须谨慎放行或拒绝）→ 第12课赛前逐组复核。写出“系统在哪里不可信”是本课的评分项——能力边界声明由此起步。</a:t>
            </a:r>
            <a:endParaRPr sz="1100" b="1" i="0">
              <a:solidFill>
                <a:srgbClr val="7CE3A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阶段验收（第3课末 · 六项）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六项齐备，前提：孪生链路（建图→重定位）通过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P22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sz="16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19" y="1463040"/>
            <a:ext cx="466344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地图两件套（孪生版）已存并备份组仓库，与真值图对照记录在册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5720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sz="16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1463040"/>
            <a:ext cx="466344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互评三项打分完成（给出与收到均留档）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233172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45720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sz="16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19" y="2331720"/>
            <a:ext cx="466344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view_frames 报告归档，四段链齐全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233172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45720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sz="16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0" y="2331720"/>
            <a:ext cx="466344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采样表 10 行无空行（孪生版），实车版抄录并签字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45720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sz="16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19" y="3200400"/>
            <a:ext cx="466344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统计栏（均值 / 最大值 / 条件 B）完成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45720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□</a:t>
            </a:r>
            <a:endParaRPr sz="16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0" y="3200400"/>
            <a:ext cx="4663440" cy="749808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《定位不可信区域图》已标注并附证据；参数迁移说明写清三项与噪声先验出处</a:t>
            </a:r>
            <a:endParaRPr sz="11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20624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" y="4206240"/>
            <a:ext cx="32461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30%  地图质量互评</a:t>
            </a:r>
            <a:endParaRPr sz="120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15968" y="420624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15875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80559" y="4206240"/>
            <a:ext cx="32461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47F88"/>
                </a:solidFill>
                <a:latin typeface="Microsoft YaHei"/>
                <a:ea typeface="Microsoft YaHei"/>
                <a:cs typeface="Microsoft YaHei"/>
              </a:rPr>
              <a:t>40%  定位可信度实验数据完整性</a:t>
            </a:r>
            <a:endParaRPr sz="1200" b="1" i="0">
              <a:solidFill>
                <a:srgbClr val="147F8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83296" y="420624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15875">
            <a:solidFill>
              <a:srgbClr val="644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47888" y="4206240"/>
            <a:ext cx="324612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6446C8"/>
                </a:solidFill>
                <a:latin typeface="Microsoft YaHei"/>
                <a:ea typeface="Microsoft YaHei"/>
                <a:cs typeface="Microsoft YaHei"/>
              </a:rPr>
              <a:t>30%  TF 树与参数迁移说明</a:t>
            </a:r>
            <a:endParaRPr sz="1200" b="1" i="0">
              <a:solidFill>
                <a:srgbClr val="6446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0634472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前提：孪生链路（建图→重定位）通过 ＝ 仿真预验证。说明：采样表缺行按未完成计；不可信区域留白者第六项不得分。学期总评按任务书：答辩40/互评10/中期10/报告40。</a:t>
            </a:r>
            <a:endParaRPr sz="110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3A141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5897880"/>
            <a:ext cx="10634472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FF9DA1"/>
                </a:solidFill>
                <a:latin typeface="Microsoft YaHei"/>
                <a:ea typeface="Microsoft YaHei"/>
                <a:cs typeface="Microsoft YaHei"/>
              </a:rPr>
              <a:t>教师与学生审核员双签；maps 目录当堂备份进组仓库——地图丢失则第4课导航无从进行。</a:t>
            </a:r>
            <a:endParaRPr sz="1150" b="0" i="0">
              <a:solidFill>
                <a:srgbClr val="FF9DA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安全与实验规范</a:t>
            </a:r>
            <a:endParaRPr sz="1200" b="0" i="0" spc="15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六条规范——前三条直接决定本课数据是否有效</a:t>
            </a:r>
            <a:endParaRPr sz="2800" b="1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P23</a:t>
            </a:r>
            <a:endParaRPr sz="950" b="0" i="0">
              <a:solidFill>
                <a:srgbClr val="5A6A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5F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13232" y="1627632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 sz="13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1591056"/>
            <a:ext cx="283464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建图清场</a:t>
            </a:r>
            <a:endParaRPr sz="1150" b="1" i="0">
              <a:solidFill>
                <a:srgbClr val="C039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2121408"/>
            <a:ext cx="2834640" cy="8229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建图期间任何人不得穿场（行人会被记录为残影）；桌椅腿对 2D 雷达近似“半透明”，建图前清出主通道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15968" y="146304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5F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480559" y="1627632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27632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 sz="13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10328" y="1591056"/>
            <a:ext cx="283464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静态世界模式专用</a:t>
            </a:r>
            <a:endParaRPr sz="1150" b="1" i="0">
              <a:solidFill>
                <a:srgbClr val="C039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0328" y="2121408"/>
            <a:ext cx="2834640" cy="8229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静态世界模式与默认入口不得同时运行；量化实验一律使用静态世界模式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83296" y="146304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5F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247888" y="1627632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627632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 sz="13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77656" y="1591056"/>
            <a:ext cx="283464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桥接唯一实例</a:t>
            </a:r>
            <a:endParaRPr sz="1150" b="1" i="0">
              <a:solidFill>
                <a:srgbClr val="C039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77656" y="2121408"/>
            <a:ext cx="2834640" cy="8229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ROS 2 端与平台后端同一网段；重启前 pkill -f ros_bridge 清理残留，否则同名话题双源发布导致 AMCL 发散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15468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13232" y="3319272"/>
            <a:ext cx="310896" cy="310896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319272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 sz="13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3282696"/>
            <a:ext cx="283464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实车轮值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" y="3813048"/>
            <a:ext cx="2834640" cy="8229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仅教师操作示范车；测量员靠近车体前确认车辆已停止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15968" y="315468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480559" y="3319272"/>
            <a:ext cx="310896" cy="310896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319272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 sz="13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10328" y="3282696"/>
            <a:ext cx="283464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数据当堂备份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10328" y="3813048"/>
            <a:ext cx="2834640" cy="8229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地图与数据当堂备份组仓库；失败数据同样保存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83296" y="315468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2F5FA"/>
          </a:solidFill>
          <a:ln w="15875">
            <a:solidFill>
              <a:srgbClr val="C7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47888" y="3319272"/>
            <a:ext cx="310896" cy="310896"/>
          </a:xfrm>
          <a:prstGeom prst="ellipse">
            <a:avLst/>
          </a:prstGeom>
          <a:solidFill>
            <a:srgbClr val="C7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3319272"/>
            <a:ext cx="493776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  <a:endParaRPr sz="1300" b="1" i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77656" y="3282696"/>
            <a:ext cx="283464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C77F1F"/>
                </a:solidFill>
                <a:latin typeface="Microsoft YaHei"/>
                <a:ea typeface="Microsoft YaHei"/>
                <a:cs typeface="Microsoft YaHei"/>
              </a:rPr>
              <a:t>密钥规范</a:t>
            </a:r>
            <a:endParaRPr sz="1150" b="1" i="0">
              <a:solidFill>
                <a:srgbClr val="C77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77656" y="3813048"/>
            <a:ext cx="2834640" cy="8229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密钥不上投影、.env 不进仓库</a:t>
            </a:r>
            <a:endParaRPr sz="950" b="0" i="0">
              <a:solidFill>
                <a:srgbClr val="1621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3A141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5074920"/>
            <a:ext cx="10634472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FF9DA1"/>
                </a:solidFill>
                <a:latin typeface="Microsoft YaHei"/>
                <a:ea typeface="Microsoft YaHei"/>
                <a:cs typeface="Microsoft YaHei"/>
              </a:rPr>
              <a:t>前三条直接决定今天的数据是否有效。</a:t>
            </a:r>
            <a:endParaRPr sz="1300" b="0" i="0">
              <a:solidFill>
                <a:srgbClr val="FF9DA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 spc="15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第3课 · 收束</a:t>
            </a:r>
            <a:endParaRPr sz="1200" b="0" i="0" spc="15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三条结论 · 作业 · 下节预告</a:t>
            </a:r>
            <a:endParaRPr sz="28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9B7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P24</a:t>
            </a:r>
            <a:endParaRPr sz="95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50920" cy="1417320"/>
          </a:xfrm>
          <a:prstGeom prst="roundRect">
            <a:avLst>
              <a:gd name="adj" fmla="val 3870"/>
            </a:avLst>
          </a:prstGeom>
          <a:solidFill>
            <a:srgbClr val="1A2436"/>
          </a:solidFill>
          <a:ln w="15875">
            <a:solidFill>
              <a:srgbClr val="9B7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148584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精密度 ≠ 准确度</a:t>
            </a:r>
            <a:endParaRPr sz="16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3148584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协方差是系统自评，真值是独立基准——本课以数据实证了高置信错误</a:t>
            </a:r>
            <a:endParaRPr sz="110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9015" y="1508760"/>
            <a:ext cx="3550920" cy="1417320"/>
          </a:xfrm>
          <a:prstGeom prst="roundRect">
            <a:avLst>
              <a:gd name="adj" fmla="val 3870"/>
            </a:avLst>
          </a:prstGeom>
          <a:solidFill>
            <a:srgbClr val="1A2436"/>
          </a:solidFill>
          <a:ln w="15875">
            <a:solidFill>
              <a:srgbClr val="3FC1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20183" y="1691640"/>
            <a:ext cx="3148584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三学期数据链闭合</a:t>
            </a:r>
            <a:endParaRPr sz="16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0183" y="2148840"/>
            <a:ext cx="3148584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S1 闭合误差 → S2 噪声建模 → S3 噪声先验，参数有出处</a:t>
            </a:r>
            <a:endParaRPr sz="110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89391" y="1508760"/>
            <a:ext cx="3550920" cy="1417320"/>
          </a:xfrm>
          <a:prstGeom prst="roundRect">
            <a:avLst>
              <a:gd name="adj" fmla="val 3870"/>
            </a:avLst>
          </a:prstGeom>
          <a:solidFill>
            <a:srgbClr val="1A243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0560" y="1691640"/>
            <a:ext cx="3148584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两个独立指标</a:t>
            </a:r>
            <a:endParaRPr sz="1600" b="1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90560" y="2148840"/>
            <a:ext cx="3148584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地图质量与定位可信度相互独立——缺陷可识别、区域可标注</a:t>
            </a:r>
            <a:endParaRPr sz="110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15468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" y="3273552"/>
            <a:ext cx="1051560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Microsoft YaHei"/>
                <a:ea typeface="Microsoft YaHei"/>
                <a:cs typeface="Microsoft YaHei"/>
              </a:rPr>
              <a:t>下节课 · 第4课 Nav2 自主导航部署与失效注入实验</a:t>
            </a:r>
            <a:endParaRPr sz="1350" b="1" i="0">
              <a:solidFill>
                <a:srgbClr val="E8A3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2" y="3611880"/>
            <a:ext cx="1060704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核心命题：“验收一个系统，不是证明它能用，而是找到它在哪失效”。四类失效注入：①路径放置纸箱 ②遮挡雷达 30% 视场 ③拎起平移 1 m ④目标设在障碍物内。预测题（封存）：前三项中系统能自主恢复几项（0~3）？第④项系统会给出有依据的失败反馈，还是伪装执行？</a:t>
            </a:r>
            <a:endParaRPr sz="1150" b="0" i="0">
              <a:solidFill>
                <a:srgbClr val="E8EEF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CA0BE"/>
                </a:solidFill>
                <a:latin typeface="Microsoft YaHei"/>
                <a:ea typeface="Microsoft YaHei"/>
                <a:cs typeface="Microsoft YaHei"/>
              </a:rPr>
              <a:t>作业① 归档地图两件套、《定位误差统计表》（孪生版＋实车版）、《定位不可信区域图》、预注册单、参数迁移说明、《AI辅助使用记录表》。  作业② 打印 A4 实车地图、手工标注不可信区域带来（第4课失效注入选点）。  作业③ 检查电池固定与线束走位（第4课含“拎起平移”实验）。</a:t>
            </a:r>
            <a:endParaRPr sz="1200" b="0" i="0">
              <a:solidFill>
                <a:srgbClr val="8CA0B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3A141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10634472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FF9DA1"/>
                </a:solidFill>
                <a:latin typeface="Microsoft YaHei"/>
                <a:ea typeface="Microsoft YaHei"/>
                <a:cs typeface="Microsoft YaHei"/>
              </a:rPr>
              <a:t>纪律：maps 目录当堂备份进组仓库；静态世界模式与默认入口不得同时运行；实车仅教师操作。</a:t>
            </a:r>
            <a:endParaRPr sz="1150" b="0" i="0">
              <a:solidFill>
                <a:srgbClr val="FF9DA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11081</Words>
  <Application>WPS Presentation</Application>
  <PresentationFormat>On-screen Show (4:3)</PresentationFormat>
  <Paragraphs>901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SimSun</vt:lpstr>
      <vt:lpstr>Wingdings</vt:lpstr>
      <vt:lpstr>Arial</vt:lpstr>
      <vt:lpstr>Microsoft YaHei</vt:lpstr>
      <vt:lpstr>方正雅意黑 GB18030L2</vt:lpstr>
      <vt:lpstr>Courier New</vt:lpstr>
      <vt:lpstr>Calibri</vt:lpstr>
      <vt:lpstr>Helvetica Neue</vt:lpstr>
      <vt:lpstr>Microsoft YaHei</vt:lpstr>
      <vt:lpstr>Arial Unicode MS</vt:lpstr>
      <vt:lpstr>Courier New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冯月</cp:lastModifiedBy>
  <cp:revision>6</cp:revision>
  <dcterms:created xsi:type="dcterms:W3CDTF">2026-09-14T03:31:45Z</dcterms:created>
  <dcterms:modified xsi:type="dcterms:W3CDTF">2026-09-14T03:31:45Z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1033-12.1.26055.26055</vt:lpwstr>
  </property>
  <property fmtid="{D5CDD505-2E9C-101B-9397-08002B2CF9AE}" pid="3" name="ICV">
    <vt:lpwstr>189541869575CE9936BEA36AE2A6DF27_42</vt:lpwstr>
  </property>
</Properties>
</file>